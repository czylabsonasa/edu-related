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</p:sldMasterIdLst>
  <p:notesMasterIdLst>
    <p:notesMasterId r:id="rId52"/>
  </p:notesMasterIdLst>
  <p:sldIdLst>
    <p:sldId id="341" r:id="rId2"/>
    <p:sldId id="319" r:id="rId3"/>
    <p:sldId id="257" r:id="rId4"/>
    <p:sldId id="258" r:id="rId5"/>
    <p:sldId id="259" r:id="rId6"/>
    <p:sldId id="318" r:id="rId7"/>
    <p:sldId id="261" r:id="rId8"/>
    <p:sldId id="264" r:id="rId9"/>
    <p:sldId id="265" r:id="rId10"/>
    <p:sldId id="266" r:id="rId11"/>
    <p:sldId id="267" r:id="rId12"/>
    <p:sldId id="300" r:id="rId13"/>
    <p:sldId id="301" r:id="rId14"/>
    <p:sldId id="269" r:id="rId15"/>
    <p:sldId id="270" r:id="rId16"/>
    <p:sldId id="320" r:id="rId17"/>
    <p:sldId id="271" r:id="rId18"/>
    <p:sldId id="272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321" r:id="rId27"/>
    <p:sldId id="290" r:id="rId28"/>
    <p:sldId id="291" r:id="rId29"/>
    <p:sldId id="273" r:id="rId30"/>
    <p:sldId id="274" r:id="rId31"/>
    <p:sldId id="322" r:id="rId32"/>
    <p:sldId id="323" r:id="rId33"/>
    <p:sldId id="292" r:id="rId34"/>
    <p:sldId id="293" r:id="rId35"/>
    <p:sldId id="309" r:id="rId36"/>
    <p:sldId id="324" r:id="rId37"/>
    <p:sldId id="310" r:id="rId38"/>
    <p:sldId id="311" r:id="rId39"/>
    <p:sldId id="275" r:id="rId40"/>
    <p:sldId id="325" r:id="rId41"/>
    <p:sldId id="326" r:id="rId42"/>
    <p:sldId id="327" r:id="rId43"/>
    <p:sldId id="277" r:id="rId44"/>
    <p:sldId id="276" r:id="rId45"/>
    <p:sldId id="302" r:id="rId46"/>
    <p:sldId id="303" r:id="rId47"/>
    <p:sldId id="304" r:id="rId48"/>
    <p:sldId id="305" r:id="rId49"/>
    <p:sldId id="342" r:id="rId50"/>
    <p:sldId id="33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8B9DB7-45DC-4799-83B2-41483E8DFBB5}" v="3" dt="2024-09-06T13:28:42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Közepesen sötét stílus 2 – 3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2" y="6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Pecsora" userId="810b1d013327c237" providerId="LiveId" clId="{FF2961EE-DF61-4E41-942D-0E1C47C2D8B3}"/>
    <pc:docChg chg="undo custSel addSld delSld modSld">
      <pc:chgData name="Sándor Pecsora" userId="810b1d013327c237" providerId="LiveId" clId="{FF2961EE-DF61-4E41-942D-0E1C47C2D8B3}" dt="2022-02-15T08:18:30.691" v="5"/>
      <pc:docMkLst>
        <pc:docMk/>
      </pc:docMkLst>
      <pc:sldChg chg="del">
        <pc:chgData name="Sándor Pecsora" userId="810b1d013327c237" providerId="LiveId" clId="{FF2961EE-DF61-4E41-942D-0E1C47C2D8B3}" dt="2022-02-15T08:18:18.839" v="4" actId="47"/>
        <pc:sldMkLst>
          <pc:docMk/>
          <pc:sldMk cId="1180060703" sldId="256"/>
        </pc:sldMkLst>
      </pc:sldChg>
      <pc:sldChg chg="add">
        <pc:chgData name="Sándor Pecsora" userId="810b1d013327c237" providerId="LiveId" clId="{FF2961EE-DF61-4E41-942D-0E1C47C2D8B3}" dt="2022-02-15T08:18:30.691" v="5"/>
        <pc:sldMkLst>
          <pc:docMk/>
          <pc:sldMk cId="811959074" sldId="330"/>
        </pc:sldMkLst>
      </pc:sldChg>
      <pc:sldChg chg="modSp add mod">
        <pc:chgData name="Sándor Pecsora" userId="810b1d013327c237" providerId="LiveId" clId="{FF2961EE-DF61-4E41-942D-0E1C47C2D8B3}" dt="2022-02-15T08:18:16.916" v="3"/>
        <pc:sldMkLst>
          <pc:docMk/>
          <pc:sldMk cId="3735662663" sldId="341"/>
        </pc:sldMkLst>
        <pc:spChg chg="mod">
          <ac:chgData name="Sándor Pecsora" userId="810b1d013327c237" providerId="LiveId" clId="{FF2961EE-DF61-4E41-942D-0E1C47C2D8B3}" dt="2022-02-15T08:18:16.916" v="3"/>
          <ac:spMkLst>
            <pc:docMk/>
            <pc:sldMk cId="3735662663" sldId="34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7F24464F-1C01-40DA-B634-7173E2ACBB5F}"/>
    <pc:docChg chg="undo custSel addSld delSld modSld">
      <pc:chgData name="Sándor Pecsora" userId="810b1d013327c237" providerId="LiveId" clId="{7F24464F-1C01-40DA-B634-7173E2ACBB5F}" dt="2024-08-26T10:11:50.268" v="111" actId="20577"/>
      <pc:docMkLst>
        <pc:docMk/>
      </pc:docMkLst>
      <pc:sldChg chg="modSp mod">
        <pc:chgData name="Sándor Pecsora" userId="810b1d013327c237" providerId="LiveId" clId="{7F24464F-1C01-40DA-B634-7173E2ACBB5F}" dt="2024-08-26T09:33:43.652" v="27" actId="12385"/>
        <pc:sldMkLst>
          <pc:docMk/>
          <pc:sldMk cId="315363431" sldId="257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15363431" sldId="257"/>
            <ac:spMk id="2" creationId="{00000000-0000-0000-0000-000000000000}"/>
          </ac:spMkLst>
        </pc:spChg>
        <pc:graphicFrameChg chg="mod modGraphic">
          <ac:chgData name="Sándor Pecsora" userId="810b1d013327c237" providerId="LiveId" clId="{7F24464F-1C01-40DA-B634-7173E2ACBB5F}" dt="2024-08-26T09:33:43.652" v="27" actId="12385"/>
          <ac:graphicFrameMkLst>
            <pc:docMk/>
            <pc:sldMk cId="315363431" sldId="257"/>
            <ac:graphicFrameMk id="5" creationId="{00000000-0000-0000-0000-000000000000}"/>
          </ac:graphicFrameMkLst>
        </pc:graphicFrame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056801323" sldId="258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056801323" sldId="258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3:51.161" v="28" actId="12385"/>
        <pc:sldMkLst>
          <pc:docMk/>
          <pc:sldMk cId="3516928132" sldId="259"/>
        </pc:sldMkLst>
        <pc:graphicFrameChg chg="modGraphic">
          <ac:chgData name="Sándor Pecsora" userId="810b1d013327c237" providerId="LiveId" clId="{7F24464F-1C01-40DA-B634-7173E2ACBB5F}" dt="2024-08-26T09:33:51.161" v="28" actId="12385"/>
          <ac:graphicFrameMkLst>
            <pc:docMk/>
            <pc:sldMk cId="3516928132" sldId="259"/>
            <ac:graphicFrameMk id="5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33:57.353" v="29" actId="12385"/>
        <pc:sldMkLst>
          <pc:docMk/>
          <pc:sldMk cId="3298177490" sldId="261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298177490" sldId="261"/>
            <ac:spMk id="2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33:57.353" v="29" actId="12385"/>
          <ac:graphicFrameMkLst>
            <pc:docMk/>
            <pc:sldMk cId="3298177490" sldId="261"/>
            <ac:graphicFrameMk id="5" creationId="{00000000-0000-0000-0000-000000000000}"/>
          </ac:graphicFrameMkLst>
        </pc:graphicFrameChg>
      </pc:sldChg>
      <pc:sldChg chg="modSp del">
        <pc:chgData name="Sándor Pecsora" userId="810b1d013327c237" providerId="LiveId" clId="{7F24464F-1C01-40DA-B634-7173E2ACBB5F}" dt="2024-08-26T09:34:04.523" v="30" actId="47"/>
        <pc:sldMkLst>
          <pc:docMk/>
          <pc:sldMk cId="3310362988" sldId="263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310362988" sldId="263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4:18.411" v="31" actId="12385"/>
        <pc:sldMkLst>
          <pc:docMk/>
          <pc:sldMk cId="2254815614" sldId="264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254815614" sldId="264"/>
            <ac:spMk id="2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34:18.411" v="31" actId="12385"/>
          <ac:graphicFrameMkLst>
            <pc:docMk/>
            <pc:sldMk cId="2254815614" sldId="264"/>
            <ac:graphicFrameMk id="5" creationId="{00000000-0000-0000-0000-000000000000}"/>
          </ac:graphicFrameMkLst>
        </pc:graphicFrame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50785834" sldId="265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50785834" sldId="265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50785834" sldId="265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310856737" sldId="266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310856737" sldId="266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4:38.132" v="32" actId="12385"/>
        <pc:sldMkLst>
          <pc:docMk/>
          <pc:sldMk cId="1778409077" sldId="267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778409077" sldId="267"/>
            <ac:spMk id="2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34:38.132" v="32" actId="12385"/>
          <ac:graphicFrameMkLst>
            <pc:docMk/>
            <pc:sldMk cId="1778409077" sldId="267"/>
            <ac:graphicFrameMk id="3" creationId="{00000000-0000-0000-0000-000000000000}"/>
          </ac:graphicFrameMkLst>
        </pc:graphicFrameChg>
      </pc:sldChg>
      <pc:sldChg chg="delSp modSp mod">
        <pc:chgData name="Sándor Pecsora" userId="810b1d013327c237" providerId="LiveId" clId="{7F24464F-1C01-40DA-B634-7173E2ACBB5F}" dt="2024-08-26T09:34:54.985" v="36" actId="478"/>
        <pc:sldMkLst>
          <pc:docMk/>
          <pc:sldMk cId="1977639749" sldId="269"/>
        </pc:sldMkLst>
        <pc:cxnChg chg="del mod">
          <ac:chgData name="Sándor Pecsora" userId="810b1d013327c237" providerId="LiveId" clId="{7F24464F-1C01-40DA-B634-7173E2ACBB5F}" dt="2024-08-26T09:34:54.985" v="36" actId="478"/>
          <ac:cxnSpMkLst>
            <pc:docMk/>
            <pc:sldMk cId="1977639749" sldId="269"/>
            <ac:cxnSpMk id="7" creationId="{00000000-0000-0000-0000-000000000000}"/>
          </ac:cxnSpMkLst>
        </pc:cxnChg>
      </pc:sldChg>
      <pc:sldChg chg="modSp mod">
        <pc:chgData name="Sándor Pecsora" userId="810b1d013327c237" providerId="LiveId" clId="{7F24464F-1C01-40DA-B634-7173E2ACBB5F}" dt="2024-08-26T09:32:56.317" v="1" actId="27636"/>
        <pc:sldMkLst>
          <pc:docMk/>
          <pc:sldMk cId="3323386994" sldId="270"/>
        </pc:sldMkLst>
        <pc:spChg chg="mod">
          <ac:chgData name="Sándor Pecsora" userId="810b1d013327c237" providerId="LiveId" clId="{7F24464F-1C01-40DA-B634-7173E2ACBB5F}" dt="2024-08-26T09:32:56.317" v="1" actId="27636"/>
          <ac:spMkLst>
            <pc:docMk/>
            <pc:sldMk cId="3323386994" sldId="270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323386994" sldId="270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902751784" sldId="271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902751784" sldId="271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2:56.356" v="3" actId="27636"/>
        <pc:sldMkLst>
          <pc:docMk/>
          <pc:sldMk cId="2955946106" sldId="272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955946106" sldId="272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356" v="3" actId="27636"/>
          <ac:spMkLst>
            <pc:docMk/>
            <pc:sldMk cId="2955946106" sldId="272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979718996" sldId="273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979718996" sldId="273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610958685" sldId="274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610958685" sldId="274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377324830" sldId="275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377324830" sldId="275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377324830" sldId="275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869006631" sldId="276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69006631" sldId="276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69006631" sldId="276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604680874" sldId="277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604680874" sldId="277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604680874" sldId="277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2650376459" sldId="282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650376459" sldId="282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006044989" sldId="283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006044989" sldId="283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006044989" sldId="283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881957687" sldId="285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881957687" sldId="285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881957687" sldId="285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808460431" sldId="286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08460431" sldId="286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08460431" sldId="286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093392158" sldId="287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093392158" sldId="287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401120120" sldId="288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401120120" sldId="288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401120120" sldId="288"/>
            <ac:spMk id="3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5:22.243" v="37" actId="12385"/>
        <pc:sldMkLst>
          <pc:docMk/>
          <pc:sldMk cId="3389459778" sldId="290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389459778" sldId="290"/>
            <ac:spMk id="2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35:22.243" v="37" actId="12385"/>
          <ac:graphicFrameMkLst>
            <pc:docMk/>
            <pc:sldMk cId="3389459778" sldId="290"/>
            <ac:graphicFrameMk id="8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32:56.448" v="4" actId="27636"/>
        <pc:sldMkLst>
          <pc:docMk/>
          <pc:sldMk cId="2468146092" sldId="291"/>
        </pc:sldMkLst>
        <pc:spChg chg="mod">
          <ac:chgData name="Sándor Pecsora" userId="810b1d013327c237" providerId="LiveId" clId="{7F24464F-1C01-40DA-B634-7173E2ACBB5F}" dt="2024-08-26T09:32:56.448" v="4" actId="27636"/>
          <ac:spMkLst>
            <pc:docMk/>
            <pc:sldMk cId="2468146092" sldId="291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743531547" sldId="292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743531547" sldId="292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4098915071" sldId="293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4098915071" sldId="293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4098915071" sldId="293"/>
            <ac:spMk id="3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4:43.924" v="33" actId="12385"/>
        <pc:sldMkLst>
          <pc:docMk/>
          <pc:sldMk cId="1667508814" sldId="300"/>
        </pc:sldMkLst>
        <pc:graphicFrameChg chg="modGraphic">
          <ac:chgData name="Sándor Pecsora" userId="810b1d013327c237" providerId="LiveId" clId="{7F24464F-1C01-40DA-B634-7173E2ACBB5F}" dt="2024-08-26T09:34:43.924" v="33" actId="12385"/>
          <ac:graphicFrameMkLst>
            <pc:docMk/>
            <pc:sldMk cId="1667508814" sldId="300"/>
            <ac:graphicFrameMk id="4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34:48.786" v="34" actId="12385"/>
        <pc:sldMkLst>
          <pc:docMk/>
          <pc:sldMk cId="3918444711" sldId="301"/>
        </pc:sldMkLst>
        <pc:graphicFrameChg chg="modGraphic">
          <ac:chgData name="Sándor Pecsora" userId="810b1d013327c237" providerId="LiveId" clId="{7F24464F-1C01-40DA-B634-7173E2ACBB5F}" dt="2024-08-26T09:34:48.786" v="34" actId="12385"/>
          <ac:graphicFrameMkLst>
            <pc:docMk/>
            <pc:sldMk cId="3918444711" sldId="301"/>
            <ac:graphicFrameMk id="4" creationId="{00000000-0000-0000-0000-000000000000}"/>
          </ac:graphicFrameMkLst>
        </pc:graphicFrame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952387586" sldId="302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952387586" sldId="302"/>
            <ac:spMk id="5632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56:37.775" v="47" actId="12385"/>
        <pc:sldMkLst>
          <pc:docMk/>
          <pc:sldMk cId="1353295213" sldId="303"/>
        </pc:sldMkLst>
        <pc:graphicFrameChg chg="modGraphic">
          <ac:chgData name="Sándor Pecsora" userId="810b1d013327c237" providerId="LiveId" clId="{7F24464F-1C01-40DA-B634-7173E2ACBB5F}" dt="2024-08-26T09:56:37.775" v="47" actId="12385"/>
          <ac:graphicFrameMkLst>
            <pc:docMk/>
            <pc:sldMk cId="1353295213" sldId="303"/>
            <ac:graphicFrameMk id="3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56:40.751" v="48" actId="12385"/>
        <pc:sldMkLst>
          <pc:docMk/>
          <pc:sldMk cId="4249741380" sldId="304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4249741380" sldId="304"/>
            <ac:spMk id="60419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56:40.751" v="48" actId="12385"/>
          <ac:graphicFrameMkLst>
            <pc:docMk/>
            <pc:sldMk cId="4249741380" sldId="304"/>
            <ac:graphicFrameMk id="3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56:43.232" v="49" actId="12385"/>
        <pc:sldMkLst>
          <pc:docMk/>
          <pc:sldMk cId="831186340" sldId="305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31186340" sldId="305"/>
            <ac:spMk id="62467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56:43.232" v="49" actId="12385"/>
          <ac:graphicFrameMkLst>
            <pc:docMk/>
            <pc:sldMk cId="831186340" sldId="305"/>
            <ac:graphicFrameMk id="2" creationId="{00000000-0000-0000-0000-000000000000}"/>
          </ac:graphicFrameMkLst>
        </pc:graphicFrame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468647499" sldId="309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468647499" sldId="309"/>
            <ac:spMk id="83970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6:07.626" v="44" actId="12385"/>
        <pc:sldMkLst>
          <pc:docMk/>
          <pc:sldMk cId="1728034039" sldId="311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728034039" sldId="311"/>
            <ac:spMk id="86018" creationId="{00000000-0000-0000-0000-000000000000}"/>
          </ac:spMkLst>
        </pc:spChg>
        <pc:graphicFrameChg chg="modGraphic">
          <ac:chgData name="Sándor Pecsora" userId="810b1d013327c237" providerId="LiveId" clId="{7F24464F-1C01-40DA-B634-7173E2ACBB5F}" dt="2024-08-26T09:36:07.626" v="44" actId="12385"/>
          <ac:graphicFrameMkLst>
            <pc:docMk/>
            <pc:sldMk cId="1728034039" sldId="311"/>
            <ac:graphicFrameMk id="2" creationId="{00000000-0000-0000-0000-000000000000}"/>
          </ac:graphicFrameMkLst>
        </pc:graphicFrame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765452613" sldId="318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765452613" sldId="318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3:17.073" v="25" actId="20577"/>
        <pc:sldMkLst>
          <pc:docMk/>
          <pc:sldMk cId="1783250332" sldId="319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783250332" sldId="319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3:17.073" v="25" actId="20577"/>
          <ac:spMkLst>
            <pc:docMk/>
            <pc:sldMk cId="1783250332" sldId="319"/>
            <ac:spMk id="3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2:56.327" v="2" actId="27636"/>
        <pc:sldMkLst>
          <pc:docMk/>
          <pc:sldMk cId="2100847052" sldId="320"/>
        </pc:sldMkLst>
        <pc:spChg chg="mod">
          <ac:chgData name="Sándor Pecsora" userId="810b1d013327c237" providerId="LiveId" clId="{7F24464F-1C01-40DA-B634-7173E2ACBB5F}" dt="2024-08-26T09:32:56.327" v="2" actId="27636"/>
          <ac:spMkLst>
            <pc:docMk/>
            <pc:sldMk cId="2100847052" sldId="320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2100847052" sldId="320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585622363" sldId="321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585622363" sldId="321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371302460" sldId="322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71302460" sldId="322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5:46.260" v="43" actId="12385"/>
        <pc:sldMkLst>
          <pc:docMk/>
          <pc:sldMk cId="3973382745" sldId="323"/>
        </pc:sldMkLst>
        <pc:graphicFrameChg chg="modGraphic">
          <ac:chgData name="Sándor Pecsora" userId="810b1d013327c237" providerId="LiveId" clId="{7F24464F-1C01-40DA-B634-7173E2ACBB5F}" dt="2024-08-26T09:35:39.313" v="41" actId="14100"/>
          <ac:graphicFrameMkLst>
            <pc:docMk/>
            <pc:sldMk cId="3973382745" sldId="323"/>
            <ac:graphicFrameMk id="8" creationId="{00000000-0000-0000-0000-000000000000}"/>
          </ac:graphicFrameMkLst>
        </pc:graphicFrameChg>
        <pc:graphicFrameChg chg="modGraphic">
          <ac:chgData name="Sándor Pecsora" userId="810b1d013327c237" providerId="LiveId" clId="{7F24464F-1C01-40DA-B634-7173E2ACBB5F}" dt="2024-08-26T09:35:46.260" v="43" actId="12385"/>
          <ac:graphicFrameMkLst>
            <pc:docMk/>
            <pc:sldMk cId="3973382745" sldId="323"/>
            <ac:graphicFrameMk id="9" creationId="{00000000-0000-0000-0000-000000000000}"/>
          </ac:graphicFrameMkLst>
        </pc:graphicFrameChg>
        <pc:graphicFrameChg chg="mod modGraphic">
          <ac:chgData name="Sándor Pecsora" userId="810b1d013327c237" providerId="LiveId" clId="{7F24464F-1C01-40DA-B634-7173E2ACBB5F}" dt="2024-08-26T09:35:44.034" v="42" actId="12385"/>
          <ac:graphicFrameMkLst>
            <pc:docMk/>
            <pc:sldMk cId="3973382745" sldId="323"/>
            <ac:graphicFrameMk id="10" creationId="{00000000-0000-0000-0000-000000000000}"/>
          </ac:graphicFrameMkLst>
        </pc:graphicFrameChg>
      </pc:sldChg>
      <pc:sldChg chg="modSp mod">
        <pc:chgData name="Sándor Pecsora" userId="810b1d013327c237" providerId="LiveId" clId="{7F24464F-1C01-40DA-B634-7173E2ACBB5F}" dt="2024-08-26T09:32:56.561" v="5" actId="27636"/>
        <pc:sldMkLst>
          <pc:docMk/>
          <pc:sldMk cId="3046953252" sldId="324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046953252" sldId="324"/>
            <ac:spMk id="83970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561" v="5" actId="27636"/>
          <ac:spMkLst>
            <pc:docMk/>
            <pc:sldMk cId="3046953252" sldId="324"/>
            <ac:spMk id="83971" creationId="{00000000-0000-0000-0000-000000000000}"/>
          </ac:spMkLst>
        </pc:spChg>
      </pc:sldChg>
      <pc:sldChg chg="modSp mod">
        <pc:chgData name="Sándor Pecsora" userId="810b1d013327c237" providerId="LiveId" clId="{7F24464F-1C01-40DA-B634-7173E2ACBB5F}" dt="2024-08-26T09:36:20.394" v="46" actId="1076"/>
        <pc:sldMkLst>
          <pc:docMk/>
          <pc:sldMk cId="1636568166" sldId="325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636568166" sldId="325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636568166" sldId="325"/>
            <ac:spMk id="3" creationId="{00000000-0000-0000-0000-000000000000}"/>
          </ac:spMkLst>
        </pc:spChg>
        <pc:picChg chg="mod">
          <ac:chgData name="Sándor Pecsora" userId="810b1d013327c237" providerId="LiveId" clId="{7F24464F-1C01-40DA-B634-7173E2ACBB5F}" dt="2024-08-26T09:36:20.394" v="46" actId="1076"/>
          <ac:picMkLst>
            <pc:docMk/>
            <pc:sldMk cId="1636568166" sldId="325"/>
            <ac:picMk id="4" creationId="{00000000-0000-0000-0000-000000000000}"/>
          </ac:picMkLst>
        </pc:picChg>
        <pc:picChg chg="mod">
          <ac:chgData name="Sándor Pecsora" userId="810b1d013327c237" providerId="LiveId" clId="{7F24464F-1C01-40DA-B634-7173E2ACBB5F}" dt="2024-08-26T09:36:16.216" v="45" actId="1076"/>
          <ac:picMkLst>
            <pc:docMk/>
            <pc:sldMk cId="1636568166" sldId="325"/>
            <ac:picMk id="5" creationId="{00000000-0000-0000-0000-000000000000}"/>
          </ac:picMkLst>
        </pc:picChg>
      </pc:sldChg>
      <pc:sldChg chg="modSp mod">
        <pc:chgData name="Sándor Pecsora" userId="810b1d013327c237" providerId="LiveId" clId="{7F24464F-1C01-40DA-B634-7173E2ACBB5F}" dt="2024-08-26T09:32:56.578" v="6" actId="27636"/>
        <pc:sldMkLst>
          <pc:docMk/>
          <pc:sldMk cId="1380785678" sldId="326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380785678" sldId="326"/>
            <ac:spMk id="2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2:56.578" v="6" actId="27636"/>
          <ac:spMkLst>
            <pc:docMk/>
            <pc:sldMk cId="1380785678" sldId="326"/>
            <ac:spMk id="3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1495258385" sldId="327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1495258385" sldId="327"/>
            <ac:spMk id="2" creationId="{00000000-0000-0000-0000-000000000000}"/>
          </ac:spMkLst>
        </pc:spChg>
      </pc:sldChg>
      <pc:sldChg chg="modSp">
        <pc:chgData name="Sándor Pecsora" userId="810b1d013327c237" providerId="LiveId" clId="{7F24464F-1C01-40DA-B634-7173E2ACBB5F}" dt="2024-08-26T09:32:56.056" v="0"/>
        <pc:sldMkLst>
          <pc:docMk/>
          <pc:sldMk cId="811959074" sldId="330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811959074" sldId="330"/>
            <ac:spMk id="2" creationId="{C78D57D7-8956-49F9-9353-B533C5FBD7E1}"/>
          </ac:spMkLst>
        </pc:spChg>
      </pc:sldChg>
      <pc:sldChg chg="delSp modSp mod">
        <pc:chgData name="Sándor Pecsora" userId="810b1d013327c237" providerId="LiveId" clId="{7F24464F-1C01-40DA-B634-7173E2ACBB5F}" dt="2024-08-26T09:33:08.682" v="24" actId="478"/>
        <pc:sldMkLst>
          <pc:docMk/>
          <pc:sldMk cId="3735662663" sldId="341"/>
        </pc:sldMkLst>
        <pc:spChg chg="mod">
          <ac:chgData name="Sándor Pecsora" userId="810b1d013327c237" providerId="LiveId" clId="{7F24464F-1C01-40DA-B634-7173E2ACBB5F}" dt="2024-08-26T09:32:56.056" v="0"/>
          <ac:spMkLst>
            <pc:docMk/>
            <pc:sldMk cId="3735662663" sldId="341"/>
            <ac:spMk id="3" creationId="{00000000-0000-0000-0000-000000000000}"/>
          </ac:spMkLst>
        </pc:spChg>
        <pc:spChg chg="mod">
          <ac:chgData name="Sándor Pecsora" userId="810b1d013327c237" providerId="LiveId" clId="{7F24464F-1C01-40DA-B634-7173E2ACBB5F}" dt="2024-08-26T09:33:03.945" v="22" actId="20577"/>
          <ac:spMkLst>
            <pc:docMk/>
            <pc:sldMk cId="3735662663" sldId="341"/>
            <ac:spMk id="4" creationId="{002A1929-D361-4830-B28B-82105341B8EC}"/>
          </ac:spMkLst>
        </pc:spChg>
        <pc:spChg chg="del mod">
          <ac:chgData name="Sándor Pecsora" userId="810b1d013327c237" providerId="LiveId" clId="{7F24464F-1C01-40DA-B634-7173E2ACBB5F}" dt="2024-08-26T09:33:08.682" v="24" actId="478"/>
          <ac:spMkLst>
            <pc:docMk/>
            <pc:sldMk cId="3735662663" sldId="341"/>
            <ac:spMk id="6" creationId="{138B5CDD-DF06-4B9E-97D9-BB5E2ADD616B}"/>
          </ac:spMkLst>
        </pc:spChg>
      </pc:sldChg>
      <pc:sldChg chg="modSp new mod">
        <pc:chgData name="Sándor Pecsora" userId="810b1d013327c237" providerId="LiveId" clId="{7F24464F-1C01-40DA-B634-7173E2ACBB5F}" dt="2024-08-26T10:11:50.268" v="111" actId="20577"/>
        <pc:sldMkLst>
          <pc:docMk/>
          <pc:sldMk cId="2059945950" sldId="342"/>
        </pc:sldMkLst>
        <pc:spChg chg="mod">
          <ac:chgData name="Sándor Pecsora" userId="810b1d013327c237" providerId="LiveId" clId="{7F24464F-1C01-40DA-B634-7173E2ACBB5F}" dt="2024-08-26T09:57:10.006" v="60" actId="20577"/>
          <ac:spMkLst>
            <pc:docMk/>
            <pc:sldMk cId="2059945950" sldId="342"/>
            <ac:spMk id="2" creationId="{576124FE-DE30-28DA-3F2B-45E0018E8573}"/>
          </ac:spMkLst>
        </pc:spChg>
        <pc:spChg chg="mod">
          <ac:chgData name="Sándor Pecsora" userId="810b1d013327c237" providerId="LiveId" clId="{7F24464F-1C01-40DA-B634-7173E2ACBB5F}" dt="2024-08-26T10:11:50.268" v="111" actId="20577"/>
          <ac:spMkLst>
            <pc:docMk/>
            <pc:sldMk cId="2059945950" sldId="342"/>
            <ac:spMk id="3" creationId="{4A8C6E9F-3DAF-DC60-52F1-A77A61F16771}"/>
          </ac:spMkLst>
        </pc:spChg>
      </pc:sldChg>
    </pc:docChg>
  </pc:docChgLst>
  <pc:docChgLst>
    <pc:chgData name="Sándor Pecsora" userId="810b1d013327c237" providerId="LiveId" clId="{8B8B9DB7-45DC-4799-83B2-41483E8DFBB5}"/>
    <pc:docChg chg="undo custSel modSld">
      <pc:chgData name="Sándor Pecsora" userId="810b1d013327c237" providerId="LiveId" clId="{8B8B9DB7-45DC-4799-83B2-41483E8DFBB5}" dt="2024-09-06T13:28:50.037" v="36" actId="20577"/>
      <pc:docMkLst>
        <pc:docMk/>
      </pc:docMkLst>
      <pc:sldChg chg="modSp mod">
        <pc:chgData name="Sándor Pecsora" userId="810b1d013327c237" providerId="LiveId" clId="{8B8B9DB7-45DC-4799-83B2-41483E8DFBB5}" dt="2024-09-06T13:27:16.490" v="3" actId="14100"/>
        <pc:sldMkLst>
          <pc:docMk/>
          <pc:sldMk cId="4098915071" sldId="293"/>
        </pc:sldMkLst>
        <pc:spChg chg="mod">
          <ac:chgData name="Sándor Pecsora" userId="810b1d013327c237" providerId="LiveId" clId="{8B8B9DB7-45DC-4799-83B2-41483E8DFBB5}" dt="2024-09-06T13:27:13.287" v="2" actId="2710"/>
          <ac:spMkLst>
            <pc:docMk/>
            <pc:sldMk cId="4098915071" sldId="293"/>
            <ac:spMk id="3" creationId="{00000000-0000-0000-0000-000000000000}"/>
          </ac:spMkLst>
        </pc:spChg>
        <pc:picChg chg="mod">
          <ac:chgData name="Sándor Pecsora" userId="810b1d013327c237" providerId="LiveId" clId="{8B8B9DB7-45DC-4799-83B2-41483E8DFBB5}" dt="2024-09-06T13:27:16.490" v="3" actId="14100"/>
          <ac:picMkLst>
            <pc:docMk/>
            <pc:sldMk cId="4098915071" sldId="293"/>
            <ac:picMk id="4" creationId="{00000000-0000-0000-0000-000000000000}"/>
          </ac:picMkLst>
        </pc:picChg>
      </pc:sldChg>
      <pc:sldChg chg="modSp mod">
        <pc:chgData name="Sándor Pecsora" userId="810b1d013327c237" providerId="LiveId" clId="{8B8B9DB7-45DC-4799-83B2-41483E8DFBB5}" dt="2024-09-06T13:28:21.651" v="22" actId="20577"/>
        <pc:sldMkLst>
          <pc:docMk/>
          <pc:sldMk cId="4249741380" sldId="304"/>
        </pc:sldMkLst>
        <pc:spChg chg="mod">
          <ac:chgData name="Sándor Pecsora" userId="810b1d013327c237" providerId="LiveId" clId="{8B8B9DB7-45DC-4799-83B2-41483E8DFBB5}" dt="2024-09-06T13:28:21.651" v="22" actId="20577"/>
          <ac:spMkLst>
            <pc:docMk/>
            <pc:sldMk cId="4249741380" sldId="304"/>
            <ac:spMk id="60418" creationId="{00000000-0000-0000-0000-000000000000}"/>
          </ac:spMkLst>
        </pc:spChg>
      </pc:sldChg>
      <pc:sldChg chg="modSp mod">
        <pc:chgData name="Sándor Pecsora" userId="810b1d013327c237" providerId="LiveId" clId="{8B8B9DB7-45DC-4799-83B2-41483E8DFBB5}" dt="2024-09-06T13:28:50.037" v="36" actId="20577"/>
        <pc:sldMkLst>
          <pc:docMk/>
          <pc:sldMk cId="831186340" sldId="305"/>
        </pc:sldMkLst>
        <pc:spChg chg="mod">
          <ac:chgData name="Sándor Pecsora" userId="810b1d013327c237" providerId="LiveId" clId="{8B8B9DB7-45DC-4799-83B2-41483E8DFBB5}" dt="2024-09-06T13:28:50.037" v="36" actId="20577"/>
          <ac:spMkLst>
            <pc:docMk/>
            <pc:sldMk cId="831186340" sldId="305"/>
            <ac:spMk id="624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D181-6501-4CD6-ADAA-357D1FDA1029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B4519-444B-4F56-B3DB-AC5AAF9180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9" tIns="44070" rIns="88139" bIns="44070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E8E7B75-CA56-4A12-982D-56D34FF5A031}" type="slidenum">
              <a:rPr lang="tr-TR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45</a:t>
            </a:fld>
            <a:endParaRPr lang="tr-TR" sz="180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4642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9" tIns="44070" rIns="88139" bIns="44070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530BEB6-04BD-407D-9293-1C88AAEE60E7}" type="slidenum">
              <a:rPr lang="tr-TR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46</a:t>
            </a:fld>
            <a:endParaRPr lang="tr-TR" sz="180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232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9" tIns="44070" rIns="88139" bIns="44070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A013FE-0B0F-4765-91C0-B5302C6A3DB4}" type="slidenum">
              <a:rPr lang="tr-TR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tr-TR" sz="18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537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9" tIns="44070" rIns="88139" bIns="44070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B87503E-87BB-4AB0-8013-5A33F7F7DF6A}" type="slidenum">
              <a:rPr lang="tr-TR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tr-TR" sz="180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834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2867474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629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Clr>
                <a:schemeClr val="accent3">
                  <a:lumMod val="50000"/>
                </a:schemeClr>
              </a:buClr>
              <a:buNone/>
              <a:defRPr sz="2000"/>
            </a:lvl1pPr>
            <a:lvl2pPr marL="205740" indent="0">
              <a:buClr>
                <a:schemeClr val="accent3">
                  <a:lumMod val="50000"/>
                </a:schemeClr>
              </a:buClr>
              <a:buNone/>
              <a:defRPr sz="1800"/>
            </a:lvl2pPr>
            <a:lvl3pPr marL="411480" indent="0">
              <a:buClr>
                <a:schemeClr val="accent3">
                  <a:lumMod val="50000"/>
                </a:schemeClr>
              </a:buClr>
              <a:buNone/>
              <a:defRPr sz="1800"/>
            </a:lvl3pPr>
            <a:lvl4pPr marL="617220" indent="0">
              <a:buClr>
                <a:schemeClr val="accent3">
                  <a:lumMod val="50000"/>
                </a:schemeClr>
              </a:buClr>
              <a:buNone/>
              <a:defRPr sz="1800"/>
            </a:lvl4pPr>
            <a:lvl5pPr marL="822960" indent="0">
              <a:buClr>
                <a:schemeClr val="accent3">
                  <a:lumMod val="50000"/>
                </a:schemeClr>
              </a:buClr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835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285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997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056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22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758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400"/>
            </a:lvl1pPr>
            <a:lvl2pPr>
              <a:buClr>
                <a:schemeClr val="accent3">
                  <a:lumMod val="75000"/>
                </a:schemeClr>
              </a:buClr>
              <a:defRPr sz="2000"/>
            </a:lvl2pPr>
            <a:lvl3pPr>
              <a:buClr>
                <a:schemeClr val="accent3">
                  <a:lumMod val="75000"/>
                </a:schemeClr>
              </a:buClr>
              <a:defRPr sz="2000"/>
            </a:lvl3pPr>
            <a:lvl4pPr>
              <a:buClr>
                <a:schemeClr val="accent3">
                  <a:lumMod val="75000"/>
                </a:schemeClr>
              </a:buClr>
              <a:defRPr sz="2000"/>
            </a:lvl4pPr>
            <a:lvl5pPr>
              <a:buClr>
                <a:schemeClr val="accent3">
                  <a:lumMod val="75000"/>
                </a:schemeClr>
              </a:buClr>
              <a:defRPr sz="20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533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728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878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202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Cím, 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 rtlCol="0">
            <a:normAutofit/>
          </a:bodyPr>
          <a:lstStyle/>
          <a:p>
            <a:pPr lvl="0"/>
            <a:r>
              <a:rPr lang="hu-HU" noProof="0"/>
              <a:t>Diagram beszúrásához kattintson az ikonra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366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B78DAAF-0C17-4703-AEE3-44267674DFC7}" type="datetimeFigureOut">
              <a:rPr lang="hu-HU" smtClean="0"/>
              <a:t>2024. 09. 06.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86032" y="758952"/>
            <a:ext cx="8328454" cy="2670048"/>
          </a:xfrm>
        </p:spPr>
        <p:txBody>
          <a:bodyPr>
            <a:noAutofit/>
          </a:bodyPr>
          <a:lstStyle/>
          <a:p>
            <a:r>
              <a:rPr lang="en-US" sz="4000" dirty="0"/>
              <a:t>Applied Statistics,</a:t>
            </a:r>
            <a:br>
              <a:rPr lang="en-US" sz="4000" dirty="0"/>
            </a:br>
            <a:r>
              <a:rPr lang="en-US" sz="4000" dirty="0"/>
              <a:t>Probability theory and mathematical statistics</a:t>
            </a:r>
            <a:endParaRPr lang="en-GB" sz="4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Introduction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Matlab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2A1929-D361-4830-B28B-82105341B8EC}"/>
              </a:ext>
            </a:extLst>
          </p:cNvPr>
          <p:cNvSpPr txBox="1"/>
          <p:nvPr/>
        </p:nvSpPr>
        <p:spPr>
          <a:xfrm>
            <a:off x="2241176" y="3542200"/>
            <a:ext cx="465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Attila Barta, Sándor Pecsora</a:t>
            </a:r>
          </a:p>
        </p:txBody>
      </p:sp>
    </p:spTree>
    <p:extLst>
      <p:ext uri="{BB962C8B-B14F-4D97-AF65-F5344CB8AC3E}">
        <p14:creationId xmlns:p14="http://schemas.microsoft.com/office/powerpoint/2010/main" val="373566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Variables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04800" y="1737362"/>
            <a:ext cx="8636000" cy="4942838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>
                <a:solidFill>
                  <a:schemeClr val="tx1"/>
                </a:solidFill>
              </a:rPr>
              <a:t>Valid Names </a:t>
            </a:r>
            <a:r>
              <a:rPr lang="en-US" sz="1600" dirty="0">
                <a:solidFill>
                  <a:schemeClr val="tx1"/>
                </a:solidFill>
              </a:rPr>
              <a:t>- A valid variable name starts with a letter, followed by letters, digits, or underscores. MATLAB® is case sensitive, so </a:t>
            </a:r>
            <a:r>
              <a:rPr lang="en-US" sz="1600" i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i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are not the same variable. The maximum length of a variable name is the value that the </a:t>
            </a:r>
            <a:r>
              <a:rPr lang="en-US" sz="1600" dirty="0" err="1">
                <a:solidFill>
                  <a:schemeClr val="tx1"/>
                </a:solidFill>
                <a:latin typeface="Courier"/>
              </a:rPr>
              <a:t>namelengthmax</a:t>
            </a:r>
            <a:r>
              <a:rPr lang="en-US" sz="1600" dirty="0">
                <a:solidFill>
                  <a:schemeClr val="tx1"/>
                </a:solidFill>
              </a:rPr>
              <a:t> command returns. You cannot define variables with the same names as MATLAB keywords, such as if or end. For a complete list, run the </a:t>
            </a:r>
            <a:r>
              <a:rPr lang="en-US" sz="1600" dirty="0" err="1">
                <a:solidFill>
                  <a:schemeClr val="tx1"/>
                </a:solidFill>
                <a:latin typeface="Courier"/>
              </a:rPr>
              <a:t>iskeyword</a:t>
            </a:r>
            <a:r>
              <a:rPr lang="en-US" sz="1600" dirty="0">
                <a:solidFill>
                  <a:schemeClr val="tx1"/>
                </a:solidFill>
              </a:rPr>
              <a:t> command.</a:t>
            </a:r>
          </a:p>
          <a:p>
            <a:pPr lvl="0" algn="just"/>
            <a:r>
              <a:rPr lang="en-US" sz="1600" b="1" dirty="0">
                <a:solidFill>
                  <a:schemeClr val="tx1"/>
                </a:solidFill>
              </a:rPr>
              <a:t>Create Variables - </a:t>
            </a:r>
            <a:r>
              <a:rPr lang="en-US" sz="1600" dirty="0">
                <a:solidFill>
                  <a:schemeClr val="tx1"/>
                </a:solidFill>
              </a:rPr>
              <a:t>To create a new variable, enter the variable name in the Command Window, followed by an equal sign (=) and the value you want to assign to the variable. For example, if you run these statements, MATLAB adds the three variables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x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, and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to the workspace:</a:t>
            </a:r>
          </a:p>
          <a:p>
            <a:pPr lvl="0" algn="just"/>
            <a:r>
              <a:rPr lang="en-US" sz="1600" dirty="0">
                <a:solidFill>
                  <a:schemeClr val="tx1"/>
                </a:solidFill>
                <a:latin typeface="Courier"/>
              </a:rPr>
              <a:t>x = </a:t>
            </a:r>
            <a:r>
              <a:rPr lang="hu-HU" sz="1600" dirty="0">
                <a:solidFill>
                  <a:schemeClr val="tx1"/>
                </a:solidFill>
                <a:latin typeface="Courier"/>
              </a:rPr>
              <a:t>8.16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;</a:t>
            </a:r>
          </a:p>
          <a:p>
            <a:pPr lvl="0" algn="just"/>
            <a:r>
              <a:rPr lang="en-US" sz="1600" dirty="0">
                <a:solidFill>
                  <a:schemeClr val="tx1"/>
                </a:solidFill>
                <a:latin typeface="Courier"/>
              </a:rPr>
              <a:t>A = [1 2 3; 4 5 6; 7 8 9];</a:t>
            </a:r>
          </a:p>
          <a:p>
            <a:pPr lvl="0" algn="just"/>
            <a:r>
              <a:rPr lang="en-US" sz="1600" dirty="0">
                <a:solidFill>
                  <a:schemeClr val="tx1"/>
                </a:solidFill>
                <a:latin typeface="Courier"/>
              </a:rPr>
              <a:t>I = x</a:t>
            </a:r>
            <a:r>
              <a:rPr lang="hu-HU" sz="1600" dirty="0">
                <a:solidFill>
                  <a:schemeClr val="tx1"/>
                </a:solidFill>
                <a:latin typeface="Courier"/>
              </a:rPr>
              <a:t>*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A;</a:t>
            </a: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  <a:p>
            <a:pPr algn="just"/>
            <a:endParaRPr lang="hu-HU" sz="1600" b="1" dirty="0">
              <a:solidFill>
                <a:schemeClr val="tx1"/>
              </a:solidFill>
            </a:endParaRPr>
          </a:p>
          <a:p>
            <a:pPr algn="just"/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</a:rPr>
              <a:t>You do not have to declare variables before assigning values to them. If you do not end the assignment statement with a semicolon (;), MATLAB displays the result in the Command Window.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822809"/>
            <a:ext cx="3838095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Scalar arithmetic operations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ábláza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67173"/>
                  </p:ext>
                </p:extLst>
              </p:nvPr>
            </p:nvGraphicFramePr>
            <p:xfrm>
              <a:off x="1500326" y="2411063"/>
              <a:ext cx="6143348" cy="23810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015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913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504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Symbol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Operation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Matlab</a:t>
                          </a:r>
                          <a:r>
                            <a:rPr lang="en-US" sz="1600" noProof="0" dirty="0"/>
                            <a:t> form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^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Exponentiation: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b="0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a^b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*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Multiplication: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a*b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3277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/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Right division:</a:t>
                          </a:r>
                          <a:r>
                            <a:rPr lang="en-US" sz="1600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baseline="0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baseline="0" noProof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600" b="0" baseline="0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b="0" baseline="0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baseline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baseline="0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600" b="0" baseline="0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a/b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1946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\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Left division: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noProof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sz="1600" b="0" noProof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a\b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+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Addition: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a+b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-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Subtraction: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US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a-b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ábláza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67173"/>
                  </p:ext>
                </p:extLst>
              </p:nvPr>
            </p:nvGraphicFramePr>
            <p:xfrm>
              <a:off x="1500326" y="2411063"/>
              <a:ext cx="6143348" cy="23867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015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913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504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Symbol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Operation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Matlab</a:t>
                          </a:r>
                          <a:r>
                            <a:rPr lang="en-US" sz="1600" noProof="0" dirty="0"/>
                            <a:t> form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1501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^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105660" r="-60947" b="-569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a^b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*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209615" r="-60947" b="-4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a*b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1224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/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251563" r="-60947" b="-2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a/b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4307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\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321429" r="-60947" b="-16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a\b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+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567308" r="-6094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 err="1"/>
                            <a:t>a+b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-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9053" t="-680392" r="-60947" b="-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noProof="0" dirty="0"/>
                            <a:t>a-b</a:t>
                          </a:r>
                          <a:endParaRPr lang="en-US" sz="1600" noProof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36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An Example Session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60" y="1737361"/>
            <a:ext cx="7543800" cy="4621106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8/10</a:t>
            </a:r>
          </a:p>
          <a:p>
            <a:r>
              <a:rPr lang="en-US" sz="1600" dirty="0" err="1">
                <a:solidFill>
                  <a:schemeClr val="tx1"/>
                </a:solidFill>
                <a:latin typeface="Courier"/>
              </a:rPr>
              <a:t>ans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 =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     0.8000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r=8/10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r =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   0.8000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r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r =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   0.8000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s=20*r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s =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   16</a:t>
            </a:r>
          </a:p>
          <a:p>
            <a:endParaRPr lang="hu-H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0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650" y="1212850"/>
            <a:ext cx="7886700" cy="51990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</a:rPr>
              <a:t>Order of precedence</a:t>
            </a:r>
            <a:endParaRPr lang="hu-HU" dirty="0"/>
          </a:p>
        </p:txBody>
      </p:sp>
      <p:graphicFrame>
        <p:nvGraphicFramePr>
          <p:cNvPr id="5" name="Tartalom hely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185374"/>
              </p:ext>
            </p:extLst>
          </p:nvPr>
        </p:nvGraphicFramePr>
        <p:xfrm>
          <a:off x="628649" y="2812256"/>
          <a:ext cx="8142817" cy="18059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70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Precedence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Operation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First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Parentheses, evaluated starting with the innermost pair.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Second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Exponentiation</a:t>
                      </a:r>
                      <a:r>
                        <a:rPr lang="en-GB" sz="1600" baseline="0" noProof="0" dirty="0"/>
                        <a:t>, evaluated from left to right.</a:t>
                      </a:r>
                      <a:endParaRPr lang="en-GB" sz="16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Third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Multiplication</a:t>
                      </a:r>
                      <a:r>
                        <a:rPr lang="en-GB" sz="1600" baseline="0" noProof="0" dirty="0"/>
                        <a:t> and division with equal precedence, evaluated from left to right.</a:t>
                      </a:r>
                      <a:endParaRPr lang="en-GB" sz="16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Fourth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noProof="0" dirty="0"/>
                        <a:t>Addition and subtraction with equal</a:t>
                      </a:r>
                      <a:r>
                        <a:rPr lang="en-GB" sz="1600" baseline="0" noProof="0" dirty="0"/>
                        <a:t> precedence, evaluated from left to right.</a:t>
                      </a:r>
                      <a:endParaRPr lang="en-GB" sz="16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92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 of Precedence</a:t>
            </a:r>
            <a:endParaRPr lang="en-GB" dirty="0"/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628650" y="2160270"/>
            <a:ext cx="3943350" cy="38404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ourier"/>
              </a:rPr>
              <a:t>8 + 3*5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23</a:t>
            </a:r>
          </a:p>
          <a:p>
            <a:r>
              <a:rPr lang="en-US" sz="1600" dirty="0">
                <a:latin typeface="Courier"/>
              </a:rPr>
              <a:t>8 + (3*5)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23</a:t>
            </a:r>
          </a:p>
          <a:p>
            <a:r>
              <a:rPr lang="en-US" sz="1600" dirty="0">
                <a:latin typeface="Courier"/>
              </a:rPr>
              <a:t>(8 + 3)*5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55</a:t>
            </a:r>
          </a:p>
          <a:p>
            <a:r>
              <a:rPr lang="en-US" sz="1600" dirty="0">
                <a:latin typeface="Courier"/>
              </a:rPr>
              <a:t>4^2­12­8/4*2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0</a:t>
            </a:r>
          </a:p>
        </p:txBody>
      </p:sp>
      <p:sp>
        <p:nvSpPr>
          <p:cNvPr id="5" name="Tartalom helye 2"/>
          <p:cNvSpPr txBox="1">
            <a:spLocks/>
          </p:cNvSpPr>
          <p:nvPr/>
        </p:nvSpPr>
        <p:spPr>
          <a:xfrm>
            <a:off x="4572000" y="2160270"/>
            <a:ext cx="3943350" cy="38404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ourier"/>
              </a:rPr>
              <a:t>3*4^2 + 5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53</a:t>
            </a:r>
          </a:p>
          <a:p>
            <a:r>
              <a:rPr lang="en-US" sz="1600" dirty="0">
                <a:latin typeface="Courier"/>
              </a:rPr>
              <a:t>(3*4)^2 + 5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 </a:t>
            </a:r>
          </a:p>
          <a:p>
            <a:r>
              <a:rPr lang="en-US" sz="1600" dirty="0">
                <a:latin typeface="Courier"/>
              </a:rPr>
              <a:t>     149</a:t>
            </a:r>
          </a:p>
          <a:p>
            <a:r>
              <a:rPr lang="en-US" sz="1600" dirty="0">
                <a:latin typeface="Courier"/>
              </a:rPr>
              <a:t>27^(1/3) + 32^(0.2)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5</a:t>
            </a:r>
          </a:p>
          <a:p>
            <a:r>
              <a:rPr lang="en-US" sz="1600" dirty="0">
                <a:latin typeface="Courier"/>
              </a:rPr>
              <a:t>27^(1/3) + 32^0.2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5</a:t>
            </a:r>
          </a:p>
        </p:txBody>
      </p:sp>
    </p:spTree>
    <p:extLst>
      <p:ext uri="{BB962C8B-B14F-4D97-AF65-F5344CB8AC3E}">
        <p14:creationId xmlns:p14="http://schemas.microsoft.com/office/powerpoint/2010/main" val="176545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Commands for managing the work session</a:t>
            </a:r>
            <a:endParaRPr lang="hu-HU" dirty="0"/>
          </a:p>
        </p:txBody>
      </p:sp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069036"/>
              </p:ext>
            </p:extLst>
          </p:nvPr>
        </p:nvGraphicFramePr>
        <p:xfrm>
          <a:off x="495299" y="3079750"/>
          <a:ext cx="8149168" cy="15621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7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1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Command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 err="1"/>
                        <a:t>clc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Clears the Command window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clear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Removes all variables from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clear var1 var2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Removes variables var1</a:t>
                      </a:r>
                      <a:r>
                        <a:rPr lang="en-GB" sz="1600" baseline="0" noProof="0" dirty="0"/>
                        <a:t> and </a:t>
                      </a:r>
                      <a:r>
                        <a:rPr lang="en-GB" sz="1600" noProof="0" dirty="0"/>
                        <a:t>var2</a:t>
                      </a:r>
                      <a:r>
                        <a:rPr lang="en-GB" sz="1600" baseline="0" noProof="0" dirty="0"/>
                        <a:t> from memory</a:t>
                      </a:r>
                      <a:endParaRPr lang="en-GB" sz="16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exist(’name’)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Determines is a file or variable exists having the name ’name’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17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Numeric display formats</a:t>
            </a:r>
            <a:endParaRPr lang="hu-HU" dirty="0"/>
          </a:p>
        </p:txBody>
      </p:sp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74464"/>
              </p:ext>
            </p:extLst>
          </p:nvPr>
        </p:nvGraphicFramePr>
        <p:xfrm>
          <a:off x="279400" y="2838449"/>
          <a:ext cx="8585202" cy="24307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Command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SHORT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noProof="0" dirty="0"/>
                        <a:t>Scaled fixed point format with 5 digits.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LONG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Scaled fixed point format with 15 digits for double and 7 digits for single.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SHORTE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Floating point format with 5 digits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LONGE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Floating point format with 15 digits for double and 7 digits for single.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SHORTG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Best of fixed or floating point format with 5 digits.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format LONGG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Best of fixed or floating point format with 15 digits for double and 7 digits for single.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81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</a:rPr>
              <a:t>Arrays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7866" indent="-67866"/>
                <a:r>
                  <a:rPr lang="en-US" sz="1600" dirty="0">
                    <a:latin typeface="Arial" panose="020B0604020202020204" pitchFamily="34" charset="0"/>
                  </a:rPr>
                  <a:t>The numbers 0, 0.1, 0.2, …, 10 can be assigned to the variable </a:t>
                </a:r>
                <a:r>
                  <a:rPr lang="en-US" sz="1600" dirty="0">
                    <a:latin typeface="Courier"/>
                  </a:rPr>
                  <a:t>u</a:t>
                </a:r>
                <a:r>
                  <a:rPr lang="en-US" sz="1600" dirty="0">
                    <a:latin typeface="Arial" panose="020B0604020202020204" pitchFamily="34" charset="0"/>
                  </a:rPr>
                  <a:t> by typing</a:t>
                </a:r>
                <a:endParaRPr lang="hu-HU" sz="1600" dirty="0">
                  <a:latin typeface="Arial" panose="020B0604020202020204" pitchFamily="34" charset="0"/>
                </a:endParaRPr>
              </a:p>
              <a:p>
                <a:r>
                  <a:rPr lang="en-US" sz="1600" dirty="0">
                    <a:latin typeface="Courier"/>
                  </a:rPr>
                  <a:t>u = 0:0.1:10.</a:t>
                </a:r>
              </a:p>
              <a:p>
                <a:r>
                  <a:rPr lang="en-US" sz="1600" dirty="0">
                    <a:latin typeface="Arial" panose="020B0604020202020204" pitchFamily="34" charset="0"/>
                  </a:rPr>
                  <a:t>To compute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r>
                  <a:rPr lang="en-US" sz="1600" dirty="0">
                    <a:latin typeface="Arial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=0, 0.1, 0.2,…, 10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</a:rPr>
                  <a:t>, the session is:</a:t>
                </a:r>
              </a:p>
              <a:p>
                <a:r>
                  <a:rPr lang="en-US" sz="1600" dirty="0">
                    <a:latin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Courier"/>
                  </a:rPr>
                  <a:t>u = 0:0.1:10;</a:t>
                </a:r>
              </a:p>
              <a:p>
                <a:r>
                  <a:rPr lang="en-US" sz="1600" dirty="0">
                    <a:latin typeface="Courier"/>
                  </a:rPr>
                  <a:t>w = 5*sin(u);</a:t>
                </a:r>
              </a:p>
              <a:p>
                <a:r>
                  <a:rPr lang="en-US" sz="1600" dirty="0">
                    <a:latin typeface="Arial" panose="020B0604020202020204" pitchFamily="34" charset="0"/>
                  </a:rPr>
                  <a:t>The single line, </a:t>
                </a:r>
                <a:r>
                  <a:rPr lang="en-US" sz="1600" dirty="0">
                    <a:latin typeface="Courier"/>
                  </a:rPr>
                  <a:t>w = 5*sin(u),</a:t>
                </a:r>
                <a:r>
                  <a:rPr lang="en-US" sz="1600" dirty="0">
                    <a:latin typeface="Arial" panose="020B0604020202020204" pitchFamily="34" charset="0"/>
                  </a:rPr>
                  <a:t> computed the formula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r>
                  <a:rPr lang="en-US" sz="1600" dirty="0">
                    <a:latin typeface="Arial" panose="020B0604020202020204" pitchFamily="34" charset="0"/>
                  </a:rPr>
                  <a:t> 101 times. 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27" t="-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8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Array Index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r>
              <a:rPr lang="en-US" sz="1600" dirty="0">
                <a:latin typeface="Courier"/>
              </a:rPr>
              <a:t>u(7)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0.6000</a:t>
            </a:r>
          </a:p>
          <a:p>
            <a:r>
              <a:rPr lang="en-US" sz="1600" dirty="0">
                <a:latin typeface="Courier"/>
              </a:rPr>
              <a:t>w(7)</a:t>
            </a:r>
          </a:p>
          <a:p>
            <a:r>
              <a:rPr lang="en-US" sz="1600" dirty="0" err="1">
                <a:latin typeface="Courier"/>
              </a:rPr>
              <a:t>ans</a:t>
            </a:r>
            <a:r>
              <a:rPr lang="en-US" sz="1600" dirty="0">
                <a:latin typeface="Courier"/>
              </a:rPr>
              <a:t> =</a:t>
            </a:r>
          </a:p>
          <a:p>
            <a:r>
              <a:rPr lang="en-US" sz="1600" dirty="0">
                <a:latin typeface="Courier"/>
              </a:rPr>
              <a:t>     2.8232</a:t>
            </a:r>
            <a:endParaRPr lang="hu-HU" sz="1600" dirty="0">
              <a:latin typeface="Courier"/>
            </a:endParaRPr>
          </a:p>
          <a:p>
            <a:endParaRPr lang="en-US" sz="1600" dirty="0">
              <a:latin typeface="Courier"/>
            </a:endParaRPr>
          </a:p>
          <a:p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latin typeface="Arial" panose="020B0604020202020204" pitchFamily="34" charset="0"/>
              </a:rPr>
              <a:t>Use the</a:t>
            </a:r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latin typeface="Courier"/>
              </a:rPr>
              <a:t>length</a:t>
            </a:r>
            <a:r>
              <a:rPr lang="en-US" sz="1600" dirty="0">
                <a:latin typeface="Times" panose="02020603050405020304" pitchFamily="18" charset="0"/>
              </a:rPr>
              <a:t> </a:t>
            </a:r>
            <a:r>
              <a:rPr lang="en-US" sz="1600" dirty="0">
                <a:latin typeface="Arial" panose="020B0604020202020204" pitchFamily="34" charset="0"/>
              </a:rPr>
              <a:t>function to determine how many values are in an array.</a:t>
            </a:r>
          </a:p>
          <a:p>
            <a:r>
              <a:rPr lang="en-US" sz="1600" dirty="0">
                <a:latin typeface="Courier"/>
              </a:rPr>
              <a:t>m = length(w)</a:t>
            </a:r>
          </a:p>
          <a:p>
            <a:r>
              <a:rPr lang="en-US" sz="1600" dirty="0">
                <a:latin typeface="Courier"/>
              </a:rPr>
              <a:t>m =</a:t>
            </a:r>
          </a:p>
          <a:p>
            <a:r>
              <a:rPr lang="en-US" sz="1600" dirty="0">
                <a:latin typeface="Courier"/>
              </a:rPr>
              <a:t>   101</a:t>
            </a:r>
            <a:endParaRPr lang="en-US" sz="1600" dirty="0">
              <a:latin typeface="Times" panose="02020603050405020304" pitchFamily="18" charset="0"/>
            </a:endParaRPr>
          </a:p>
          <a:p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31085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Some commonly used mathematical functions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áblázat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212832"/>
                  </p:ext>
                </p:extLst>
              </p:nvPr>
            </p:nvGraphicFramePr>
            <p:xfrm>
              <a:off x="1524000" y="2254249"/>
              <a:ext cx="6096000" cy="375177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Function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Matlab</a:t>
                          </a:r>
                          <a:r>
                            <a:rPr lang="en-GB" sz="1600" noProof="0" dirty="0"/>
                            <a:t> syntax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exp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sqrt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log(x)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6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log10(x)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cos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sin(x)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tan(x)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GB" sz="16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acos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GB" sz="16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asin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16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GB" sz="16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GB" sz="1600" b="0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GB" sz="1600" b="0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atan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78130">
                    <a:tc gridSpan="2"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Important!</a:t>
                          </a:r>
                          <a:r>
                            <a:rPr lang="en-GB" sz="1600" baseline="0" noProof="0" dirty="0"/>
                            <a:t> The </a:t>
                          </a:r>
                          <a:r>
                            <a:rPr lang="en-GB" sz="1600" baseline="0" noProof="0" dirty="0" err="1"/>
                            <a:t>Matlab</a:t>
                          </a:r>
                          <a:r>
                            <a:rPr lang="en-GB" sz="1600" baseline="0" noProof="0" dirty="0"/>
                            <a:t> trigonometric functions use radian measure.</a:t>
                          </a:r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áblázat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212832"/>
                  </p:ext>
                </p:extLst>
              </p:nvPr>
            </p:nvGraphicFramePr>
            <p:xfrm>
              <a:off x="1524000" y="2254249"/>
              <a:ext cx="6096000" cy="376834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2420"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Function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Matlab</a:t>
                          </a:r>
                          <a:r>
                            <a:rPr lang="en-GB" sz="1600" noProof="0" dirty="0"/>
                            <a:t> syntax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107692" r="-101000" b="-10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exp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151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211765" r="-101000" b="-939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sqrt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305769" r="-101000" b="-8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log(x)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413725" r="-101000" b="-737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log10(x)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513725" r="-101000" b="-637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cos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601923" r="-101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sin(x)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715686" r="-101000" b="-4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tan(x)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17945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800000" r="-101000" b="-3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acos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17945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900000" r="-101000" b="-2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asin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17945">
                    <a:tc>
                      <a:txBody>
                        <a:bodyPr/>
                        <a:lstStyle/>
                        <a:p>
                          <a:endParaRPr lang="hu-HU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400" t="-981132" r="-101000" b="-12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noProof="0" dirty="0" err="1"/>
                            <a:t>atan</a:t>
                          </a:r>
                          <a:r>
                            <a:rPr lang="en-GB" sz="1600" noProof="0" dirty="0"/>
                            <a:t>(x)</a:t>
                          </a:r>
                          <a:endParaRPr lang="en-GB" sz="1600" noProof="0" dirty="0">
                            <a:latin typeface="Courier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12420">
                    <a:tc gridSpan="2">
                      <a:txBody>
                        <a:bodyPr/>
                        <a:lstStyle/>
                        <a:p>
                          <a:r>
                            <a:rPr lang="en-GB" sz="1600" noProof="0" dirty="0"/>
                            <a:t>Important!</a:t>
                          </a:r>
                          <a:r>
                            <a:rPr lang="en-GB" sz="1600" baseline="0" noProof="0" dirty="0"/>
                            <a:t> The </a:t>
                          </a:r>
                          <a:r>
                            <a:rPr lang="en-GB" sz="1600" baseline="0" noProof="0" dirty="0" err="1"/>
                            <a:t>Matlab</a:t>
                          </a:r>
                          <a:r>
                            <a:rPr lang="en-GB" sz="1600" baseline="0" noProof="0" dirty="0"/>
                            <a:t> trigonometric functions use radian measure.</a:t>
                          </a:r>
                          <a:endParaRPr lang="en-GB" sz="1600" noProof="0" dirty="0"/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840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57766" y="0"/>
            <a:ext cx="7628467" cy="728132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Built-in functions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87133"/>
              </p:ext>
            </p:extLst>
          </p:nvPr>
        </p:nvGraphicFramePr>
        <p:xfrm>
          <a:off x="454882" y="728132"/>
          <a:ext cx="8234236" cy="5897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2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Function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mean(A)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noProof="0" dirty="0"/>
                        <a:t>Average or mean value</a:t>
                      </a:r>
                      <a:r>
                        <a:rPr lang="en-GB" sz="1500" baseline="0" noProof="0" dirty="0"/>
                        <a:t> of </a:t>
                      </a:r>
                      <a:r>
                        <a:rPr lang="en-GB" sz="1500" noProof="0" dirty="0"/>
                        <a:t>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max(A), min 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</a:rPr>
                        <a:t>If A is a vector, then min(A) returns the smallest element of A.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</a:rPr>
                        <a:t>If A is a matrix, then min(A) is a row vector containing the minimum value of each column. max(A)</a:t>
                      </a:r>
                      <a:r>
                        <a:rPr lang="en-US" sz="1500" kern="1200" baseline="0" dirty="0">
                          <a:solidFill>
                            <a:schemeClr val="dk1"/>
                          </a:solidFill>
                          <a:effectLst/>
                        </a:rPr>
                        <a:t> works similarly, but with the maximum of A.</a:t>
                      </a:r>
                      <a:endParaRPr lang="en-GB" sz="15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sum(A)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Summation of the elements of 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sort(A)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Sort in ascending or descending order.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median(A)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For vectors, median(a) is the median value of the elements in x. For matrices, median(A) is a row vector containing the median value of each column.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 err="1"/>
                        <a:t>std</a:t>
                      </a:r>
                      <a:r>
                        <a:rPr lang="en-GB" sz="1500" noProof="0" dirty="0"/>
                        <a:t>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Standard deviation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 err="1"/>
                        <a:t>det</a:t>
                      </a:r>
                      <a:r>
                        <a:rPr lang="en-GB" sz="1500" noProof="0" dirty="0"/>
                        <a:t>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Determinant of a square matrix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 err="1"/>
                        <a:t>inv</a:t>
                      </a:r>
                      <a:r>
                        <a:rPr lang="en-GB" sz="1500" noProof="0" dirty="0"/>
                        <a:t>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noProof="0" dirty="0"/>
                        <a:t>Inverse of the square matrix A</a:t>
                      </a:r>
                      <a:endParaRPr lang="en-GB" sz="1500" noProof="0" dirty="0">
                        <a:latin typeface="Times-Roman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size(A)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noProof="0" dirty="0"/>
                        <a:t>D=size(A), for M-by-N matrix A, returns the two-element row vector D=[M,N] containing the number of rows and columns in the matrix.</a:t>
                      </a:r>
                      <a:endParaRPr lang="en-GB" sz="1500" noProof="0" dirty="0">
                        <a:latin typeface="Times-Roman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length(A)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noProof="0" dirty="0"/>
                        <a:t>Returns the length of vector A.  It is equivalent to MAX(SIZE(A)) for non-empty arrays and 0 for empty ones.</a:t>
                      </a:r>
                      <a:endParaRPr lang="en-GB" sz="1500" noProof="0" dirty="0">
                        <a:latin typeface="Times-Roman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flip(A)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Flip the order of elements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prod(A)</a:t>
                      </a:r>
                      <a:endParaRPr lang="en-GB" sz="15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500" noProof="0" dirty="0"/>
                        <a:t>P=prod(A)is the product of the elements of the vector A. If A is a matrix, P is a row vector with the product over each column.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 gridSpan="2">
                  <a:txBody>
                    <a:bodyPr/>
                    <a:lstStyle/>
                    <a:p>
                      <a:r>
                        <a:rPr lang="en-GB" sz="1500" noProof="0" dirty="0"/>
                        <a:t>Important! If A is a matrix,</a:t>
                      </a:r>
                      <a:r>
                        <a:rPr lang="en-GB" sz="1500" baseline="0" noProof="0" dirty="0"/>
                        <a:t> then some of these functions work differently, please check the helper.</a:t>
                      </a:r>
                      <a:endParaRPr lang="en-GB" sz="1500" noProof="0" dirty="0">
                        <a:latin typeface="+mn-lt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GB" sz="1600" noProof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50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82787" y="286604"/>
            <a:ext cx="8624146" cy="145075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Operators (relational, logical)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27443"/>
              </p:ext>
            </p:extLst>
          </p:nvPr>
        </p:nvGraphicFramePr>
        <p:xfrm>
          <a:off x="2614613" y="2844801"/>
          <a:ext cx="3914775" cy="28117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78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Operator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==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Equal 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~=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Not equal 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&lt;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Strictly smaller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&gt;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Strictly greater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&lt;=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Smaller than or equal 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&gt;=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Greater than or equal 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&amp;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And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|</a:t>
                      </a:r>
                      <a:endParaRPr lang="en-GB" sz="1600" noProof="0" dirty="0">
                        <a:latin typeface="Courier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Or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44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1670049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Vectors</a:t>
            </a:r>
            <a:br>
              <a:rPr lang="en-GB" dirty="0">
                <a:latin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</a:rPr>
              <a:t>(One dimensional arrays)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28650" y="3666067"/>
            <a:ext cx="3943350" cy="26416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You can create a </a:t>
            </a:r>
            <a:r>
              <a:rPr lang="en-US" sz="1600" i="1" dirty="0">
                <a:latin typeface="Arial" panose="020B0604020202020204" pitchFamily="34" charset="0"/>
              </a:rPr>
              <a:t>column</a:t>
            </a:r>
            <a:r>
              <a:rPr lang="en-US" sz="1600" dirty="0">
                <a:latin typeface="Arial" panose="020B0604020202020204" pitchFamily="34" charset="0"/>
              </a:rPr>
              <a:t> vector by using the </a:t>
            </a:r>
            <a:r>
              <a:rPr lang="en-US" sz="1600" i="1" dirty="0">
                <a:latin typeface="Arial" panose="020B0604020202020204" pitchFamily="34" charset="0"/>
              </a:rPr>
              <a:t>transpose</a:t>
            </a:r>
            <a:r>
              <a:rPr lang="en-US" sz="1600" dirty="0">
                <a:latin typeface="Arial" panose="020B0604020202020204" pitchFamily="34" charset="0"/>
              </a:rPr>
              <a:t> notation (').</a:t>
            </a:r>
            <a:endParaRPr lang="en-US" sz="1600" dirty="0"/>
          </a:p>
          <a:p>
            <a:r>
              <a:rPr lang="en-US" sz="1600" dirty="0">
                <a:latin typeface="Courier New" panose="02070309020205020404" pitchFamily="49" charset="0"/>
              </a:rPr>
              <a:t>p = [3,7,9]'</a:t>
            </a:r>
          </a:p>
          <a:p>
            <a:r>
              <a:rPr lang="en-US" sz="1600" dirty="0">
                <a:latin typeface="Courier New" panose="02070309020205020404" pitchFamily="49" charset="0"/>
              </a:rPr>
              <a:t>p =</a:t>
            </a:r>
          </a:p>
          <a:p>
            <a:r>
              <a:rPr lang="en-US" sz="1600" dirty="0">
                <a:latin typeface="Courier New" panose="02070309020205020404" pitchFamily="49" charset="0"/>
              </a:rPr>
              <a:t>   3</a:t>
            </a:r>
          </a:p>
          <a:p>
            <a:r>
              <a:rPr lang="en-US" sz="1600" dirty="0">
                <a:latin typeface="Courier New" panose="02070309020205020404" pitchFamily="49" charset="0"/>
              </a:rPr>
              <a:t>   7</a:t>
            </a:r>
          </a:p>
          <a:p>
            <a:r>
              <a:rPr lang="en-US" sz="1600" dirty="0">
                <a:latin typeface="Courier New" panose="02070309020205020404" pitchFamily="49" charset="0"/>
              </a:rPr>
              <a:t>   9</a:t>
            </a:r>
            <a:endParaRPr lang="en-US" sz="1600" dirty="0">
              <a:latin typeface="Arial" panose="020B0604020202020204" pitchFamily="34" charset="0"/>
            </a:endParaRPr>
          </a:p>
          <a:p>
            <a:endParaRPr lang="hu-HU" sz="1600" dirty="0"/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4876801" y="3606800"/>
            <a:ext cx="3943350" cy="239394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You can also create a column vector by separating the elements by semicolons.  For example,</a:t>
            </a:r>
            <a:endParaRPr lang="en-US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g = [3;7;9]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g =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3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7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9</a:t>
            </a:r>
          </a:p>
          <a:p>
            <a:endParaRPr lang="hu-HU" sz="1600" dirty="0"/>
          </a:p>
        </p:txBody>
      </p:sp>
      <p:sp>
        <p:nvSpPr>
          <p:cNvPr id="5" name="Tartalom helye 2"/>
          <p:cNvSpPr txBox="1">
            <a:spLocks/>
          </p:cNvSpPr>
          <p:nvPr/>
        </p:nvSpPr>
        <p:spPr>
          <a:xfrm>
            <a:off x="628650" y="1771649"/>
            <a:ext cx="7886700" cy="16573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latin typeface="Arial" panose="020B0604020202020204" pitchFamily="34" charset="0"/>
              </a:rPr>
              <a:t>To create a </a:t>
            </a:r>
            <a:r>
              <a:rPr lang="en-GB" sz="1600" i="1" dirty="0">
                <a:latin typeface="Arial" panose="020B0604020202020204" pitchFamily="34" charset="0"/>
              </a:rPr>
              <a:t>row </a:t>
            </a:r>
            <a:r>
              <a:rPr lang="en-GB" sz="1600" dirty="0">
                <a:latin typeface="Arial" panose="020B0604020202020204" pitchFamily="34" charset="0"/>
              </a:rPr>
              <a:t>vector, separate the elements by commas</a:t>
            </a:r>
            <a:r>
              <a:rPr lang="hu-HU" sz="1600" dirty="0">
                <a:latin typeface="Arial" panose="020B0604020202020204" pitchFamily="34" charset="0"/>
              </a:rPr>
              <a:t> </a:t>
            </a:r>
            <a:r>
              <a:rPr lang="hu-HU" sz="1600" dirty="0" err="1">
                <a:latin typeface="Arial" panose="020B0604020202020204" pitchFamily="34" charset="0"/>
              </a:rPr>
              <a:t>or</a:t>
            </a:r>
            <a:r>
              <a:rPr lang="hu-HU" sz="1600" dirty="0">
                <a:latin typeface="Arial" panose="020B0604020202020204" pitchFamily="34" charset="0"/>
              </a:rPr>
              <a:t> </a:t>
            </a:r>
            <a:r>
              <a:rPr lang="hu-HU" sz="1600" dirty="0" err="1">
                <a:latin typeface="Arial" panose="020B0604020202020204" pitchFamily="34" charset="0"/>
              </a:rPr>
              <a:t>spaces</a:t>
            </a:r>
            <a:r>
              <a:rPr lang="en-GB" sz="1600" dirty="0">
                <a:latin typeface="Arial" panose="020B0604020202020204" pitchFamily="34" charset="0"/>
              </a:rPr>
              <a:t>.  Use square brackets:</a:t>
            </a:r>
          </a:p>
          <a:p>
            <a:r>
              <a:rPr lang="en-GB" sz="1600" dirty="0">
                <a:latin typeface="Courier New" panose="02070309020205020404" pitchFamily="49" charset="0"/>
              </a:rPr>
              <a:t>p = [3,7,9]</a:t>
            </a:r>
          </a:p>
          <a:p>
            <a:r>
              <a:rPr lang="en-GB" sz="1600" dirty="0">
                <a:latin typeface="Courier New" panose="02070309020205020404" pitchFamily="49" charset="0"/>
              </a:rPr>
              <a:t>p =</a:t>
            </a:r>
          </a:p>
          <a:p>
            <a:r>
              <a:rPr lang="en-GB" sz="1600" dirty="0">
                <a:latin typeface="Courier New" panose="02070309020205020404" pitchFamily="49" charset="0"/>
              </a:rPr>
              <a:t>   3   7   9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7763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118534"/>
            <a:ext cx="8382000" cy="161882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You can create row</a:t>
            </a:r>
            <a:r>
              <a:rPr lang="hu-HU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vectors by ''appending'' one vector to another.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For example, to create the row vector </a:t>
            </a:r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whose first three columns contain the values of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r = [2,4,20]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and whose fourth, fifth, and sixth columns contain the values of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w = [9,-6,3]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you type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u = [</a:t>
            </a:r>
            <a:r>
              <a:rPr lang="en-US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r,w</a:t>
            </a:r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The result is the vector</a:t>
            </a:r>
            <a:endParaRPr lang="hu-HU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Times New Roman" panose="02020603050405020304" pitchFamily="18" charset="0"/>
              </a:rPr>
              <a:t>u = [2,4,20,9,-6,3]</a:t>
            </a:r>
            <a:endParaRPr 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2338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50520" y="286604"/>
            <a:ext cx="848868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You can create</a:t>
            </a:r>
            <a:r>
              <a:rPr lang="hu-HU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column vectors by ''appending'' one vector to another.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Times New Roman" panose="02020603050405020304" pitchFamily="18" charset="0"/>
              </a:rPr>
              <a:t>For example, to create the column vector </a:t>
            </a:r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u</a:t>
            </a:r>
            <a:r>
              <a:rPr lang="en-GB" dirty="0">
                <a:latin typeface="Arial" panose="020B0604020202020204" pitchFamily="34" charset="0"/>
                <a:cs typeface="Times New Roman" panose="02020603050405020304" pitchFamily="18" charset="0"/>
              </a:rPr>
              <a:t> whose first three rows contain the values of</a:t>
            </a:r>
          </a:p>
          <a:p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r = [2;4;20]</a:t>
            </a:r>
            <a:endParaRPr lang="en-GB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cs typeface="Times New Roman" panose="02020603050405020304" pitchFamily="18" charset="0"/>
              </a:rPr>
              <a:t>and whose fourth, fifth, and sixth rows contain the values of</a:t>
            </a:r>
          </a:p>
          <a:p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w = [9;-6;3]</a:t>
            </a:r>
            <a:endParaRPr lang="en-GB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cs typeface="Times New Roman" panose="02020603050405020304" pitchFamily="18" charset="0"/>
              </a:rPr>
              <a:t>you type</a:t>
            </a:r>
          </a:p>
          <a:p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u = [</a:t>
            </a:r>
            <a:r>
              <a:rPr lang="en-GB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r;w</a:t>
            </a:r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  <a:endParaRPr lang="en-GB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cs typeface="Times New Roman" panose="02020603050405020304" pitchFamily="18" charset="0"/>
              </a:rPr>
              <a:t>The result is the vector</a:t>
            </a:r>
          </a:p>
          <a:p>
            <a:r>
              <a:rPr lang="en-GB" dirty="0">
                <a:latin typeface="Courier New" panose="02070309020205020404" pitchFamily="49" charset="0"/>
                <a:cs typeface="Times New Roman" panose="02020603050405020304" pitchFamily="18" charset="0"/>
              </a:rPr>
              <a:t>u = [2;4;20;9;-6;3]</a:t>
            </a:r>
            <a:endParaRPr lang="en-GB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847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The colon operator (:)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60" y="1737360"/>
            <a:ext cx="7448973" cy="45872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The colon operator (:) easily generates a large vector of regularly spaced elements.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Typing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x = m:q:n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or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x = (</a:t>
            </a:r>
            <a:r>
              <a:rPr lang="en-US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m:q:n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creates a vector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of values with a spacing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q</a:t>
            </a:r>
            <a:r>
              <a:rPr lang="en-US" sz="1600" dirty="0">
                <a:cs typeface="Times New Roman" panose="02020603050405020304" pitchFamily="18" charset="0"/>
              </a:rPr>
              <a:t>. The first value is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m</a:t>
            </a:r>
            <a:r>
              <a:rPr lang="en-US" sz="1600" dirty="0">
                <a:cs typeface="Times New Roman" panose="02020603050405020304" pitchFamily="18" charset="0"/>
              </a:rPr>
              <a:t>. The last value is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if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m-n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is an integer multiple of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q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>
                <a:cs typeface="Times New Roman" panose="02020603050405020304" pitchFamily="18" charset="0"/>
              </a:rPr>
              <a:t>If not, the last value is less than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dirty="0"/>
              <a:t>For example, typing </a:t>
            </a:r>
            <a:r>
              <a:rPr lang="en-US" sz="1600" dirty="0">
                <a:latin typeface="Courier New" panose="02070309020205020404" pitchFamily="49" charset="0"/>
              </a:rPr>
              <a:t>x = 0:2:8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/>
              <a:t>creates the vector  </a:t>
            </a:r>
            <a:r>
              <a:rPr lang="en-US" sz="1600" dirty="0">
                <a:latin typeface="Courier New" panose="02070309020205020404" pitchFamily="49" charset="0"/>
              </a:rPr>
              <a:t>x = [0,2,4,6,8]</a:t>
            </a:r>
            <a:r>
              <a:rPr lang="en-US" sz="1600" dirty="0"/>
              <a:t>, whereas typing </a:t>
            </a:r>
            <a:r>
              <a:rPr lang="en-US" sz="1600" dirty="0">
                <a:latin typeface="Courier New" panose="02070309020205020404" pitchFamily="49" charset="0"/>
              </a:rPr>
              <a:t>x = 0:2:7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/>
              <a:t>creates the vector </a:t>
            </a:r>
            <a:r>
              <a:rPr lang="en-US" sz="1600" dirty="0">
                <a:latin typeface="Courier New" panose="02070309020205020404" pitchFamily="49" charset="0"/>
              </a:rPr>
              <a:t>x = [0,2,4,6]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To create a row vector </a:t>
            </a:r>
            <a:r>
              <a:rPr lang="en-US" sz="1600" dirty="0">
                <a:latin typeface="Courier New" panose="02070309020205020404" pitchFamily="49" charset="0"/>
              </a:rPr>
              <a:t>z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/>
              <a:t>consisting of the values from 5 to 8 in steps of 0.1, type</a:t>
            </a:r>
            <a:br>
              <a:rPr lang="hu-HU" sz="1600" dirty="0"/>
            </a:br>
            <a:r>
              <a:rPr lang="en-US" sz="1600" dirty="0">
                <a:latin typeface="Courier New" panose="02070309020205020404" pitchFamily="49" charset="0"/>
              </a:rPr>
              <a:t>z = 5:0.1:8</a:t>
            </a:r>
          </a:p>
          <a:p>
            <a:pPr marL="0" indent="0">
              <a:buNone/>
            </a:pPr>
            <a:r>
              <a:rPr lang="en-US" sz="1600" dirty="0"/>
              <a:t>If the increment q is omitted, it is presumed to be 1. Thus typing </a:t>
            </a:r>
            <a:r>
              <a:rPr lang="en-US" sz="1600" dirty="0">
                <a:latin typeface="Courier New" panose="02070309020205020404" pitchFamily="49" charset="0"/>
              </a:rPr>
              <a:t>y = -3:2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/>
              <a:t>produces the vector  </a:t>
            </a:r>
            <a:r>
              <a:rPr lang="en-US" sz="1600" dirty="0">
                <a:latin typeface="Courier New" panose="02070309020205020404" pitchFamily="49" charset="0"/>
              </a:rPr>
              <a:t>y = [-3,-2,-1,0,1,2].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902751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Creating vectors with the </a:t>
            </a:r>
            <a:r>
              <a:rPr lang="en-GB">
                <a:latin typeface="Courier New" panose="02070309020205020404" pitchFamily="49" charset="0"/>
                <a:cs typeface="Times New Roman" panose="02020603050405020304" pitchFamily="18" charset="0"/>
              </a:rPr>
              <a:t>linspace</a:t>
            </a:r>
            <a:r>
              <a:rPr lang="en-GB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en-GB"/>
              <a:t>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487333"/>
          </a:xfrm>
        </p:spPr>
        <p:txBody>
          <a:bodyPr>
            <a:normAutofit/>
          </a:bodyPr>
          <a:lstStyle/>
          <a:p>
            <a:r>
              <a:rPr lang="en-GB" sz="1600" dirty="0">
                <a:cs typeface="Times New Roman" panose="02020603050405020304" pitchFamily="18" charset="0"/>
              </a:rPr>
              <a:t>The </a:t>
            </a:r>
            <a:r>
              <a:rPr lang="en-GB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linspace</a:t>
            </a:r>
            <a:r>
              <a:rPr lang="en-GB" sz="16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cs typeface="Times New Roman" panose="02020603050405020304" pitchFamily="18" charset="0"/>
              </a:rPr>
              <a:t>command also creates a linearly spaced row vector, but instead you specify the number of values rather than the increment. </a:t>
            </a:r>
          </a:p>
          <a:p>
            <a:endParaRPr lang="en-GB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cs typeface="Times New Roman" panose="02020603050405020304" pitchFamily="18" charset="0"/>
              </a:rPr>
              <a:t>The syntax is </a:t>
            </a:r>
            <a:r>
              <a:rPr lang="en-GB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linspace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(x1,x2,n)</a:t>
            </a:r>
            <a:r>
              <a:rPr lang="en-GB" sz="1600" dirty="0">
                <a:cs typeface="Times New Roman" panose="02020603050405020304" pitchFamily="18" charset="0"/>
              </a:rPr>
              <a:t>, where 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x1</a:t>
            </a:r>
            <a:r>
              <a:rPr lang="en-GB" sz="1600" dirty="0">
                <a:cs typeface="Times New Roman" panose="02020603050405020304" pitchFamily="18" charset="0"/>
              </a:rPr>
              <a:t> and 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x2</a:t>
            </a:r>
            <a:r>
              <a:rPr lang="en-GB" sz="1600" dirty="0">
                <a:cs typeface="Times New Roman" panose="02020603050405020304" pitchFamily="18" charset="0"/>
              </a:rPr>
              <a:t> are the lower and upper limits and 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en-GB" sz="1600" dirty="0">
                <a:cs typeface="Times New Roman" panose="02020603050405020304" pitchFamily="18" charset="0"/>
              </a:rPr>
              <a:t> is the number of points.</a:t>
            </a:r>
          </a:p>
          <a:p>
            <a:endParaRPr lang="en-GB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cs typeface="Times New Roman" panose="02020603050405020304" pitchFamily="18" charset="0"/>
              </a:rPr>
              <a:t>For example, </a:t>
            </a:r>
            <a:r>
              <a:rPr lang="en-GB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linspace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(5,8,31)</a:t>
            </a:r>
            <a:r>
              <a:rPr lang="en-GB" sz="1600" dirty="0">
                <a:cs typeface="Times New Roman" panose="02020603050405020304" pitchFamily="18" charset="0"/>
              </a:rPr>
              <a:t> is equivalent to </a:t>
            </a:r>
            <a:r>
              <a:rPr lang="en-GB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5:0.1:8</a:t>
            </a:r>
            <a:r>
              <a:rPr lang="en-GB" sz="16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"/>
                <a:cs typeface="Times New Roman" panose="02020603050405020304" pitchFamily="18" charset="0"/>
              </a:rPr>
              <a:t>linspace</a:t>
            </a:r>
            <a:r>
              <a:rPr lang="en-US" sz="1600" dirty="0">
                <a:cs typeface="Times New Roman" panose="02020603050405020304" pitchFamily="18" charset="0"/>
              </a:rPr>
              <a:t> Linearly spaced vector.</a:t>
            </a:r>
          </a:p>
          <a:p>
            <a:pPr marL="0" indent="0">
              <a:buNone/>
            </a:pPr>
            <a:r>
              <a:rPr lang="en-US" sz="1600" dirty="0" err="1">
                <a:latin typeface="Courier"/>
                <a:cs typeface="Times New Roman" panose="02020603050405020304" pitchFamily="18" charset="0"/>
              </a:rPr>
              <a:t>linspace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(X1, X2) </a:t>
            </a:r>
            <a:r>
              <a:rPr lang="en-US" sz="1600" dirty="0">
                <a:cs typeface="Times New Roman" panose="02020603050405020304" pitchFamily="18" charset="0"/>
              </a:rPr>
              <a:t>generates a row vector of 100 linearly equally spaced points between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X1</a:t>
            </a:r>
            <a:r>
              <a:rPr lang="en-US" sz="1600" dirty="0"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X2</a:t>
            </a:r>
            <a:r>
              <a:rPr lang="en-US" sz="16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dirty="0" err="1">
                <a:latin typeface="Courier"/>
                <a:cs typeface="Times New Roman" panose="02020603050405020304" pitchFamily="18" charset="0"/>
              </a:rPr>
              <a:t>linspace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(X1, X2, N) </a:t>
            </a:r>
            <a:r>
              <a:rPr lang="en-US" sz="1600" dirty="0">
                <a:cs typeface="Times New Roman" panose="02020603050405020304" pitchFamily="18" charset="0"/>
              </a:rPr>
              <a:t>generates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N</a:t>
            </a:r>
            <a:r>
              <a:rPr lang="en-US" sz="1600" dirty="0">
                <a:cs typeface="Times New Roman" panose="02020603050405020304" pitchFamily="18" charset="0"/>
              </a:rPr>
              <a:t> points between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X1</a:t>
            </a:r>
            <a:r>
              <a:rPr lang="en-US" sz="1600" dirty="0"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X2</a:t>
            </a:r>
            <a:r>
              <a:rPr lang="en-US" sz="16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cs typeface="Times New Roman" panose="02020603050405020304" pitchFamily="18" charset="0"/>
              </a:rPr>
              <a:t>For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N = 1</a:t>
            </a:r>
            <a:r>
              <a:rPr lang="en-US" sz="1600" dirty="0"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urier"/>
                <a:cs typeface="Times New Roman" panose="02020603050405020304" pitchFamily="18" charset="0"/>
              </a:rPr>
              <a:t>linspace</a:t>
            </a:r>
            <a:r>
              <a:rPr lang="en-US" sz="1600" dirty="0">
                <a:cs typeface="Times New Roman" panose="02020603050405020304" pitchFamily="18" charset="0"/>
              </a:rPr>
              <a:t> returns </a:t>
            </a:r>
            <a:r>
              <a:rPr lang="en-US" sz="1600" dirty="0">
                <a:latin typeface="Courier"/>
                <a:cs typeface="Times New Roman" panose="02020603050405020304" pitchFamily="18" charset="0"/>
              </a:rPr>
              <a:t>X2</a:t>
            </a:r>
            <a:r>
              <a:rPr lang="en-US" sz="1600" dirty="0">
                <a:cs typeface="Times New Roman" panose="02020603050405020304" pitchFamily="18" charset="0"/>
              </a:rPr>
              <a:t>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55946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Arial" panose="020B0604020202020204" pitchFamily="34" charset="0"/>
              </a:rPr>
              <a:t>Matrices</a:t>
            </a:r>
            <a:br>
              <a:rPr lang="en-GB">
                <a:latin typeface="Arial" panose="020B0604020202020204" pitchFamily="34" charset="0"/>
              </a:rPr>
            </a:br>
            <a:r>
              <a:rPr lang="en-GB">
                <a:latin typeface="Arial" panose="020B0604020202020204" pitchFamily="34" charset="0"/>
              </a:rPr>
              <a:t>(Two dimensional arrays)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02666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If the matrix is small you can type it row by row, separating the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elements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in a given row with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spaces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or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commas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and separating the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rows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with semicolons. For example, typing</a:t>
                </a:r>
              </a:p>
              <a:p>
                <a:endParaRPr lang="en-US" sz="160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 = [2,4,10;16,3,7];</a:t>
                </a:r>
              </a:p>
              <a:p>
                <a:endParaRPr lang="en-US" sz="160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creates the following matrix:</a:t>
                </a:r>
              </a:p>
              <a:p>
                <a:endParaRPr lang="en-US" sz="160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hu-HU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hu-HU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hu-HU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hu-HU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hu-HU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hu-HU" sz="1600" b="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           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Remember, spaces or commas separate elements in different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columns,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 whereas semicolons separate elements in different </a:t>
                </a:r>
                <a:r>
                  <a:rPr lang="en-US" sz="1600" i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rows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02666"/>
              </a:xfrm>
              <a:blipFill rotWithShape="0">
                <a:blip r:embed="rId2"/>
                <a:stretch>
                  <a:fillRect l="-404" t="-970" r="-1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376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Creating Matrices from Vectors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Suppose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latin typeface="Courier New" panose="02070309020205020404" pitchFamily="49" charset="0"/>
              </a:rPr>
              <a:t>=</a:t>
            </a:r>
            <a:r>
              <a:rPr lang="en-US" sz="1600" dirty="0"/>
              <a:t> </a:t>
            </a:r>
            <a:r>
              <a:rPr lang="en-US" sz="1600" dirty="0">
                <a:latin typeface="Courier New" panose="02070309020205020404" pitchFamily="49" charset="0"/>
              </a:rPr>
              <a:t>[1,3,5]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b </a:t>
            </a:r>
            <a:r>
              <a:rPr lang="en-US" sz="1600" dirty="0">
                <a:latin typeface="Courier New" panose="02070309020205020404" pitchFamily="49" charset="0"/>
              </a:rPr>
              <a:t>= [7,9,11]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(row vectors).  Note the difference between the results given by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[a b]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a;b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  <a:r>
              <a:rPr lang="en-US" sz="1600" dirty="0">
                <a:latin typeface="Arial" panose="020B0604020202020204" pitchFamily="34" charset="0"/>
                <a:cs typeface="Times New Roman" panose="02020603050405020304" pitchFamily="18" charset="0"/>
              </a:rPr>
              <a:t> in the following session:</a:t>
            </a:r>
          </a:p>
          <a:p>
            <a:endParaRPr 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c = [a b];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c =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1  3  5  7  9  11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D = [</a:t>
            </a:r>
            <a:r>
              <a:rPr lang="en-US" sz="16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a;b</a:t>
            </a:r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D =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1  3  5</a:t>
            </a:r>
          </a:p>
          <a:p>
            <a:r>
              <a:rPr lang="en-US" sz="1600" dirty="0">
                <a:latin typeface="Courier New" panose="02070309020205020404" pitchFamily="49" charset="0"/>
                <a:cs typeface="Times New Roman" panose="02020603050405020304" pitchFamily="18" charset="0"/>
              </a:rPr>
              <a:t>   7  9  11</a:t>
            </a:r>
            <a:endParaRPr 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44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650" y="858043"/>
            <a:ext cx="7886700" cy="99417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Addressing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28650" y="2091267"/>
            <a:ext cx="7886700" cy="4250266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GB" sz="1600" dirty="0">
                <a:latin typeface="Arial" panose="020B0604020202020204" pitchFamily="34" charset="0"/>
              </a:rPr>
              <a:t>The colon operator selects individual elements, rows, columns, or ''</a:t>
            </a:r>
            <a:r>
              <a:rPr lang="en-GB" sz="1600" dirty="0" err="1">
                <a:latin typeface="Arial" panose="020B0604020202020204" pitchFamily="34" charset="0"/>
              </a:rPr>
              <a:t>subarrays</a:t>
            </a:r>
            <a:r>
              <a:rPr lang="en-GB" sz="1600" dirty="0">
                <a:latin typeface="Arial" panose="020B0604020202020204" pitchFamily="34" charset="0"/>
              </a:rPr>
              <a:t>'' of arrays. Here are some </a:t>
            </a:r>
          </a:p>
          <a:p>
            <a:pPr>
              <a:lnSpc>
                <a:spcPct val="80000"/>
              </a:lnSpc>
            </a:pPr>
            <a:r>
              <a:rPr lang="en-GB" sz="1600" dirty="0">
                <a:latin typeface="Arial" panose="020B0604020202020204" pitchFamily="34" charset="0"/>
              </a:rPr>
              <a:t>examples: </a:t>
            </a:r>
          </a:p>
          <a:p>
            <a:pPr marL="177800" indent="-1778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</a:rPr>
              <a:t>v(:) represents all the row or column elements of the vector v.</a:t>
            </a:r>
          </a:p>
          <a:p>
            <a:pPr marL="177800" indent="-1778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</a:rPr>
              <a:t>v(2:5) represents the second through fifth elements; that is v(2), v(3), v(4), v(5). </a:t>
            </a:r>
          </a:p>
          <a:p>
            <a:pPr marL="177800" indent="-1778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anose="020B0604020202020204" pitchFamily="34" charset="0"/>
              </a:rPr>
              <a:t>A(:,3) denotes all the elements in the third column of the matrix A.</a:t>
            </a:r>
          </a:p>
          <a:p>
            <a:pPr marL="177800" indent="-1778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anose="020B0604020202020204" pitchFamily="34" charset="0"/>
              </a:rPr>
              <a:t>A(:,2:5) denotes all the elements in the second through fifth columns of A.</a:t>
            </a:r>
          </a:p>
          <a:p>
            <a:pPr marL="177800" indent="-1778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anose="020B0604020202020204" pitchFamily="34" charset="0"/>
              </a:rPr>
              <a:t>A(2:3,1:3) denotes all the elements in the second and third rows that are also in the first through third columns. </a:t>
            </a: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itchFamily="34" charset="0"/>
                <a:cs typeface="Arial" pitchFamily="34" charset="0"/>
              </a:rPr>
              <a:t>v = A(:) creates a vector v consisting of all the columns of A stacked from first to last.</a:t>
            </a: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itchFamily="34" charset="0"/>
                <a:cs typeface="Arial" pitchFamily="34" charset="0"/>
              </a:rPr>
              <a:t>A(end,:) denotes the last row in A, and A(:,end) denotes the last column.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03904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Array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You can use array indices to extract a smaller array from another array. For example, if you first create the array </a:t>
                </a:r>
                <a:r>
                  <a:rPr lang="en-US" sz="1600" b="1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B</a:t>
                </a:r>
                <a:endParaRPr lang="hu-HU" sz="1600" b="1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endParaRPr lang="hu-HU" sz="1600" b="1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u-HU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u-H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u-HU" sz="1600" dirty="0"/>
              </a:p>
              <a:p>
                <a:endParaRPr lang="hu-HU" sz="1600" dirty="0"/>
              </a:p>
              <a:p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then type </a:t>
                </a:r>
                <a:r>
                  <a:rPr lang="en-US" sz="16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 = B(2:3,1:3)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en-US" sz="16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you can produce the following array:</a:t>
                </a:r>
                <a:endParaRPr lang="hu-HU" sz="160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hu-H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u-HU" sz="16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04" t="-1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957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Array Addition and Subtraction</a:t>
            </a:r>
            <a:endParaRPr lang="hu-H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The addition shown in the equation above</a:t>
                </a:r>
                <a:r>
                  <a:rPr lang="en-GB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is performed in MATLAB as follows:</a:t>
                </a:r>
                <a:endPara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 = [6,-2;10,3];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 = [9,8;-12,14]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A+B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Array subtraction is performed in a similar way.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 = [6,-2;10,3];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B = [9,8;-12,14]</a:t>
                </a:r>
              </a:p>
              <a:p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A-B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04" b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460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Multiplication</a:t>
            </a:r>
            <a:endParaRPr lang="hu-H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Multiplying a matrix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 by a scalar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 produces a matrix whose elements are the elements of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 multiplied by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.</a:t>
                </a:r>
                <a:endParaRPr lang="hu-HU" sz="1600" dirty="0">
                  <a:solidFill>
                    <a:schemeClr val="tx1"/>
                  </a:solidFill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endParaRPr lang="hu-HU" sz="1600" dirty="0">
                  <a:solidFill>
                    <a:schemeClr val="tx1"/>
                  </a:solidFill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endChr m:val="]"/>
                        <m:ctrlPr>
                          <a:rPr lang="hu-H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hu-H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</m:m>
                      </m:e>
                    </m:d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hu-H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hu-H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hu-HU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hu-HU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This multiplication is performed in MATLAB as follows: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 = [2, 9; 5,-7];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3*A</a:t>
                </a:r>
              </a:p>
              <a:p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ans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=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6	  27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15	 -21</a:t>
                </a:r>
              </a:p>
              <a:p>
                <a:endParaRPr lang="hu-H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  <a:blipFill rotWithShape="0">
                <a:blip r:embed="rId2"/>
                <a:stretch>
                  <a:fillRect l="-404" t="-9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392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Multiplication of two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arrays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MATLAB uses two definitions of multiplication: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hu-HU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array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multiplication (also called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element-by-element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multiplication), and </a:t>
            </a:r>
          </a:p>
          <a:p>
            <a:pPr>
              <a:buFontTx/>
              <a:buAutoNum type="arabicParenBoth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buFontTx/>
              <a:buAutoNum type="arabicParenBoth"/>
            </a:pPr>
            <a:r>
              <a:rPr lang="hu-HU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matrix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multiplication.  </a:t>
            </a:r>
          </a:p>
          <a:p>
            <a:endParaRPr lang="hu-H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120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Multiplication of two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arrays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31801" y="1845734"/>
            <a:ext cx="4140200" cy="4023360"/>
          </a:xfrm>
        </p:spPr>
        <p:txBody>
          <a:bodyPr>
            <a:normAutofit/>
          </a:bodyPr>
          <a:lstStyle/>
          <a:p>
            <a:r>
              <a:rPr lang="en-GB" sz="1600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Element-by-element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multiplication is performed in MATLAB as follows: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[6,-2;10,3];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 [9,8;-12,14]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A.*B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</a:p>
          <a:p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54   -16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-120    42</a:t>
            </a:r>
          </a:p>
          <a:p>
            <a:endParaRPr lang="en-GB" sz="1600" dirty="0"/>
          </a:p>
        </p:txBody>
      </p:sp>
      <p:sp>
        <p:nvSpPr>
          <p:cNvPr id="4" name="Tartalom helye 2"/>
          <p:cNvSpPr txBox="1">
            <a:spLocks/>
          </p:cNvSpPr>
          <p:nvPr/>
        </p:nvSpPr>
        <p:spPr>
          <a:xfrm>
            <a:off x="4572000" y="1845734"/>
            <a:ext cx="39370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Matrix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multiplication</a:t>
            </a:r>
            <a:r>
              <a:rPr lang="hu-HU" sz="16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is performed in MATLAB as follows:</a:t>
            </a:r>
            <a:endParaRPr lang="hu-HU" sz="16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[6,-2;10,3];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 [9,8;-12,14]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hu-HU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Courier"/>
              </a:rPr>
              <a:t>ans =</a:t>
            </a:r>
          </a:p>
          <a:p>
            <a:endParaRPr lang="fr-FR" sz="1600" dirty="0">
              <a:latin typeface="Courier"/>
            </a:endParaRPr>
          </a:p>
          <a:p>
            <a:r>
              <a:rPr lang="fr-FR" sz="1600" dirty="0">
                <a:latin typeface="Courier"/>
              </a:rPr>
              <a:t>    78    20</a:t>
            </a:r>
          </a:p>
          <a:p>
            <a:r>
              <a:rPr lang="fr-FR" sz="1600" dirty="0">
                <a:latin typeface="Courier"/>
              </a:rPr>
              <a:t>    54   122</a:t>
            </a:r>
            <a:endParaRPr lang="en-GB" sz="16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8562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Element-by-element operations</a:t>
            </a:r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015915"/>
              </p:ext>
            </p:extLst>
          </p:nvPr>
        </p:nvGraphicFramePr>
        <p:xfrm>
          <a:off x="674878" y="2112457"/>
          <a:ext cx="7794244" cy="3606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2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noProof="0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Operation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+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Scalar-array addition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A+b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[6,3]+2=[8,5]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-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Scalar-array subtraction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A-b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[8,3]-5=[3,-2]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+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addition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A+B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[6,5]+[4,8]=[10,13]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-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subtraction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A-B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[6,5]-[4,8]=[2,-3]</a:t>
                      </a:r>
                      <a:endParaRPr lang="en-GB" sz="1800" noProof="0" dirty="0">
                        <a:latin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.*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multiplication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A.*B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[3,5].*[4,8]=[12,40]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./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right division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A./B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[2,5]./[4,8]=[2/4,5/8]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.\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left division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A.\B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[2,5].\[4,8]=[2\4,5\8]</a:t>
                      </a:r>
                      <a:endParaRPr lang="en-GB" sz="1800" noProof="0" dirty="0">
                        <a:latin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.^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 dirty="0"/>
                        <a:t>Array exponentiation</a:t>
                      </a:r>
                      <a:endParaRPr lang="en-GB" sz="1800" noProof="0" dirty="0"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A.^B</a:t>
                      </a:r>
                      <a:endParaRPr lang="en-GB" noProof="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GB" sz="1800" noProof="0" dirty="0"/>
                        <a:t>2.^[3,5]=[2^3,2^5]</a:t>
                      </a:r>
                    </a:p>
                    <a:p>
                      <a:pPr eaLnBrk="1" hangingPunct="1"/>
                      <a:r>
                        <a:rPr lang="en-GB" sz="1800" noProof="0" dirty="0"/>
                        <a:t>[3,5].^[2,4]=[3^2,5^4]</a:t>
                      </a:r>
                      <a:endParaRPr lang="en-GB" sz="1800" noProof="0" dirty="0">
                        <a:latin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459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650" y="857250"/>
            <a:ext cx="7886700" cy="6985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Matrix-Matrix Multiplication</a:t>
            </a:r>
            <a:endParaRPr lang="hu-H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758952"/>
                <a:ext cx="8883650" cy="504825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In the product of two matrices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AB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the number of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columns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in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 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must equal the number of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rows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in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 The product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AB 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has the same number of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rows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as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 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and the same number of </a:t>
                </a:r>
                <a:r>
                  <a:rPr lang="en-US" sz="1600" i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columns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as </a:t>
                </a:r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 For example,</a:t>
                </a:r>
                <a:endParaRPr lang="hu-HU" sz="16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hu-H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∗9+</m:t>
                                </m:r>
                                <m:d>
                                  <m:dPr>
                                    <m:ctrlPr>
                                      <a:rPr lang="hu-H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hu-H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hu-H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(−5)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5∗8+</m:t>
                                </m:r>
                                <m:d>
                                  <m:dPr>
                                    <m:ctrlPr>
                                      <a:rPr lang="hu-H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∗12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10∗9+3∗(−5)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10∗8+3∗12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4∗9+7∗(−5)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4∗8+7∗12</m:t>
                                </m:r>
                              </m:e>
                            </m:mr>
                          </m:m>
                        </m:e>
                      </m:d>
                      <m:r>
                        <a:rPr lang="hu-H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116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hu-HU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u-HU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A = [6,-2;10,3;4,7];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B = [9,8;-5,12];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A*B</a:t>
                </a:r>
              </a:p>
              <a:p>
                <a:r>
                  <a:rPr lang="en-US" sz="1600" dirty="0" err="1">
                    <a:solidFill>
                      <a:schemeClr val="tx1"/>
                    </a:solidFill>
                    <a:latin typeface="Courier"/>
                  </a:rPr>
                  <a:t>ans</a:t>
                </a:r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 =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     64   24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     75   116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ourier"/>
                  </a:rPr>
                  <a:t>     1    116</a:t>
                </a:r>
              </a:p>
              <a:p>
                <a:endParaRPr lang="hu-H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758952"/>
                <a:ext cx="8883650" cy="5048250"/>
              </a:xfrm>
              <a:blipFill rotWithShape="0">
                <a:blip r:embed="rId2"/>
                <a:stretch>
                  <a:fillRect l="-343" t="-845" r="-1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146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 graphics window showing a plot</a:t>
            </a:r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345" y="1779694"/>
            <a:ext cx="4709310" cy="45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18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Courier"/>
              </a:rPr>
              <a:t>plot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</a:rPr>
              <a:t> command in MATLAB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églalap 4"/>
          <p:cNvSpPr/>
          <p:nvPr/>
        </p:nvSpPr>
        <p:spPr>
          <a:xfrm>
            <a:off x="822960" y="2072901"/>
            <a:ext cx="7543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/>
              </a:rPr>
              <a:t>plot(X,Y)</a:t>
            </a:r>
            <a:r>
              <a:rPr lang="en-GB" sz="1600" dirty="0"/>
              <a:t> creates a 2-D line plot of the data in Y versus the corresponding values in X.</a:t>
            </a:r>
          </a:p>
          <a:p>
            <a:r>
              <a:rPr lang="en-GB" sz="1600" dirty="0"/>
              <a:t>Example:</a:t>
            </a:r>
          </a:p>
          <a:p>
            <a:r>
              <a:rPr lang="en-GB" sz="1600" dirty="0">
                <a:latin typeface="Courier"/>
              </a:rPr>
              <a:t>X=[1,2,3,4,5]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X =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     1     2     3     4     5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Y=[1,4,9,16,25]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Y =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     1     4     9    16    25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plot(X,Y)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88" y="2573867"/>
            <a:ext cx="4542572" cy="364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58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"/>
              </a:rPr>
              <a:t>plot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command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</a:rPr>
              <a:t>in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</a:rPr>
              <a:t> MATLAB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Téglalap 4"/>
          <p:cNvSpPr/>
          <p:nvPr/>
        </p:nvSpPr>
        <p:spPr>
          <a:xfrm>
            <a:off x="822960" y="2072901"/>
            <a:ext cx="76606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To plot the 5 point defined by X and Y, you can use for example the * marker.</a:t>
            </a:r>
          </a:p>
          <a:p>
            <a:r>
              <a:rPr lang="en-GB" sz="1600" dirty="0"/>
              <a:t>Example:</a:t>
            </a:r>
          </a:p>
          <a:p>
            <a:r>
              <a:rPr lang="en-GB" sz="1600" dirty="0">
                <a:latin typeface="Courier"/>
              </a:rPr>
              <a:t>X=[1,2,3,4,5]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X =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    1    2    3    4    5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Y=[1,4,9,16,25]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Y =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    1    4    9   16   25</a:t>
            </a:r>
          </a:p>
          <a:p>
            <a:endParaRPr lang="en-GB" sz="1600" dirty="0">
              <a:latin typeface="Courier"/>
            </a:endParaRPr>
          </a:p>
          <a:p>
            <a:r>
              <a:rPr lang="en-GB" sz="1600" dirty="0">
                <a:latin typeface="Courier"/>
              </a:rPr>
              <a:t>plot(X,Y, '*')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414" y="2557131"/>
            <a:ext cx="4544627" cy="36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2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22960" y="0"/>
            <a:ext cx="7543800" cy="14139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ourier"/>
              </a:rPr>
              <a:t>plot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</a:rPr>
              <a:t>line 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</a:rPr>
              <a:t>style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</a:rPr>
              <a:t>, marker and 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</a:rPr>
              <a:t>colour</a:t>
            </a:r>
            <a:endParaRPr lang="hu-HU" dirty="0">
              <a:solidFill>
                <a:schemeClr val="tx1"/>
              </a:solidFill>
            </a:endParaRPr>
          </a:p>
        </p:txBody>
      </p:sp>
      <p:graphicFrame>
        <p:nvGraphicFramePr>
          <p:cNvPr id="8" name="Tábláza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289115"/>
              </p:ext>
            </p:extLst>
          </p:nvPr>
        </p:nvGraphicFramePr>
        <p:xfrm>
          <a:off x="905934" y="1297094"/>
          <a:ext cx="292034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4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1600" u="none" strike="noStrike" dirty="0">
                          <a:effectLst/>
                        </a:rPr>
                        <a:t>Line </a:t>
                      </a:r>
                      <a:r>
                        <a:rPr lang="hu-HU" sz="1600" u="none" strike="noStrike" dirty="0" err="1">
                          <a:effectLst/>
                        </a:rPr>
                        <a:t>Style</a:t>
                      </a:r>
                      <a:endParaRPr lang="hu-H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1600" u="none" strike="noStrike" dirty="0" err="1">
                          <a:effectLst/>
                        </a:rPr>
                        <a:t>Description</a:t>
                      </a:r>
                      <a:endParaRPr lang="hu-H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>
                          <a:effectLst/>
                        </a:rPr>
                        <a:t>-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 err="1">
                          <a:effectLst/>
                        </a:rPr>
                        <a:t>Solid</a:t>
                      </a:r>
                      <a:r>
                        <a:rPr lang="hu-HU" sz="1600" u="none" strike="noStrike" dirty="0">
                          <a:effectLst/>
                        </a:rPr>
                        <a:t> line (</a:t>
                      </a:r>
                      <a:r>
                        <a:rPr lang="hu-HU" sz="1600" u="none" strike="noStrike" dirty="0" err="1">
                          <a:effectLst/>
                        </a:rPr>
                        <a:t>default</a:t>
                      </a:r>
                      <a:r>
                        <a:rPr lang="hu-HU" sz="1600" u="none" strike="noStrike" dirty="0">
                          <a:effectLst/>
                        </a:rPr>
                        <a:t>)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>
                          <a:effectLst/>
                        </a:rPr>
                        <a:t>--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 err="1">
                          <a:effectLst/>
                        </a:rPr>
                        <a:t>Dashed</a:t>
                      </a:r>
                      <a:r>
                        <a:rPr lang="hu-HU" sz="1600" u="none" strike="noStrike" dirty="0">
                          <a:effectLst/>
                        </a:rPr>
                        <a:t> line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>
                          <a:effectLst/>
                        </a:rPr>
                        <a:t>: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 err="1">
                          <a:effectLst/>
                        </a:rPr>
                        <a:t>Dotted</a:t>
                      </a:r>
                      <a:r>
                        <a:rPr lang="hu-HU" sz="1600" u="none" strike="noStrike" dirty="0">
                          <a:effectLst/>
                        </a:rPr>
                        <a:t> line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>
                          <a:effectLst/>
                        </a:rPr>
                        <a:t>-.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u="none" strike="noStrike" dirty="0" err="1">
                          <a:effectLst/>
                        </a:rPr>
                        <a:t>Dash-dot</a:t>
                      </a:r>
                      <a:r>
                        <a:rPr lang="hu-HU" sz="1600" u="none" strike="noStrike" dirty="0">
                          <a:effectLst/>
                        </a:rPr>
                        <a:t> line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ábláza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877131"/>
              </p:ext>
            </p:extLst>
          </p:nvPr>
        </p:nvGraphicFramePr>
        <p:xfrm>
          <a:off x="4902199" y="1303867"/>
          <a:ext cx="3066543" cy="54444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Marker</a:t>
                      </a:r>
                      <a:endParaRPr lang="hu-H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hu-H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Circle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+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Plus sign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Asterisk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Point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Cross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Square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Diamond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^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Upward-pointing triangle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Downward-pointing triangle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&gt;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Right-pointing triangle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&lt;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Left-pointing triangle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Pentagram</a:t>
                      </a:r>
                      <a:endParaRPr lang="hu-H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ourier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u-HU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Hexagram</a:t>
                      </a:r>
                      <a:endParaRPr lang="hu-H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59718"/>
              </p:ext>
            </p:extLst>
          </p:nvPr>
        </p:nvGraphicFramePr>
        <p:xfrm>
          <a:off x="914401" y="3174997"/>
          <a:ext cx="2412999" cy="333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sz="1600" dirty="0" err="1"/>
                        <a:t>Colour</a:t>
                      </a:r>
                      <a:endParaRPr lang="hu-H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 dirty="0" err="1"/>
                        <a:t>Description</a:t>
                      </a:r>
                      <a:endParaRPr lang="hu-H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y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 dirty="0" err="1"/>
                        <a:t>yellow</a:t>
                      </a:r>
                      <a:endParaRPr lang="hu-H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m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magenta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c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cyan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r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g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b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blue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w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/>
                        <a:t>white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k</a:t>
                      </a:r>
                      <a:endParaRPr lang="hu-HU" sz="1600" dirty="0">
                        <a:latin typeface="Courie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600" dirty="0" err="1"/>
                        <a:t>black</a:t>
                      </a:r>
                      <a:endParaRPr lang="hu-H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382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Plotting Polynomials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774281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function </a:t>
            </a:r>
            <a:r>
              <a:rPr lang="en-US" sz="16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polyval</a:t>
            </a:r>
            <a:r>
              <a:rPr lang="en-US" sz="160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a,x</a:t>
            </a:r>
            <a:r>
              <a:rPr lang="en-US" sz="160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a polynomial at specified values of its independent variable </a:t>
            </a:r>
            <a:r>
              <a:rPr lang="en-US" sz="160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can be a matrix or a vector. The polynomial’s coefficients of descending powers are stored in the array </a:t>
            </a:r>
            <a:r>
              <a:rPr lang="en-US" sz="160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result is the same size as </a:t>
            </a:r>
            <a:r>
              <a:rPr lang="en-US" sz="160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60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90000"/>
              </a:spcBef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Example of Plotting a Polynomial</a:t>
            </a:r>
            <a:endParaRPr lang="hu-HU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ct val="90000"/>
              </a:spcBef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To plot the polynomial 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f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) = 9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en-US" sz="1600" baseline="30000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5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en-US" sz="1600" baseline="300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+ 3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x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+ 7           for -2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x </a:t>
            </a:r>
            <a:r>
              <a:rPr lang="en-US" sz="1600" dirty="0">
                <a:solidFill>
                  <a:schemeClr val="tx1"/>
                </a:solidFill>
                <a:latin typeface="MathematicalPi 1"/>
              </a:rPr>
              <a:t>≤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5, you type</a:t>
            </a:r>
          </a:p>
          <a:p>
            <a:pPr>
              <a:spcBef>
                <a:spcPct val="90000"/>
              </a:spcBef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a = [9,-5,3,7];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x = -2:0.01:5;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f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polyval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a,x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plot(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x,f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),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xlabel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('x'),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ylabel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('f(x)')</a:t>
            </a:r>
            <a:endParaRPr lang="hu-HU" sz="1600" dirty="0">
              <a:solidFill>
                <a:schemeClr val="tx1"/>
              </a:solidFill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283" y="4191000"/>
            <a:ext cx="2621371" cy="20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31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Plotting and label</a:t>
            </a:r>
            <a:r>
              <a:rPr lang="hu-HU" dirty="0">
                <a:solidFill>
                  <a:schemeClr val="tx1"/>
                </a:solidFill>
              </a:rPr>
              <a:t>l</a:t>
            </a:r>
            <a:r>
              <a:rPr lang="en-GB" dirty="0" err="1">
                <a:solidFill>
                  <a:schemeClr val="tx1"/>
                </a:solidFill>
              </a:rPr>
              <a:t>ing</a:t>
            </a: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The following MATLAB session plots </a:t>
                </a:r>
                <a14:m>
                  <m:oMath xmlns:m="http://schemas.openxmlformats.org/officeDocument/2006/math"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=0.4</m:t>
                    </m:r>
                    <m:rad>
                      <m:radPr>
                        <m:degHide m:val="on"/>
                        <m:ctrlPr>
                          <a:rPr lang="hu-H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hu-H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1.8</m:t>
                        </m:r>
                        <m:r>
                          <a:rPr lang="hu-HU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hu-HU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hu-HU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≤52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where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y </a:t>
                </a:r>
                <a:r>
                  <a:rPr lang="en-US" sz="1600" dirty="0">
                    <a:solidFill>
                      <a:schemeClr val="tx1"/>
                    </a:solidFill>
                  </a:rPr>
                  <a:t>represents the height of a rocket after launch, in miles, and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x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the horizontal (downrange) distance in miles.</a:t>
                </a:r>
                <a:endParaRPr lang="hu-HU" sz="1600" dirty="0">
                  <a:solidFill>
                    <a:schemeClr val="tx1"/>
                  </a:solidFill>
                </a:endParaRPr>
              </a:p>
              <a:p>
                <a:endParaRPr lang="hu-HU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x = 0:0.1:52;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y = 0.4*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sqrt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(1.8*x);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plot(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x,y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xlabel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('Distance (miles)')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ylabel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('Height (miles)')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</a:rPr>
                  <a:t>title('Rocket Height as a Function of Downrange Distance')</a:t>
                </a:r>
              </a:p>
              <a:p>
                <a:endParaRPr lang="hu-H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6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28" y="2695448"/>
            <a:ext cx="3602186" cy="298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15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Multiple Graphs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3971" name="Rectangle 1027"/>
          <p:cNvSpPr>
            <a:spLocks noGrp="1" noChangeArrowheads="1"/>
          </p:cNvSpPr>
          <p:nvPr>
            <p:ph sz="half" idx="1"/>
          </p:nvPr>
        </p:nvSpPr>
        <p:spPr>
          <a:xfrm>
            <a:off x="822960" y="2343150"/>
            <a:ext cx="7863840" cy="398145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hu-HU" sz="1600" dirty="0" err="1">
                <a:solidFill>
                  <a:schemeClr val="tx1"/>
                </a:solidFill>
              </a:rPr>
              <a:t>First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hu-HU" sz="1600" dirty="0" err="1">
                <a:solidFill>
                  <a:schemeClr val="tx1"/>
                </a:solidFill>
              </a:rPr>
              <a:t>method</a:t>
            </a:r>
            <a:r>
              <a:rPr lang="hu-HU" sz="16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t = 0:pi/100:2*pi;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y1=sin(t);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y2=sin(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t+pi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/2);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plot(t,y1,t,y2)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grid on</a:t>
            </a: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grid on </a:t>
            </a:r>
            <a:r>
              <a:rPr lang="en-US" sz="1600" dirty="0">
                <a:solidFill>
                  <a:schemeClr val="tx1"/>
                </a:solidFill>
              </a:rPr>
              <a:t>adds major grid lines to the current axes.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grid off </a:t>
            </a:r>
            <a:r>
              <a:rPr lang="en-US" sz="1600" dirty="0">
                <a:solidFill>
                  <a:schemeClr val="tx1"/>
                </a:solidFill>
              </a:rPr>
              <a:t>removes major and minor grid lines from the current axes. 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6523"/>
            <a:ext cx="3685189" cy="290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7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Multiple Graphs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3971" name="Rectangle 1027"/>
          <p:cNvSpPr>
            <a:spLocks noGrp="1" noChangeArrowheads="1"/>
          </p:cNvSpPr>
          <p:nvPr>
            <p:ph sz="half" idx="1"/>
          </p:nvPr>
        </p:nvSpPr>
        <p:spPr>
          <a:xfrm>
            <a:off x="524933" y="2343149"/>
            <a:ext cx="8265656" cy="399838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hu-HU" sz="1600" dirty="0" err="1">
                <a:solidFill>
                  <a:schemeClr val="tx1"/>
                </a:solidFill>
              </a:rPr>
              <a:t>Second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hu-HU" sz="1600" dirty="0" err="1">
                <a:solidFill>
                  <a:schemeClr val="tx1"/>
                </a:solidFill>
              </a:rPr>
              <a:t>method</a:t>
            </a:r>
            <a:r>
              <a:rPr lang="hu-HU" sz="1600" dirty="0">
                <a:solidFill>
                  <a:schemeClr val="tx1"/>
                </a:solidFill>
              </a:rPr>
              <a:t> (</a:t>
            </a:r>
            <a:r>
              <a:rPr lang="hu-HU" sz="1600" dirty="0" err="1">
                <a:solidFill>
                  <a:schemeClr val="tx1"/>
                </a:solidFill>
              </a:rPr>
              <a:t>using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hu-HU" sz="1600" dirty="0" err="1">
                <a:solidFill>
                  <a:schemeClr val="tx1"/>
                </a:solidFill>
              </a:rPr>
              <a:t>the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hu-HU" sz="1600" dirty="0">
                <a:solidFill>
                  <a:schemeClr val="tx1"/>
                </a:solidFill>
                <a:latin typeface="Courier"/>
              </a:rPr>
              <a:t>hold </a:t>
            </a:r>
            <a:r>
              <a:rPr lang="hu-HU" sz="1600" dirty="0" err="1">
                <a:solidFill>
                  <a:schemeClr val="tx1"/>
                </a:solidFill>
                <a:latin typeface="Courier"/>
              </a:rPr>
              <a:t>on</a:t>
            </a:r>
            <a:r>
              <a:rPr lang="hu-HU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hu-HU" sz="1600" dirty="0" err="1">
                <a:solidFill>
                  <a:schemeClr val="tx1"/>
                </a:solidFill>
              </a:rPr>
              <a:t>command</a:t>
            </a:r>
            <a:r>
              <a:rPr lang="hu-HU" sz="1600" dirty="0">
                <a:solidFill>
                  <a:schemeClr val="tx1"/>
                </a:solidFill>
              </a:rPr>
              <a:t>):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t = 0:pi/100:2*pi;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y1=sin(t);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y2=sin(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t+pi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/2);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plot(t,y1)</a:t>
            </a: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hu-HU" sz="1600" dirty="0">
                <a:solidFill>
                  <a:schemeClr val="tx1"/>
                </a:solidFill>
                <a:latin typeface="Courier New" panose="02070309020205020404" pitchFamily="49" charset="0"/>
              </a:rPr>
              <a:t>hold </a:t>
            </a:r>
            <a:r>
              <a:rPr lang="hu-HU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on</a:t>
            </a: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plot(t,y2)</a:t>
            </a:r>
          </a:p>
          <a:p>
            <a:pPr eaLnBrk="1" hangingPunct="1"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grid on</a:t>
            </a: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hold </a:t>
            </a:r>
            <a:r>
              <a:rPr lang="hu-HU" sz="1600" dirty="0" err="1">
                <a:solidFill>
                  <a:schemeClr val="tx1"/>
                </a:solidFill>
                <a:latin typeface="Courier"/>
              </a:rPr>
              <a:t>on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holds the current plot and all axis properties, including the current color and </a:t>
            </a:r>
            <a:r>
              <a:rPr lang="en-US" sz="1600" dirty="0" err="1">
                <a:solidFill>
                  <a:schemeClr val="tx1"/>
                </a:solidFill>
              </a:rPr>
              <a:t>linestyle</a:t>
            </a:r>
            <a:r>
              <a:rPr lang="en-US" sz="1600" dirty="0">
                <a:solidFill>
                  <a:schemeClr val="tx1"/>
                </a:solidFill>
              </a:rPr>
              <a:t>, so that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subsequent graphing commands add to the existing graph without resetting the color and </a:t>
            </a:r>
            <a:r>
              <a:rPr lang="en-US" sz="1600" dirty="0" err="1">
                <a:solidFill>
                  <a:schemeClr val="tx1"/>
                </a:solidFill>
              </a:rPr>
              <a:t>linestyle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hu-HU" sz="16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hold </a:t>
            </a:r>
            <a:r>
              <a:rPr lang="hu-HU" sz="1600" dirty="0" err="1">
                <a:solidFill>
                  <a:schemeClr val="tx1"/>
                </a:solidFill>
                <a:latin typeface="Courier"/>
              </a:rPr>
              <a:t>off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returns to the default mode whereby PLOT commands erase the previous plots and reset all axis </a:t>
            </a:r>
            <a:r>
              <a:rPr lang="hu-HU" sz="1600" dirty="0">
                <a:solidFill>
                  <a:schemeClr val="tx1"/>
                </a:solidFill>
              </a:rPr>
              <a:t>p</a:t>
            </a:r>
            <a:r>
              <a:rPr lang="en-US" sz="1600" dirty="0" err="1">
                <a:solidFill>
                  <a:schemeClr val="tx1"/>
                </a:solidFill>
              </a:rPr>
              <a:t>roperties</a:t>
            </a:r>
            <a:r>
              <a:rPr lang="en-US" sz="1600" dirty="0">
                <a:solidFill>
                  <a:schemeClr val="tx1"/>
                </a:solidFill>
              </a:rPr>
              <a:t> before drawing new plots.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756702"/>
            <a:ext cx="3685189" cy="290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53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762000"/>
            <a:ext cx="7467600" cy="9906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Multiple Plots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4995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1428750" y="2343150"/>
            <a:ext cx="2857500" cy="3086100"/>
          </a:xfrm>
        </p:spPr>
        <p:txBody>
          <a:bodyPr/>
          <a:lstStyle/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t = 0:pi/100:2*pi;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y1=sin(t);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y2=sin(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</a:rPr>
              <a:t>t+pi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/2);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subplot(2,2,1)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plot(t,y1)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subplot(2,2,2)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</a:rPr>
              <a:t>plot(t,y2)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33" y="2343150"/>
            <a:ext cx="4027695" cy="30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07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1"/>
                </a:solidFill>
              </a:rPr>
              <a:t>Graph Functions (summary)</a:t>
            </a:r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2" name="Tábláza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17038"/>
              </p:ext>
            </p:extLst>
          </p:nvPr>
        </p:nvGraphicFramePr>
        <p:xfrm>
          <a:off x="1562100" y="2065127"/>
          <a:ext cx="6096000" cy="370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sz="1600" dirty="0" err="1"/>
                        <a:t>Function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 err="1"/>
                        <a:t>Description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plot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linear plot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stem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discrete plot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grid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add grid lines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xlabel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add X-axis label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ylabel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add Y-axis label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title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add graph title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subplot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divide figure window 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figure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>
                          <a:solidFill>
                            <a:srgbClr val="404040"/>
                          </a:solidFill>
                          <a:effectLst/>
                        </a:rPr>
                        <a:t>create new figure window</a:t>
                      </a:r>
                      <a:endParaRPr lang="hu-HU" sz="1600" b="0" i="0" u="none" strike="noStrike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chemeClr val="accent1"/>
                        </a:buClr>
                        <a:buSzPts val="1100"/>
                        <a:buFont typeface="Calibri" panose="020F0502020204030204" pitchFamily="34" charset="0"/>
                        <a:buNone/>
                      </a:pPr>
                      <a:r>
                        <a:rPr lang="hu-HU" sz="1600" b="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pause</a:t>
                      </a:r>
                      <a:endParaRPr lang="hu-HU" sz="1600" b="0" i="0" u="none" strike="noStrike" dirty="0">
                        <a:solidFill>
                          <a:srgbClr val="99CB38"/>
                        </a:solidFill>
                        <a:effectLst/>
                        <a:latin typeface="Courier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wait</a:t>
                      </a:r>
                      <a:r>
                        <a:rPr lang="hu-HU" sz="1600" b="0" u="none" strike="noStrike" dirty="0">
                          <a:solidFill>
                            <a:srgbClr val="404040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for</a:t>
                      </a:r>
                      <a:r>
                        <a:rPr lang="hu-HU" sz="1600" b="0" u="none" strike="noStrike" dirty="0">
                          <a:solidFill>
                            <a:srgbClr val="404040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user</a:t>
                      </a:r>
                      <a:r>
                        <a:rPr lang="hu-HU" sz="1600" b="0" u="none" strike="noStrike" dirty="0">
                          <a:solidFill>
                            <a:srgbClr val="404040"/>
                          </a:solidFill>
                          <a:effectLst/>
                        </a:rPr>
                        <a:t> </a:t>
                      </a:r>
                      <a:r>
                        <a:rPr lang="hu-HU" sz="1600" b="0" u="none" strike="noStrike" dirty="0" err="1">
                          <a:solidFill>
                            <a:srgbClr val="404040"/>
                          </a:solidFill>
                          <a:effectLst/>
                        </a:rPr>
                        <a:t>response</a:t>
                      </a:r>
                      <a:endParaRPr lang="hu-HU" sz="1600" b="0" i="0" u="none" strike="noStrike" dirty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034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You can perform operations in MATLAB in two ways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In the interactive mode, in which all commands are entered directly in the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Command window</a:t>
            </a:r>
            <a:r>
              <a:rPr lang="hu-HU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marL="385763" indent="-385763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By running a MATLAB program stored in </a:t>
            </a:r>
            <a:r>
              <a:rPr lang="en-US" sz="1600" i="1" dirty="0">
                <a:solidFill>
                  <a:schemeClr val="tx1"/>
                </a:solidFill>
              </a:rPr>
              <a:t>script</a:t>
            </a:r>
            <a:r>
              <a:rPr lang="en-US" sz="1600" dirty="0">
                <a:solidFill>
                  <a:schemeClr val="tx1"/>
                </a:solidFill>
              </a:rPr>
              <a:t> file. This type of file contains MATLAB commands, so running it is equivalent to typing all the commands—one at a time—at the Command window prompt. You can run the file by typing its name at the Command window prompt.</a:t>
            </a:r>
          </a:p>
          <a:p>
            <a:endParaRPr lang="hu-H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3248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Scripts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600" dirty="0">
                <a:solidFill>
                  <a:schemeClr val="tx1"/>
                </a:solidFill>
              </a:rPr>
              <a:t>The simplest type of MATLAB</a:t>
            </a:r>
            <a:r>
              <a:rPr lang="en-GB" sz="1600" baseline="30000" dirty="0">
                <a:solidFill>
                  <a:schemeClr val="tx1"/>
                </a:solidFill>
              </a:rPr>
              <a:t>®</a:t>
            </a:r>
            <a:r>
              <a:rPr lang="en-GB" sz="1600" dirty="0">
                <a:solidFill>
                  <a:schemeClr val="tx1"/>
                </a:solidFill>
              </a:rPr>
              <a:t> program is called a </a:t>
            </a:r>
            <a:r>
              <a:rPr lang="en-GB" sz="1600" i="1" dirty="0">
                <a:solidFill>
                  <a:schemeClr val="tx1"/>
                </a:solidFill>
              </a:rPr>
              <a:t>script</a:t>
            </a:r>
            <a:r>
              <a:rPr lang="en-GB" sz="1600" dirty="0">
                <a:solidFill>
                  <a:schemeClr val="tx1"/>
                </a:solidFill>
              </a:rPr>
              <a:t>. A script is a file that contains multiple sequential lines of MATLAB commands and function calls. You can run a script by typing its name at the command line.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First click on the ”New Script” icon: </a:t>
            </a:r>
          </a:p>
          <a:p>
            <a:pPr marL="0" indent="0"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Then the editor window appears, where you can edit your script: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75" y="2881166"/>
            <a:ext cx="419048" cy="70476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535" y="4345686"/>
            <a:ext cx="4608929" cy="24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68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</a:rPr>
              <a:t>My first scripts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52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In the ”Editor” window you can write your script and save it on the local computer. (When saving the script do</a:t>
            </a:r>
            <a:r>
              <a:rPr lang="hu-HU" sz="1600" dirty="0">
                <a:solidFill>
                  <a:schemeClr val="tx1"/>
                </a:solidFill>
              </a:rPr>
              <a:t> </a:t>
            </a:r>
            <a:r>
              <a:rPr lang="en-GB" sz="1600" dirty="0">
                <a:solidFill>
                  <a:schemeClr val="tx1"/>
                </a:solidFill>
              </a:rPr>
              <a:t>n</a:t>
            </a:r>
            <a:r>
              <a:rPr lang="hu-HU" sz="1600" dirty="0">
                <a:solidFill>
                  <a:schemeClr val="tx1"/>
                </a:solidFill>
              </a:rPr>
              <a:t>o</a:t>
            </a:r>
            <a:r>
              <a:rPr lang="en-GB" sz="1600" dirty="0">
                <a:solidFill>
                  <a:schemeClr val="tx1"/>
                </a:solidFill>
              </a:rPr>
              <a:t>t forget about the naming regulations!)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Example for a simple script:</a:t>
            </a:r>
          </a:p>
          <a:p>
            <a:r>
              <a:rPr lang="en-GB" sz="1600" dirty="0">
                <a:solidFill>
                  <a:schemeClr val="tx1"/>
                </a:solidFill>
              </a:rPr>
              <a:t>x=-5:0.01:5;</a:t>
            </a:r>
          </a:p>
          <a:p>
            <a:r>
              <a:rPr lang="en-GB" sz="1600" dirty="0">
                <a:solidFill>
                  <a:schemeClr val="tx1"/>
                </a:solidFill>
              </a:rPr>
              <a:t>y=x.^2;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plot(</a:t>
            </a:r>
            <a:r>
              <a:rPr lang="en-GB" sz="1600" dirty="0" err="1">
                <a:solidFill>
                  <a:schemeClr val="tx1"/>
                </a:solidFill>
              </a:rPr>
              <a:t>x,y</a:t>
            </a:r>
            <a:r>
              <a:rPr lang="en-GB" sz="1600" dirty="0">
                <a:solidFill>
                  <a:schemeClr val="tx1"/>
                </a:solidFill>
              </a:rPr>
              <a:t>)</a:t>
            </a:r>
          </a:p>
          <a:p>
            <a:r>
              <a:rPr lang="en-GB" sz="1600" dirty="0" err="1">
                <a:solidFill>
                  <a:schemeClr val="tx1"/>
                </a:solidFill>
              </a:rPr>
              <a:t>xlabel</a:t>
            </a:r>
            <a:r>
              <a:rPr lang="en-GB" sz="1600" dirty="0">
                <a:solidFill>
                  <a:schemeClr val="tx1"/>
                </a:solidFill>
              </a:rPr>
              <a:t>('Horizontal axis')</a:t>
            </a:r>
          </a:p>
          <a:p>
            <a:r>
              <a:rPr lang="en-GB" sz="1600" dirty="0" err="1">
                <a:solidFill>
                  <a:schemeClr val="tx1"/>
                </a:solidFill>
              </a:rPr>
              <a:t>ylabel</a:t>
            </a:r>
            <a:r>
              <a:rPr lang="en-GB" sz="1600" dirty="0">
                <a:solidFill>
                  <a:schemeClr val="tx1"/>
                </a:solidFill>
              </a:rPr>
              <a:t>('Vertical axis')</a:t>
            </a:r>
          </a:p>
          <a:p>
            <a:r>
              <a:rPr lang="en-GB" sz="1600" dirty="0">
                <a:solidFill>
                  <a:schemeClr val="tx1"/>
                </a:solidFill>
              </a:rPr>
              <a:t>title('The result of my first script is a Parabola')</a:t>
            </a:r>
          </a:p>
          <a:p>
            <a:r>
              <a:rPr lang="en-GB" sz="1600" dirty="0">
                <a:solidFill>
                  <a:schemeClr val="tx1"/>
                </a:solidFill>
              </a:rPr>
              <a:t>After typing in the code you can run it, by clicking the ”Run” icon on the ”Editor” tab:</a:t>
            </a:r>
          </a:p>
          <a:p>
            <a:r>
              <a:rPr lang="en-GB" sz="1600" dirty="0">
                <a:solidFill>
                  <a:schemeClr val="tx1"/>
                </a:solidFill>
              </a:rPr>
              <a:t>If the script wasn’t saved previously, </a:t>
            </a:r>
            <a:r>
              <a:rPr lang="en-GB" sz="1600" dirty="0" err="1">
                <a:solidFill>
                  <a:schemeClr val="tx1"/>
                </a:solidFill>
              </a:rPr>
              <a:t>Matlab</a:t>
            </a:r>
            <a:r>
              <a:rPr lang="en-GB" sz="1600" dirty="0">
                <a:solidFill>
                  <a:schemeClr val="tx1"/>
                </a:solidFill>
              </a:rPr>
              <a:t> asks you to save the script in an </a:t>
            </a:r>
            <a:r>
              <a:rPr lang="en-GB" sz="1600" i="1" dirty="0">
                <a:solidFill>
                  <a:schemeClr val="tx1"/>
                </a:solidFill>
              </a:rPr>
              <a:t>m</a:t>
            </a:r>
            <a:r>
              <a:rPr lang="en-GB" sz="1600" dirty="0">
                <a:solidFill>
                  <a:schemeClr val="tx1"/>
                </a:solidFill>
              </a:rPr>
              <a:t> file.</a:t>
            </a:r>
          </a:p>
          <a:p>
            <a:r>
              <a:rPr lang="en-GB" sz="1600" dirty="0">
                <a:solidFill>
                  <a:schemeClr val="tx1"/>
                </a:solidFill>
              </a:rPr>
              <a:t>Let’s name the script </a:t>
            </a:r>
            <a:r>
              <a:rPr lang="en-GB" sz="1600" i="1" dirty="0">
                <a:solidFill>
                  <a:schemeClr val="tx1"/>
                </a:solidFill>
              </a:rPr>
              <a:t>parabola.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88" y="4694798"/>
            <a:ext cx="457143" cy="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85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</a:rPr>
              <a:t>My first scripts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521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If you save it in a folder which is in the ”Path list”, then you can run the script by typing </a:t>
            </a:r>
            <a:r>
              <a:rPr lang="en-GB" sz="1600" i="1" dirty="0">
                <a:solidFill>
                  <a:schemeClr val="tx1"/>
                </a:solidFill>
              </a:rPr>
              <a:t>parabola</a:t>
            </a:r>
            <a:r>
              <a:rPr lang="en-GB" sz="1600" dirty="0">
                <a:solidFill>
                  <a:schemeClr val="tx1"/>
                </a:solidFill>
              </a:rPr>
              <a:t> in the ”Command Window”.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</a:rPr>
              <a:t>If the folder is not in the ”Path list”, you can add your folder, by clicking the ”Set Path” icon on the ”Home” tab.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238" y="2501914"/>
            <a:ext cx="704762" cy="22857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723" y="3098800"/>
            <a:ext cx="4534553" cy="31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583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Keep in mind when using script files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name of a script file must begin with a letter, and may include digits and the underscore character, up to 63 characters.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Do not give a script file the same name as a variable.</a:t>
            </a:r>
          </a:p>
          <a:p>
            <a:pPr marL="385763" indent="-385763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Do not give a script file the same name as a MATLAB command or function. You can check to see if a command, function or file name already exists by using the 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command.</a:t>
            </a:r>
          </a:p>
          <a:p>
            <a:endParaRPr lang="hu-H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680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COMMENTS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comment symbol may be put anywhere in the line. MATLAB ignores everything to the right of the % symbol. For example,</a:t>
            </a:r>
          </a:p>
          <a:p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% This is a comment.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x = 2+3 % So is this.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x =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   5</a:t>
            </a:r>
          </a:p>
          <a:p>
            <a:endParaRPr lang="en-US" sz="1600" dirty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Note that the portion of the line before the % sign is executed to compute x.</a:t>
            </a:r>
          </a:p>
          <a:p>
            <a:endParaRPr lang="hu-H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0066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1771650" y="2057400"/>
            <a:ext cx="5943600" cy="245745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600" dirty="0">
                <a:solidFill>
                  <a:schemeClr val="tx1"/>
                </a:solidFill>
                <a:latin typeface="Courier"/>
              </a:rPr>
              <a:t>if               </a:t>
            </a:r>
          </a:p>
          <a:p>
            <a:pPr eaLnBrk="1" hangingPunct="1"/>
            <a:r>
              <a:rPr lang="en-US" sz="1600" dirty="0">
                <a:solidFill>
                  <a:schemeClr val="tx1"/>
                </a:solidFill>
                <a:latin typeface="Courier"/>
              </a:rPr>
              <a:t>for            </a:t>
            </a:r>
          </a:p>
          <a:p>
            <a:pPr eaLnBrk="1" hangingPunct="1"/>
            <a:r>
              <a:rPr lang="en-US" sz="1600" dirty="0">
                <a:solidFill>
                  <a:schemeClr val="tx1"/>
                </a:solidFill>
                <a:latin typeface="Courier"/>
              </a:rPr>
              <a:t>while         </a:t>
            </a:r>
          </a:p>
          <a:p>
            <a:pPr eaLnBrk="1" hangingPunct="1"/>
            <a:r>
              <a:rPr lang="en-US" sz="1600" dirty="0">
                <a:solidFill>
                  <a:schemeClr val="tx1"/>
                </a:solidFill>
                <a:latin typeface="Courier"/>
              </a:rPr>
              <a:t>break    </a:t>
            </a:r>
          </a:p>
          <a:p>
            <a:pPr eaLnBrk="1" hangingPunct="1"/>
            <a:r>
              <a:rPr lang="en-US" sz="1600" dirty="0">
                <a:solidFill>
                  <a:schemeClr val="tx1"/>
                </a:solidFill>
                <a:latin typeface="Courier"/>
              </a:rPr>
              <a:t>…    </a:t>
            </a:r>
          </a:p>
        </p:txBody>
      </p:sp>
    </p:spTree>
    <p:extLst>
      <p:ext uri="{BB962C8B-B14F-4D97-AF65-F5344CB8AC3E}">
        <p14:creationId xmlns:p14="http://schemas.microsoft.com/office/powerpoint/2010/main" val="1952387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78417" y="742950"/>
            <a:ext cx="6172200" cy="10287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Structures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141817" y="1936749"/>
            <a:ext cx="6172200" cy="4497917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1600" dirty="0">
                <a:solidFill>
                  <a:schemeClr val="tx1"/>
                </a:solidFill>
              </a:rPr>
              <a:t>If Statement Syntax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if (Condition_1)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		MATLAB Commands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 err="1">
                <a:solidFill>
                  <a:schemeClr val="tx1"/>
                </a:solidFill>
                <a:latin typeface="Courier"/>
              </a:rPr>
              <a:t>elseif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 (Condition_2)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		MATLAB Commands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 err="1">
                <a:solidFill>
                  <a:schemeClr val="tx1"/>
                </a:solidFill>
                <a:latin typeface="Courier"/>
              </a:rPr>
              <a:t>elseif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 (Condition_3)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		MATLAB Commands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else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		MATLAB Commands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end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ábláza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00151"/>
              </p:ext>
            </p:extLst>
          </p:nvPr>
        </p:nvGraphicFramePr>
        <p:xfrm>
          <a:off x="3949382" y="1957070"/>
          <a:ext cx="5194618" cy="3815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94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Some Examples</a:t>
                      </a:r>
                      <a:endParaRPr lang="en-US" sz="1600" dirty="0"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if ((a&gt;3) &amp; (b==5))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     </a:t>
                      </a:r>
                      <a:r>
                        <a:rPr lang="en-GB" sz="1600" dirty="0" err="1"/>
                        <a:t>disp</a:t>
                      </a:r>
                      <a:r>
                        <a:rPr lang="en-GB" sz="1600" dirty="0"/>
                        <a:t>('Some MATLAB Commands');  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end</a:t>
                      </a:r>
                      <a:endParaRPr lang="en-GB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if (a&lt;3)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en-GB" sz="1600" dirty="0" err="1"/>
                        <a:t>disp</a:t>
                      </a:r>
                      <a:r>
                        <a:rPr lang="en-GB" sz="1600" dirty="0"/>
                        <a:t>('Some MATLAB Commands')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 err="1"/>
                        <a:t>elseif</a:t>
                      </a:r>
                      <a:r>
                        <a:rPr lang="en-US" sz="1600" dirty="0"/>
                        <a:t> (b</a:t>
                      </a:r>
                      <a:r>
                        <a:rPr lang="hu-HU" sz="1600" dirty="0"/>
                        <a:t>=</a:t>
                      </a:r>
                      <a:r>
                        <a:rPr lang="en-US" sz="1600" dirty="0"/>
                        <a:t>=5) 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en-GB" sz="1600" dirty="0" err="1"/>
                        <a:t>disp</a:t>
                      </a:r>
                      <a:r>
                        <a:rPr lang="en-GB" sz="1600" dirty="0"/>
                        <a:t>('Some </a:t>
                      </a:r>
                      <a:r>
                        <a:rPr lang="hu-HU" sz="1600" dirty="0" err="1"/>
                        <a:t>other</a:t>
                      </a:r>
                      <a:r>
                        <a:rPr lang="hu-HU" sz="1600" dirty="0"/>
                        <a:t> </a:t>
                      </a:r>
                      <a:r>
                        <a:rPr lang="en-GB" sz="1600" dirty="0"/>
                        <a:t>MATLAB Commands')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end</a:t>
                      </a:r>
                      <a:endParaRPr lang="en-US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if (a&lt;3)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en-GB" sz="1600" dirty="0" err="1"/>
                        <a:t>disp</a:t>
                      </a:r>
                      <a:r>
                        <a:rPr lang="en-GB" sz="1600" dirty="0"/>
                        <a:t>('Some MATLAB Commands')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else     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en-GB" sz="1600" dirty="0" err="1"/>
                        <a:t>disp</a:t>
                      </a:r>
                      <a:r>
                        <a:rPr lang="en-GB" sz="1600" dirty="0"/>
                        <a:t>('Some </a:t>
                      </a:r>
                      <a:r>
                        <a:rPr lang="hu-HU" sz="1600" dirty="0" err="1"/>
                        <a:t>other</a:t>
                      </a:r>
                      <a:r>
                        <a:rPr lang="hu-HU" sz="1600" dirty="0"/>
                        <a:t> </a:t>
                      </a:r>
                      <a:r>
                        <a:rPr lang="en-GB" sz="1600" dirty="0"/>
                        <a:t>MATLAB Commands')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end</a:t>
                      </a:r>
                      <a:endParaRPr lang="en-US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295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59" y="110068"/>
            <a:ext cx="6835141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1600" dirty="0">
                <a:solidFill>
                  <a:schemeClr val="tx1"/>
                </a:solidFill>
              </a:rPr>
              <a:t>For loop syntax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for </a:t>
            </a:r>
            <a:r>
              <a:rPr lang="en-US" sz="1600" dirty="0" err="1">
                <a:solidFill>
                  <a:schemeClr val="tx1"/>
                </a:solidFill>
                <a:latin typeface="Courier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=</a:t>
            </a:r>
            <a:r>
              <a:rPr lang="en-US" sz="1600" dirty="0" err="1">
                <a:solidFill>
                  <a:schemeClr val="tx1"/>
                </a:solidFill>
                <a:latin typeface="Courier"/>
              </a:rPr>
              <a:t>Index_Array</a:t>
            </a:r>
            <a:endParaRPr lang="en-US" sz="1600" dirty="0">
              <a:solidFill>
                <a:schemeClr val="tx1"/>
              </a:solidFill>
              <a:latin typeface="Courier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	MATLAB Commands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  <a:latin typeface="Courier"/>
              </a:rPr>
              <a:t>end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</a:rPr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ábláza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17585"/>
              </p:ext>
            </p:extLst>
          </p:nvPr>
        </p:nvGraphicFramePr>
        <p:xfrm>
          <a:off x="5293995" y="1244600"/>
          <a:ext cx="3850005" cy="5613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50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Some Examples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s=0;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for </a:t>
                      </a:r>
                      <a:r>
                        <a:rPr lang="en-US" sz="1600" dirty="0" err="1"/>
                        <a:t>i</a:t>
                      </a:r>
                      <a:r>
                        <a:rPr lang="en-US" sz="1600" dirty="0"/>
                        <a:t>=1:100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hu-HU" sz="1600" dirty="0"/>
                        <a:t>s=</a:t>
                      </a:r>
                      <a:r>
                        <a:rPr lang="hu-HU" sz="1600" dirty="0" err="1"/>
                        <a:t>s</a:t>
                      </a:r>
                      <a:r>
                        <a:rPr lang="hu-HU" sz="1600" dirty="0"/>
                        <a:t>+i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e</a:t>
                      </a:r>
                      <a:r>
                        <a:rPr lang="en-US" sz="1600" dirty="0" err="1"/>
                        <a:t>nd</a:t>
                      </a:r>
                      <a:endParaRPr lang="hu-HU" sz="1600" dirty="0"/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s</a:t>
                      </a:r>
                      <a:endParaRPr lang="en-US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/>
                        <a:t>s=0;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for j=1:3:200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hu-HU" sz="1600" dirty="0"/>
                        <a:t>s=</a:t>
                      </a:r>
                      <a:r>
                        <a:rPr lang="hu-HU" sz="1600" dirty="0" err="1"/>
                        <a:t>s</a:t>
                      </a:r>
                      <a:r>
                        <a:rPr lang="hu-HU" sz="1600" dirty="0"/>
                        <a:t>+i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e</a:t>
                      </a:r>
                      <a:r>
                        <a:rPr lang="en-US" sz="1600" dirty="0" err="1"/>
                        <a:t>nd</a:t>
                      </a:r>
                      <a:endParaRPr lang="hu-HU" sz="1600" dirty="0"/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s</a:t>
                      </a:r>
                      <a:endParaRPr lang="en-US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/>
                        <a:t>s=0;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for m=13:-0.2:-21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     </a:t>
                      </a:r>
                      <a:r>
                        <a:rPr lang="hu-HU" sz="1600" dirty="0"/>
                        <a:t>s=</a:t>
                      </a:r>
                      <a:r>
                        <a:rPr lang="hu-HU" sz="1600" dirty="0" err="1"/>
                        <a:t>s</a:t>
                      </a:r>
                      <a:r>
                        <a:rPr lang="hu-HU" sz="1600" dirty="0"/>
                        <a:t>+m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e</a:t>
                      </a:r>
                      <a:r>
                        <a:rPr lang="en-US" sz="1600" dirty="0" err="1"/>
                        <a:t>nd</a:t>
                      </a:r>
                      <a:endParaRPr lang="hu-HU" sz="1600" dirty="0"/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s</a:t>
                      </a:r>
                      <a:endParaRPr lang="en-US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/>
                        <a:t>s=0;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for k=[0.1 0.3 -13 12 7 -9.3]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     s=</a:t>
                      </a:r>
                      <a:r>
                        <a:rPr lang="hu-HU" sz="1600" dirty="0" err="1"/>
                        <a:t>s</a:t>
                      </a:r>
                      <a:r>
                        <a:rPr lang="hu-HU" sz="1600" dirty="0"/>
                        <a:t>+k</a:t>
                      </a:r>
                      <a:r>
                        <a:rPr lang="en-US" sz="1600" dirty="0"/>
                        <a:t>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e</a:t>
                      </a:r>
                      <a:r>
                        <a:rPr lang="en-US" sz="1600" dirty="0" err="1"/>
                        <a:t>nd</a:t>
                      </a:r>
                      <a:endParaRPr lang="hu-HU" sz="1600" dirty="0"/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hu-HU" sz="1600" dirty="0"/>
                        <a:t>s</a:t>
                      </a:r>
                      <a:endParaRPr lang="en-GB" sz="160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7413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751417"/>
            <a:ext cx="6172200" cy="1028700"/>
          </a:xfrm>
        </p:spPr>
        <p:txBody>
          <a:bodyPr/>
          <a:lstStyle/>
          <a:p>
            <a:pPr eaLnBrk="1" hangingPunct="1"/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1600" dirty="0">
                <a:solidFill>
                  <a:schemeClr val="tx1"/>
                </a:solidFill>
              </a:rPr>
              <a:t>While Loop Syntax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</a:rPr>
              <a:t>while (condition)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</a:rPr>
              <a:t>	MATLAB Commands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/>
                </a:solidFill>
              </a:rPr>
              <a:t>end</a:t>
            </a:r>
          </a:p>
        </p:txBody>
      </p:sp>
      <p:graphicFrame>
        <p:nvGraphicFramePr>
          <p:cNvPr id="2" name="Tábláza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800694"/>
              </p:ext>
            </p:extLst>
          </p:nvPr>
        </p:nvGraphicFramePr>
        <p:xfrm>
          <a:off x="1524001" y="3894667"/>
          <a:ext cx="7620000" cy="2169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noProof="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a=10;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b=5;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while  ((a&gt;3) &amp; (b==5))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     </a:t>
                      </a:r>
                      <a:r>
                        <a:rPr lang="en-GB" sz="1600" noProof="0" dirty="0" err="1"/>
                        <a:t>disp</a:t>
                      </a:r>
                      <a:r>
                        <a:rPr lang="en-GB" sz="1600" noProof="0" dirty="0"/>
                        <a:t>('a is greater then 3 and b is equal to 5.');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     a=a-1;	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GB" sz="1600" noProof="0" dirty="0"/>
                        <a:t>end</a:t>
                      </a:r>
                    </a:p>
                    <a:p>
                      <a:endParaRPr lang="en-GB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186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6124FE-DE30-28DA-3F2B-45E0018E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Exercise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8C6E9F-3DAF-DC60-52F1-A77A61F16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E-</a:t>
            </a:r>
            <a:r>
              <a:rPr lang="hu-HU" dirty="0" err="1"/>
              <a:t>learning</a:t>
            </a:r>
            <a:r>
              <a:rPr lang="hu-HU" dirty="0"/>
              <a:t> </a:t>
            </a:r>
            <a:r>
              <a:rPr lang="hu-HU" dirty="0" err="1"/>
              <a:t>exercise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59945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D57D7-8956-49F9-9353-B533C5FB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Literature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CDDDFC-80E1-4B5F-962D-B2A8BC2C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7" y="1845734"/>
            <a:ext cx="741470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Ágnes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Mathematics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for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engineers</a:t>
            </a:r>
            <a:r>
              <a:rPr lang="hu-HU" dirty="0">
                <a:effectLst/>
              </a:rPr>
              <a:t> 1. (</a:t>
            </a:r>
            <a:r>
              <a:rPr lang="hu-HU" dirty="0" err="1">
                <a:effectLst/>
              </a:rPr>
              <a:t>Laboratory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slides</a:t>
            </a:r>
            <a:r>
              <a:rPr lang="hu-HU" dirty="0">
                <a:effectLst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Sándor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Probability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theory</a:t>
            </a:r>
            <a:r>
              <a:rPr lang="hu-HU" dirty="0">
                <a:effectLst/>
              </a:rPr>
              <a:t> and </a:t>
            </a:r>
            <a:r>
              <a:rPr lang="hu-HU" dirty="0" err="1">
                <a:effectLst/>
              </a:rPr>
              <a:t>statistics</a:t>
            </a:r>
            <a:endParaRPr lang="hu-HU" dirty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Valószínűségszámítás,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Bevezetés a matematikai statisztikába,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examples</a:t>
            </a:r>
            <a:r>
              <a:rPr lang="hu-HU" dirty="0"/>
              <a:t>: </a:t>
            </a:r>
            <a:r>
              <a:rPr lang="hu-HU" dirty="0">
                <a:hlinkClick r:id="rId2"/>
              </a:rPr>
              <a:t>https://www.mathworks.com/help/examples.html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1959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tek diaminta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–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ek diaminta" id="{DA9CF40E-B0DB-4F98-AEF5-49E81D43F223}" vid="{E0151A15-54A4-4053-8D41-A38E348A1F8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matek diaminta</Template>
  <TotalTime>929</TotalTime>
  <Words>3946</Words>
  <Application>Microsoft Office PowerPoint</Application>
  <PresentationFormat>Diavetítés a képernyőre (4:3 oldalarány)</PresentationFormat>
  <Paragraphs>667</Paragraphs>
  <Slides>50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50</vt:i4>
      </vt:variant>
    </vt:vector>
  </HeadingPairs>
  <TitlesOfParts>
    <vt:vector size="63" baseType="lpstr">
      <vt:lpstr>Arial</vt:lpstr>
      <vt:lpstr>Calibri</vt:lpstr>
      <vt:lpstr>Cambria</vt:lpstr>
      <vt:lpstr>Cambria Math</vt:lpstr>
      <vt:lpstr>Courier</vt:lpstr>
      <vt:lpstr>Courier New</vt:lpstr>
      <vt:lpstr>MathematicalPi 1</vt:lpstr>
      <vt:lpstr>Tahoma</vt:lpstr>
      <vt:lpstr>Times</vt:lpstr>
      <vt:lpstr>Times New Roman</vt:lpstr>
      <vt:lpstr>Times-Roman</vt:lpstr>
      <vt:lpstr>Wingdings</vt:lpstr>
      <vt:lpstr>matek diaminta</vt:lpstr>
      <vt:lpstr>Applied Statistics, Probability theory and mathematical statistics</vt:lpstr>
      <vt:lpstr>Variables in Matlab</vt:lpstr>
      <vt:lpstr>Scalar arithmetic operations</vt:lpstr>
      <vt:lpstr>An Example Session</vt:lpstr>
      <vt:lpstr>Order of precedence</vt:lpstr>
      <vt:lpstr>Examples of Precedence</vt:lpstr>
      <vt:lpstr>Commands for managing the work session</vt:lpstr>
      <vt:lpstr>Numeric display formats</vt:lpstr>
      <vt:lpstr>Arrays</vt:lpstr>
      <vt:lpstr>Array Index</vt:lpstr>
      <vt:lpstr>Some commonly used mathematical functions</vt:lpstr>
      <vt:lpstr>Some Built-in functions</vt:lpstr>
      <vt:lpstr>Operators (relational, logical)</vt:lpstr>
      <vt:lpstr>Vectors (One dimensional arrays)</vt:lpstr>
      <vt:lpstr>You can create row vectors by ''appending'' one vector to another.</vt:lpstr>
      <vt:lpstr>You can create column vectors by ''appending'' one vector to another.</vt:lpstr>
      <vt:lpstr>The colon operator (:)</vt:lpstr>
      <vt:lpstr>Creating vectors with the linspace command </vt:lpstr>
      <vt:lpstr>Matrices (Two dimensional arrays)</vt:lpstr>
      <vt:lpstr>Creating Matrices from Vectors</vt:lpstr>
      <vt:lpstr>Array Addressing</vt:lpstr>
      <vt:lpstr>Arrays</vt:lpstr>
      <vt:lpstr>Array Addition and Subtraction</vt:lpstr>
      <vt:lpstr>Multiplication</vt:lpstr>
      <vt:lpstr>Multiplication of two arrays</vt:lpstr>
      <vt:lpstr>Multiplication of two arrays</vt:lpstr>
      <vt:lpstr>Element-by-element operations</vt:lpstr>
      <vt:lpstr>Matrix-Matrix Multiplication</vt:lpstr>
      <vt:lpstr>A graphics window showing a plot</vt:lpstr>
      <vt:lpstr>plot command in MATLAB</vt:lpstr>
      <vt:lpstr>plot command in MATLAB</vt:lpstr>
      <vt:lpstr>plot line style, marker and colour</vt:lpstr>
      <vt:lpstr>Plotting Polynomials</vt:lpstr>
      <vt:lpstr>Plotting and labelling</vt:lpstr>
      <vt:lpstr>Multiple Graphs</vt:lpstr>
      <vt:lpstr>Multiple Graphs</vt:lpstr>
      <vt:lpstr>Multiple Plots</vt:lpstr>
      <vt:lpstr>Graph Functions (summary)</vt:lpstr>
      <vt:lpstr>You can perform operations in MATLAB in two ways</vt:lpstr>
      <vt:lpstr>Scripts</vt:lpstr>
      <vt:lpstr>My first scripts</vt:lpstr>
      <vt:lpstr>My first scripts</vt:lpstr>
      <vt:lpstr>Keep in mind when using script files</vt:lpstr>
      <vt:lpstr>COMMENTS</vt:lpstr>
      <vt:lpstr>Flow Control</vt:lpstr>
      <vt:lpstr>Control Structures </vt:lpstr>
      <vt:lpstr>for loop</vt:lpstr>
      <vt:lpstr>while loop</vt:lpstr>
      <vt:lpstr>Exercise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Statistics, Probability theory and mathematical statistics</dc:title>
  <dc:creator>Sándor Pecsora</dc:creator>
  <cp:lastModifiedBy>Dr. Pecsora Sándor</cp:lastModifiedBy>
  <cp:revision>53</cp:revision>
  <dcterms:created xsi:type="dcterms:W3CDTF">2020-09-02T07:49:18Z</dcterms:created>
  <dcterms:modified xsi:type="dcterms:W3CDTF">2024-09-06T13:28:54Z</dcterms:modified>
</cp:coreProperties>
</file>