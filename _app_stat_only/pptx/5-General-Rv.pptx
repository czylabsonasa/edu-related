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3" r:id="rId1"/>
  </p:sldMasterIdLst>
  <p:notesMasterIdLst>
    <p:notesMasterId r:id="rId14"/>
  </p:notesMasterIdLst>
  <p:sldIdLst>
    <p:sldId id="341" r:id="rId2"/>
    <p:sldId id="321" r:id="rId3"/>
    <p:sldId id="336" r:id="rId4"/>
    <p:sldId id="334" r:id="rId5"/>
    <p:sldId id="331" r:id="rId6"/>
    <p:sldId id="337" r:id="rId7"/>
    <p:sldId id="342" r:id="rId8"/>
    <p:sldId id="343" r:id="rId9"/>
    <p:sldId id="344" r:id="rId10"/>
    <p:sldId id="345" r:id="rId11"/>
    <p:sldId id="346" r:id="rId12"/>
    <p:sldId id="340"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755863-B4AD-43F7-8818-BF76390DF946}" v="21" dt="2024-10-06T15:28:23.823"/>
  </p1510:revLst>
</p1510:revInfo>
</file>

<file path=ppt/tableStyles.xml><?xml version="1.0" encoding="utf-8"?>
<a:tblStyleLst xmlns:a="http://schemas.openxmlformats.org/drawingml/2006/main" def="{5C22544A-7EE6-4342-B048-85BDC9FD1C3A}">
  <a:tblStyle styleId="{5C22544A-7EE6-4342-B048-85BDC9FD1C3A}" styleName="Közepesen sötét stílus 2 – 1. jelölőszín">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Közepesen sötét stílus 2 – 3. jelölőszín">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63" d="100"/>
          <a:sy n="63" d="100"/>
        </p:scale>
        <p:origin x="1364" y="56"/>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ándor Pecsora" userId="810b1d013327c237" providerId="LiveId" clId="{F1725CCB-442B-49F6-B319-A66EF78AC50B}"/>
    <pc:docChg chg="modSld">
      <pc:chgData name="Sándor Pecsora" userId="810b1d013327c237" providerId="LiveId" clId="{F1725CCB-442B-49F6-B319-A66EF78AC50B}" dt="2020-09-21T09:42:46.828" v="12" actId="20577"/>
      <pc:docMkLst>
        <pc:docMk/>
      </pc:docMkLst>
      <pc:sldChg chg="modSp">
        <pc:chgData name="Sándor Pecsora" userId="810b1d013327c237" providerId="LiveId" clId="{F1725CCB-442B-49F6-B319-A66EF78AC50B}" dt="2020-09-21T09:42:46.828" v="12" actId="20577"/>
        <pc:sldMkLst>
          <pc:docMk/>
          <pc:sldMk cId="3501878932" sldId="321"/>
        </pc:sldMkLst>
        <pc:spChg chg="mod">
          <ac:chgData name="Sándor Pecsora" userId="810b1d013327c237" providerId="LiveId" clId="{F1725CCB-442B-49F6-B319-A66EF78AC50B}" dt="2020-09-21T09:42:46.828" v="12" actId="20577"/>
          <ac:spMkLst>
            <pc:docMk/>
            <pc:sldMk cId="3501878932" sldId="321"/>
            <ac:spMk id="3" creationId="{00000000-0000-0000-0000-000000000000}"/>
          </ac:spMkLst>
        </pc:spChg>
      </pc:sldChg>
    </pc:docChg>
  </pc:docChgLst>
  <pc:docChgLst>
    <pc:chgData name="Sándor Pecsora" userId="810b1d013327c237" providerId="LiveId" clId="{26755863-B4AD-43F7-8818-BF76390DF946}"/>
    <pc:docChg chg="custSel addSld delSld modSld">
      <pc:chgData name="Sándor Pecsora" userId="810b1d013327c237" providerId="LiveId" clId="{26755863-B4AD-43F7-8818-BF76390DF946}" dt="2024-10-06T15:28:23.823" v="139" actId="20577"/>
      <pc:docMkLst>
        <pc:docMk/>
      </pc:docMkLst>
      <pc:sldChg chg="modSp">
        <pc:chgData name="Sándor Pecsora" userId="810b1d013327c237" providerId="LiveId" clId="{26755863-B4AD-43F7-8818-BF76390DF946}" dt="2024-10-06T15:15:03.332" v="0"/>
        <pc:sldMkLst>
          <pc:docMk/>
          <pc:sldMk cId="3501878932" sldId="321"/>
        </pc:sldMkLst>
        <pc:spChg chg="mod">
          <ac:chgData name="Sándor Pecsora" userId="810b1d013327c237" providerId="LiveId" clId="{26755863-B4AD-43F7-8818-BF76390DF946}" dt="2024-10-06T15:15:03.332" v="0"/>
          <ac:spMkLst>
            <pc:docMk/>
            <pc:sldMk cId="3501878932" sldId="321"/>
            <ac:spMk id="2" creationId="{00000000-0000-0000-0000-000000000000}"/>
          </ac:spMkLst>
        </pc:spChg>
      </pc:sldChg>
      <pc:sldChg chg="del">
        <pc:chgData name="Sándor Pecsora" userId="810b1d013327c237" providerId="LiveId" clId="{26755863-B4AD-43F7-8818-BF76390DF946}" dt="2024-10-06T15:16:28.400" v="31" actId="47"/>
        <pc:sldMkLst>
          <pc:docMk/>
          <pc:sldMk cId="1591634572" sldId="330"/>
        </pc:sldMkLst>
      </pc:sldChg>
      <pc:sldChg chg="modSp">
        <pc:chgData name="Sándor Pecsora" userId="810b1d013327c237" providerId="LiveId" clId="{26755863-B4AD-43F7-8818-BF76390DF946}" dt="2024-10-06T15:15:03.332" v="0"/>
        <pc:sldMkLst>
          <pc:docMk/>
          <pc:sldMk cId="93600150" sldId="331"/>
        </pc:sldMkLst>
        <pc:spChg chg="mod">
          <ac:chgData name="Sándor Pecsora" userId="810b1d013327c237" providerId="LiveId" clId="{26755863-B4AD-43F7-8818-BF76390DF946}" dt="2024-10-06T15:15:03.332" v="0"/>
          <ac:spMkLst>
            <pc:docMk/>
            <pc:sldMk cId="93600150" sldId="331"/>
            <ac:spMk id="2" creationId="{00000000-0000-0000-0000-000000000000}"/>
          </ac:spMkLst>
        </pc:spChg>
      </pc:sldChg>
      <pc:sldChg chg="modSp">
        <pc:chgData name="Sándor Pecsora" userId="810b1d013327c237" providerId="LiveId" clId="{26755863-B4AD-43F7-8818-BF76390DF946}" dt="2024-10-06T15:15:03.332" v="0"/>
        <pc:sldMkLst>
          <pc:docMk/>
          <pc:sldMk cId="93797610" sldId="334"/>
        </pc:sldMkLst>
        <pc:spChg chg="mod">
          <ac:chgData name="Sándor Pecsora" userId="810b1d013327c237" providerId="LiveId" clId="{26755863-B4AD-43F7-8818-BF76390DF946}" dt="2024-10-06T15:15:03.332" v="0"/>
          <ac:spMkLst>
            <pc:docMk/>
            <pc:sldMk cId="93797610" sldId="334"/>
            <ac:spMk id="4" creationId="{00000000-0000-0000-0000-000000000000}"/>
          </ac:spMkLst>
        </pc:spChg>
      </pc:sldChg>
      <pc:sldChg chg="modSp mod">
        <pc:chgData name="Sándor Pecsora" userId="810b1d013327c237" providerId="LiveId" clId="{26755863-B4AD-43F7-8818-BF76390DF946}" dt="2024-10-06T15:16:14.701" v="30" actId="207"/>
        <pc:sldMkLst>
          <pc:docMk/>
          <pc:sldMk cId="4245844585" sldId="336"/>
        </pc:sldMkLst>
        <pc:spChg chg="mod">
          <ac:chgData name="Sándor Pecsora" userId="810b1d013327c237" providerId="LiveId" clId="{26755863-B4AD-43F7-8818-BF76390DF946}" dt="2024-10-06T15:16:14.701" v="30" actId="207"/>
          <ac:spMkLst>
            <pc:docMk/>
            <pc:sldMk cId="4245844585" sldId="336"/>
            <ac:spMk id="2" creationId="{00000000-0000-0000-0000-000000000000}"/>
          </ac:spMkLst>
        </pc:spChg>
      </pc:sldChg>
      <pc:sldChg chg="modSp">
        <pc:chgData name="Sándor Pecsora" userId="810b1d013327c237" providerId="LiveId" clId="{26755863-B4AD-43F7-8818-BF76390DF946}" dt="2024-10-06T15:15:03.332" v="0"/>
        <pc:sldMkLst>
          <pc:docMk/>
          <pc:sldMk cId="157187679" sldId="337"/>
        </pc:sldMkLst>
        <pc:spChg chg="mod">
          <ac:chgData name="Sándor Pecsora" userId="810b1d013327c237" providerId="LiveId" clId="{26755863-B4AD-43F7-8818-BF76390DF946}" dt="2024-10-06T15:15:03.332" v="0"/>
          <ac:spMkLst>
            <pc:docMk/>
            <pc:sldMk cId="157187679" sldId="337"/>
            <ac:spMk id="4" creationId="{00000000-0000-0000-0000-000000000000}"/>
          </ac:spMkLst>
        </pc:spChg>
      </pc:sldChg>
      <pc:sldChg chg="modSp del">
        <pc:chgData name="Sándor Pecsora" userId="810b1d013327c237" providerId="LiveId" clId="{26755863-B4AD-43F7-8818-BF76390DF946}" dt="2024-10-06T15:16:28.400" v="31" actId="47"/>
        <pc:sldMkLst>
          <pc:docMk/>
          <pc:sldMk cId="1480952474" sldId="338"/>
        </pc:sldMkLst>
        <pc:spChg chg="mod">
          <ac:chgData name="Sándor Pecsora" userId="810b1d013327c237" providerId="LiveId" clId="{26755863-B4AD-43F7-8818-BF76390DF946}" dt="2024-10-06T15:15:03.332" v="0"/>
          <ac:spMkLst>
            <pc:docMk/>
            <pc:sldMk cId="1480952474" sldId="338"/>
            <ac:spMk id="2" creationId="{00000000-0000-0000-0000-000000000000}"/>
          </ac:spMkLst>
        </pc:spChg>
      </pc:sldChg>
      <pc:sldChg chg="modSp del">
        <pc:chgData name="Sándor Pecsora" userId="810b1d013327c237" providerId="LiveId" clId="{26755863-B4AD-43F7-8818-BF76390DF946}" dt="2024-10-06T15:16:28.400" v="31" actId="47"/>
        <pc:sldMkLst>
          <pc:docMk/>
          <pc:sldMk cId="1908232531" sldId="339"/>
        </pc:sldMkLst>
        <pc:spChg chg="mod">
          <ac:chgData name="Sándor Pecsora" userId="810b1d013327c237" providerId="LiveId" clId="{26755863-B4AD-43F7-8818-BF76390DF946}" dt="2024-10-06T15:15:03.332" v="0"/>
          <ac:spMkLst>
            <pc:docMk/>
            <pc:sldMk cId="1908232531" sldId="339"/>
            <ac:spMk id="4" creationId="{00000000-0000-0000-0000-000000000000}"/>
          </ac:spMkLst>
        </pc:spChg>
      </pc:sldChg>
      <pc:sldChg chg="modSp">
        <pc:chgData name="Sándor Pecsora" userId="810b1d013327c237" providerId="LiveId" clId="{26755863-B4AD-43F7-8818-BF76390DF946}" dt="2024-10-06T15:15:03.332" v="0"/>
        <pc:sldMkLst>
          <pc:docMk/>
          <pc:sldMk cId="811959074" sldId="340"/>
        </pc:sldMkLst>
        <pc:spChg chg="mod">
          <ac:chgData name="Sándor Pecsora" userId="810b1d013327c237" providerId="LiveId" clId="{26755863-B4AD-43F7-8818-BF76390DF946}" dt="2024-10-06T15:15:03.332" v="0"/>
          <ac:spMkLst>
            <pc:docMk/>
            <pc:sldMk cId="811959074" sldId="340"/>
            <ac:spMk id="2" creationId="{C78D57D7-8956-49F9-9353-B533C5FBD7E1}"/>
          </ac:spMkLst>
        </pc:spChg>
      </pc:sldChg>
      <pc:sldChg chg="delSp modSp mod">
        <pc:chgData name="Sándor Pecsora" userId="810b1d013327c237" providerId="LiveId" clId="{26755863-B4AD-43F7-8818-BF76390DF946}" dt="2024-10-06T15:21:16.617" v="105" actId="20577"/>
        <pc:sldMkLst>
          <pc:docMk/>
          <pc:sldMk cId="3735662663" sldId="341"/>
        </pc:sldMkLst>
        <pc:spChg chg="mod">
          <ac:chgData name="Sándor Pecsora" userId="810b1d013327c237" providerId="LiveId" clId="{26755863-B4AD-43F7-8818-BF76390DF946}" dt="2024-10-06T15:21:16.617" v="105" actId="20577"/>
          <ac:spMkLst>
            <pc:docMk/>
            <pc:sldMk cId="3735662663" sldId="341"/>
            <ac:spMk id="3" creationId="{00000000-0000-0000-0000-000000000000}"/>
          </ac:spMkLst>
        </pc:spChg>
        <pc:spChg chg="mod">
          <ac:chgData name="Sándor Pecsora" userId="810b1d013327c237" providerId="LiveId" clId="{26755863-B4AD-43F7-8818-BF76390DF946}" dt="2024-10-06T15:15:09.155" v="5" actId="6549"/>
          <ac:spMkLst>
            <pc:docMk/>
            <pc:sldMk cId="3735662663" sldId="341"/>
            <ac:spMk id="4" creationId="{002A1929-D361-4830-B28B-82105341B8EC}"/>
          </ac:spMkLst>
        </pc:spChg>
        <pc:spChg chg="del">
          <ac:chgData name="Sándor Pecsora" userId="810b1d013327c237" providerId="LiveId" clId="{26755863-B4AD-43F7-8818-BF76390DF946}" dt="2024-10-06T15:20:18.991" v="76" actId="478"/>
          <ac:spMkLst>
            <pc:docMk/>
            <pc:sldMk cId="3735662663" sldId="341"/>
            <ac:spMk id="6" creationId="{138B5CDD-DF06-4B9E-97D9-BB5E2ADD616B}"/>
          </ac:spMkLst>
        </pc:spChg>
      </pc:sldChg>
      <pc:sldChg chg="add">
        <pc:chgData name="Sándor Pecsora" userId="810b1d013327c237" providerId="LiveId" clId="{26755863-B4AD-43F7-8818-BF76390DF946}" dt="2024-10-06T15:17:08.025" v="32"/>
        <pc:sldMkLst>
          <pc:docMk/>
          <pc:sldMk cId="2859756343" sldId="342"/>
        </pc:sldMkLst>
      </pc:sldChg>
      <pc:sldChg chg="add">
        <pc:chgData name="Sándor Pecsora" userId="810b1d013327c237" providerId="LiveId" clId="{26755863-B4AD-43F7-8818-BF76390DF946}" dt="2024-10-06T15:17:08.025" v="32"/>
        <pc:sldMkLst>
          <pc:docMk/>
          <pc:sldMk cId="3919114993" sldId="343"/>
        </pc:sldMkLst>
      </pc:sldChg>
      <pc:sldChg chg="add">
        <pc:chgData name="Sándor Pecsora" userId="810b1d013327c237" providerId="LiveId" clId="{26755863-B4AD-43F7-8818-BF76390DF946}" dt="2024-10-06T15:17:08.025" v="32"/>
        <pc:sldMkLst>
          <pc:docMk/>
          <pc:sldMk cId="3252744144" sldId="344"/>
        </pc:sldMkLst>
      </pc:sldChg>
      <pc:sldChg chg="add">
        <pc:chgData name="Sándor Pecsora" userId="810b1d013327c237" providerId="LiveId" clId="{26755863-B4AD-43F7-8818-BF76390DF946}" dt="2024-10-06T15:17:08.025" v="32"/>
        <pc:sldMkLst>
          <pc:docMk/>
          <pc:sldMk cId="3742979416" sldId="345"/>
        </pc:sldMkLst>
      </pc:sldChg>
      <pc:sldChg chg="addSp delSp modSp add mod delAnim modAnim">
        <pc:chgData name="Sándor Pecsora" userId="810b1d013327c237" providerId="LiveId" clId="{26755863-B4AD-43F7-8818-BF76390DF946}" dt="2024-10-06T15:28:23.823" v="139" actId="20577"/>
        <pc:sldMkLst>
          <pc:docMk/>
          <pc:sldMk cId="680315379" sldId="346"/>
        </pc:sldMkLst>
        <pc:spChg chg="mod">
          <ac:chgData name="Sándor Pecsora" userId="810b1d013327c237" providerId="LiveId" clId="{26755863-B4AD-43F7-8818-BF76390DF946}" dt="2024-10-06T15:28:23.823" v="139" actId="20577"/>
          <ac:spMkLst>
            <pc:docMk/>
            <pc:sldMk cId="680315379" sldId="346"/>
            <ac:spMk id="3" creationId="{00000000-0000-0000-0000-000000000000}"/>
          </ac:spMkLst>
        </pc:spChg>
        <pc:spChg chg="mod">
          <ac:chgData name="Sándor Pecsora" userId="810b1d013327c237" providerId="LiveId" clId="{26755863-B4AD-43F7-8818-BF76390DF946}" dt="2024-10-06T15:27:53.071" v="132" actId="1076"/>
          <ac:spMkLst>
            <pc:docMk/>
            <pc:sldMk cId="680315379" sldId="346"/>
            <ac:spMk id="5" creationId="{09420510-ED20-4022-8CD2-E2320DE88804}"/>
          </ac:spMkLst>
        </pc:spChg>
        <pc:spChg chg="del mod">
          <ac:chgData name="Sándor Pecsora" userId="810b1d013327c237" providerId="LiveId" clId="{26755863-B4AD-43F7-8818-BF76390DF946}" dt="2024-10-06T15:19:33.143" v="71" actId="478"/>
          <ac:spMkLst>
            <pc:docMk/>
            <pc:sldMk cId="680315379" sldId="346"/>
            <ac:spMk id="6" creationId="{02661062-5638-4202-83ED-6B204932B1D9}"/>
          </ac:spMkLst>
        </pc:spChg>
        <pc:spChg chg="add mod">
          <ac:chgData name="Sándor Pecsora" userId="810b1d013327c237" providerId="LiveId" clId="{26755863-B4AD-43F7-8818-BF76390DF946}" dt="2024-10-06T15:27:53.071" v="132" actId="1076"/>
          <ac:spMkLst>
            <pc:docMk/>
            <pc:sldMk cId="680315379" sldId="346"/>
            <ac:spMk id="6" creationId="{11AFC8AB-7A58-FFFC-0587-FBDBBA9A92E9}"/>
          </ac:spMkLst>
        </pc:spChg>
        <pc:spChg chg="mod">
          <ac:chgData name="Sándor Pecsora" userId="810b1d013327c237" providerId="LiveId" clId="{26755863-B4AD-43F7-8818-BF76390DF946}" dt="2024-10-06T15:27:53.071" v="132" actId="1076"/>
          <ac:spMkLst>
            <pc:docMk/>
            <pc:sldMk cId="680315379" sldId="346"/>
            <ac:spMk id="7" creationId="{0A78392F-CA77-499B-9636-A47E2E55BC6D}"/>
          </ac:spMkLst>
        </pc:spChg>
        <pc:spChg chg="del mod">
          <ac:chgData name="Sándor Pecsora" userId="810b1d013327c237" providerId="LiveId" clId="{26755863-B4AD-43F7-8818-BF76390DF946}" dt="2024-10-06T15:19:33.145" v="73"/>
          <ac:spMkLst>
            <pc:docMk/>
            <pc:sldMk cId="680315379" sldId="346"/>
            <ac:spMk id="8" creationId="{59FA3755-39DA-4B04-AAC6-56260E1A6686}"/>
          </ac:spMkLst>
        </pc:spChg>
        <pc:graphicFrameChg chg="modGraphic">
          <ac:chgData name="Sándor Pecsora" userId="810b1d013327c237" providerId="LiveId" clId="{26755863-B4AD-43F7-8818-BF76390DF946}" dt="2024-10-06T15:18:02.403" v="34" actId="12385"/>
          <ac:graphicFrameMkLst>
            <pc:docMk/>
            <pc:sldMk cId="680315379" sldId="346"/>
            <ac:graphicFrameMk id="4" creationId="{00000000-0000-0000-0000-000000000000}"/>
          </ac:graphicFrameMkLst>
        </pc:graphicFrameChg>
      </pc:sldChg>
    </pc:docChg>
  </pc:docChgLst>
  <pc:docChgLst>
    <pc:chgData name="Sándor Pecsora" userId="810b1d013327c237" providerId="LiveId" clId="{5A418221-BDF5-4A7E-A222-BAABDB048638}"/>
    <pc:docChg chg="modSld">
      <pc:chgData name="Sándor Pecsora" userId="810b1d013327c237" providerId="LiveId" clId="{5A418221-BDF5-4A7E-A222-BAABDB048638}" dt="2020-11-02T10:08:28.515" v="12"/>
      <pc:docMkLst>
        <pc:docMk/>
      </pc:docMkLst>
      <pc:sldChg chg="modSp mod">
        <pc:chgData name="Sándor Pecsora" userId="810b1d013327c237" providerId="LiveId" clId="{5A418221-BDF5-4A7E-A222-BAABDB048638}" dt="2020-11-02T10:07:01.051" v="4" actId="1076"/>
        <pc:sldMkLst>
          <pc:docMk/>
          <pc:sldMk cId="1591634572" sldId="330"/>
        </pc:sldMkLst>
        <pc:spChg chg="mod">
          <ac:chgData name="Sándor Pecsora" userId="810b1d013327c237" providerId="LiveId" clId="{5A418221-BDF5-4A7E-A222-BAABDB048638}" dt="2020-11-02T10:07:01.051" v="4" actId="1076"/>
          <ac:spMkLst>
            <pc:docMk/>
            <pc:sldMk cId="1591634572" sldId="330"/>
            <ac:spMk id="20" creationId="{00000000-0000-0000-0000-000000000000}"/>
          </ac:spMkLst>
        </pc:spChg>
      </pc:sldChg>
      <pc:sldChg chg="addSp modSp modAnim">
        <pc:chgData name="Sándor Pecsora" userId="810b1d013327c237" providerId="LiveId" clId="{5A418221-BDF5-4A7E-A222-BAABDB048638}" dt="2020-11-02T10:08:28.515" v="12"/>
        <pc:sldMkLst>
          <pc:docMk/>
          <pc:sldMk cId="1480952474" sldId="338"/>
        </pc:sldMkLst>
        <pc:spChg chg="add mod">
          <ac:chgData name="Sándor Pecsora" userId="810b1d013327c237" providerId="LiveId" clId="{5A418221-BDF5-4A7E-A222-BAABDB048638}" dt="2020-11-02T10:07:15.139" v="5" actId="571"/>
          <ac:spMkLst>
            <pc:docMk/>
            <pc:sldMk cId="1480952474" sldId="338"/>
            <ac:spMk id="11" creationId="{1F739A29-B720-453D-88AE-FEFC320CD050}"/>
          </ac:spMkLst>
        </pc:spChg>
        <pc:spChg chg="add mod">
          <ac:chgData name="Sándor Pecsora" userId="810b1d013327c237" providerId="LiveId" clId="{5A418221-BDF5-4A7E-A222-BAABDB048638}" dt="2020-11-02T10:07:15.139" v="5" actId="571"/>
          <ac:spMkLst>
            <pc:docMk/>
            <pc:sldMk cId="1480952474" sldId="338"/>
            <ac:spMk id="12" creationId="{5E07B87F-F24F-45F1-AF0D-154EBD56627A}"/>
          </ac:spMkLst>
        </pc:spChg>
        <pc:spChg chg="add mod">
          <ac:chgData name="Sándor Pecsora" userId="810b1d013327c237" providerId="LiveId" clId="{5A418221-BDF5-4A7E-A222-BAABDB048638}" dt="2020-11-02T10:07:15.139" v="5" actId="571"/>
          <ac:spMkLst>
            <pc:docMk/>
            <pc:sldMk cId="1480952474" sldId="338"/>
            <ac:spMk id="13" creationId="{CAF6A5A3-2A0A-4134-81E5-A217C8C8B626}"/>
          </ac:spMkLst>
        </pc:spChg>
      </pc:sldChg>
    </pc:docChg>
  </pc:docChgLst>
  <pc:docChgLst>
    <pc:chgData name="Sándor Pecsora" userId="810b1d013327c237" providerId="LiveId" clId="{618F5889-778C-482A-AF02-D759D8574713}"/>
    <pc:docChg chg="modSld">
      <pc:chgData name="Sándor Pecsora" userId="810b1d013327c237" providerId="LiveId" clId="{618F5889-778C-482A-AF02-D759D8574713}" dt="2020-12-07T09:49:59.856" v="3" actId="20577"/>
      <pc:docMkLst>
        <pc:docMk/>
      </pc:docMkLst>
      <pc:sldChg chg="modSp">
        <pc:chgData name="Sándor Pecsora" userId="810b1d013327c237" providerId="LiveId" clId="{618F5889-778C-482A-AF02-D759D8574713}" dt="2020-12-07T09:49:59.856" v="3" actId="20577"/>
        <pc:sldMkLst>
          <pc:docMk/>
          <pc:sldMk cId="4245844585" sldId="336"/>
        </pc:sldMkLst>
        <pc:spChg chg="mod">
          <ac:chgData name="Sándor Pecsora" userId="810b1d013327c237" providerId="LiveId" clId="{618F5889-778C-482A-AF02-D759D8574713}" dt="2020-12-07T09:49:59.856" v="3" actId="20577"/>
          <ac:spMkLst>
            <pc:docMk/>
            <pc:sldMk cId="4245844585" sldId="336"/>
            <ac:spMk id="55" creationId="{00000000-0000-0000-0000-000000000000}"/>
          </ac:spMkLst>
        </pc:spChg>
      </pc:sldChg>
    </pc:docChg>
  </pc:docChgLst>
  <pc:docChgLst>
    <pc:chgData name="Sándor Pecsora" userId="810b1d013327c237" providerId="LiveId" clId="{ADCFA251-0ABA-4210-A021-049D06410C3F}"/>
    <pc:docChg chg="undo custSel addSld delSld modSld">
      <pc:chgData name="Sándor Pecsora" userId="810b1d013327c237" providerId="LiveId" clId="{ADCFA251-0ABA-4210-A021-049D06410C3F}" dt="2022-02-15T08:24:01.514" v="5" actId="47"/>
      <pc:docMkLst>
        <pc:docMk/>
      </pc:docMkLst>
      <pc:sldChg chg="del">
        <pc:chgData name="Sándor Pecsora" userId="810b1d013327c237" providerId="LiveId" clId="{ADCFA251-0ABA-4210-A021-049D06410C3F}" dt="2022-02-15T08:24:01.514" v="5" actId="47"/>
        <pc:sldMkLst>
          <pc:docMk/>
          <pc:sldMk cId="1180060703" sldId="256"/>
        </pc:sldMkLst>
      </pc:sldChg>
      <pc:sldChg chg="add">
        <pc:chgData name="Sándor Pecsora" userId="810b1d013327c237" providerId="LiveId" clId="{ADCFA251-0ABA-4210-A021-049D06410C3F}" dt="2022-02-15T08:19:31.415" v="0"/>
        <pc:sldMkLst>
          <pc:docMk/>
          <pc:sldMk cId="811959074" sldId="340"/>
        </pc:sldMkLst>
      </pc:sldChg>
      <pc:sldChg chg="modSp add mod">
        <pc:chgData name="Sándor Pecsora" userId="810b1d013327c237" providerId="LiveId" clId="{ADCFA251-0ABA-4210-A021-049D06410C3F}" dt="2022-02-15T08:23:56.805" v="4"/>
        <pc:sldMkLst>
          <pc:docMk/>
          <pc:sldMk cId="3735662663" sldId="341"/>
        </pc:sldMkLst>
        <pc:spChg chg="mod">
          <ac:chgData name="Sándor Pecsora" userId="810b1d013327c237" providerId="LiveId" clId="{ADCFA251-0ABA-4210-A021-049D06410C3F}" dt="2022-02-15T08:23:56.805" v="4"/>
          <ac:spMkLst>
            <pc:docMk/>
            <pc:sldMk cId="3735662663" sldId="341"/>
            <ac:spMk id="3" creationId="{00000000-0000-0000-0000-000000000000}"/>
          </ac:spMkLst>
        </pc:spChg>
      </pc:sldChg>
    </pc:docChg>
  </pc:docChgLst>
  <pc:docChgLst>
    <pc:chgData name="Sándor Pecsora" userId="810b1d013327c237" providerId="LiveId" clId="{6D868EEB-0F0D-490B-A0B5-018819A18F83}"/>
    <pc:docChg chg="modSld">
      <pc:chgData name="Sándor Pecsora" userId="810b1d013327c237" providerId="LiveId" clId="{6D868EEB-0F0D-490B-A0B5-018819A18F83}" dt="2020-10-12T09:22:53.479" v="7"/>
      <pc:docMkLst>
        <pc:docMk/>
      </pc:docMkLst>
      <pc:sldChg chg="modSp">
        <pc:chgData name="Sándor Pecsora" userId="810b1d013327c237" providerId="LiveId" clId="{6D868EEB-0F0D-490B-A0B5-018819A18F83}" dt="2020-10-12T08:38:08.234" v="4" actId="20577"/>
        <pc:sldMkLst>
          <pc:docMk/>
          <pc:sldMk cId="3501878932" sldId="321"/>
        </pc:sldMkLst>
        <pc:spChg chg="mod">
          <ac:chgData name="Sándor Pecsora" userId="810b1d013327c237" providerId="LiveId" clId="{6D868EEB-0F0D-490B-A0B5-018819A18F83}" dt="2020-10-12T08:38:08.234" v="4" actId="20577"/>
          <ac:spMkLst>
            <pc:docMk/>
            <pc:sldMk cId="3501878932" sldId="321"/>
            <ac:spMk id="3" creationId="{00000000-0000-0000-0000-000000000000}"/>
          </ac:spMkLst>
        </pc:spChg>
      </pc:sldChg>
      <pc:sldChg chg="modSp">
        <pc:chgData name="Sándor Pecsora" userId="810b1d013327c237" providerId="LiveId" clId="{6D868EEB-0F0D-490B-A0B5-018819A18F83}" dt="2020-10-12T08:37:59.563" v="0" actId="20577"/>
        <pc:sldMkLst>
          <pc:docMk/>
          <pc:sldMk cId="4245844585" sldId="336"/>
        </pc:sldMkLst>
        <pc:spChg chg="mod">
          <ac:chgData name="Sándor Pecsora" userId="810b1d013327c237" providerId="LiveId" clId="{6D868EEB-0F0D-490B-A0B5-018819A18F83}" dt="2020-10-12T08:37:59.563" v="0" actId="20577"/>
          <ac:spMkLst>
            <pc:docMk/>
            <pc:sldMk cId="4245844585" sldId="336"/>
            <ac:spMk id="6" creationId="{00000000-0000-0000-0000-000000000000}"/>
          </ac:spMkLst>
        </pc:spChg>
      </pc:sldChg>
      <pc:sldChg chg="modSp modAnim">
        <pc:chgData name="Sándor Pecsora" userId="810b1d013327c237" providerId="LiveId" clId="{6D868EEB-0F0D-490B-A0B5-018819A18F83}" dt="2020-10-12T09:22:53.479" v="7"/>
        <pc:sldMkLst>
          <pc:docMk/>
          <pc:sldMk cId="157187679" sldId="337"/>
        </pc:sldMkLst>
        <pc:spChg chg="mod">
          <ac:chgData name="Sándor Pecsora" userId="810b1d013327c237" providerId="LiveId" clId="{6D868EEB-0F0D-490B-A0B5-018819A18F83}" dt="2020-10-12T09:22:30.351" v="6"/>
          <ac:spMkLst>
            <pc:docMk/>
            <pc:sldMk cId="157187679" sldId="337"/>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D8D181-6501-4CD6-ADAA-357D1FDA1029}" type="datetimeFigureOut">
              <a:rPr lang="hu-HU" smtClean="0"/>
              <a:t>2024. 10. 10.</a:t>
            </a:fld>
            <a:endParaRPr lang="hu-HU"/>
          </a:p>
        </p:txBody>
      </p:sp>
      <p:sp>
        <p:nvSpPr>
          <p:cNvPr id="4" name="Diakép helye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0B4519-444B-4F56-B3DB-AC5AAF918060}" type="slidenum">
              <a:rPr lang="hu-HU" smtClean="0"/>
              <a:t>‹#›</a:t>
            </a:fld>
            <a:endParaRPr lang="hu-HU"/>
          </a:p>
        </p:txBody>
      </p:sp>
    </p:spTree>
    <p:extLst>
      <p:ext uri="{BB962C8B-B14F-4D97-AF65-F5344CB8AC3E}">
        <p14:creationId xmlns:p14="http://schemas.microsoft.com/office/powerpoint/2010/main" val="1710441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ímdia">
    <p:spTree>
      <p:nvGrpSpPr>
        <p:cNvPr id="1" name=""/>
        <p:cNvGrpSpPr/>
        <p:nvPr/>
      </p:nvGrpSpPr>
      <p:grpSpPr>
        <a:xfrm>
          <a:off x="0" y="0"/>
          <a:ext cx="0" cy="0"/>
          <a:chOff x="0" y="0"/>
          <a:chExt cx="0" cy="0"/>
        </a:xfrm>
      </p:grpSpPr>
      <p:sp>
        <p:nvSpPr>
          <p:cNvPr id="7" name="Rectangle 6"/>
          <p:cNvSpPr/>
          <p:nvPr/>
        </p:nvSpPr>
        <p:spPr>
          <a:xfrm>
            <a:off x="690626" y="1346947"/>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90626" y="4299697"/>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90626" y="1484779"/>
            <a:ext cx="7667244"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788670" y="1432223"/>
            <a:ext cx="7475220" cy="2867474"/>
          </a:xfrm>
        </p:spPr>
        <p:txBody>
          <a:bodyPr anchor="ctr">
            <a:noAutofit/>
          </a:bodyPr>
          <a:lstStyle>
            <a:lvl1pPr algn="l">
              <a:lnSpc>
                <a:spcPct val="80000"/>
              </a:lnSpc>
              <a:defRPr sz="7200" cap="all" baseline="0">
                <a:blipFill dpi="0" rotWithShape="1">
                  <a:blip r:embed="rId4"/>
                  <a:srcRect/>
                  <a:tile tx="6350" ty="-127000" sx="65000" sy="64000" flip="none" algn="tl"/>
                </a:blipFill>
              </a:defRPr>
            </a:lvl1pPr>
          </a:lstStyle>
          <a:p>
            <a:r>
              <a:rPr lang="hu-HU"/>
              <a:t>Mintacím szerkesztése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ctr">
              <a:buNone/>
              <a:defRPr sz="2000">
                <a:solidFill>
                  <a:schemeClr val="tx1"/>
                </a:solidFill>
              </a:defRPr>
            </a:lvl1pPr>
            <a:lvl2pPr marL="342900" indent="0" algn="ctr">
              <a:buNone/>
              <a:defRPr sz="1650"/>
            </a:lvl2pPr>
            <a:lvl3pPr marL="685800" indent="0" algn="ctr">
              <a:buNone/>
              <a:defRPr sz="165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hu-HU"/>
              <a:t>Kattintson ide az alcím mintájának szerkesztéséhez</a:t>
            </a:r>
            <a:endParaRPr lang="en-US" dirty="0"/>
          </a:p>
        </p:txBody>
      </p:sp>
      <p:sp>
        <p:nvSpPr>
          <p:cNvPr id="4" name="Date Placeholder 3"/>
          <p:cNvSpPr>
            <a:spLocks noGrp="1"/>
          </p:cNvSpPr>
          <p:nvPr>
            <p:ph type="dt" sz="half" idx="10"/>
          </p:nvPr>
        </p:nvSpPr>
        <p:spPr/>
        <p:txBody>
          <a:bodyPr/>
          <a:lstStyle/>
          <a:p>
            <a:fld id="{FB78DAAF-0C17-4703-AEE3-44267674DFC7}" type="datetimeFigureOut">
              <a:rPr lang="hu-HU" smtClean="0"/>
              <a:t>2024. 10. 10.</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a:xfrm>
            <a:off x="7194550" y="4289334"/>
            <a:ext cx="895401" cy="640080"/>
          </a:xfrm>
        </p:spPr>
        <p:txBody>
          <a:bodyPr/>
          <a:lstStyle>
            <a:lvl1pPr>
              <a:defRPr sz="2100"/>
            </a:lvl1pPr>
          </a:lstStyle>
          <a:p>
            <a:fld id="{1209D428-69BB-4D9A-8FAB-16C0194CC2DE}" type="slidenum">
              <a:rPr lang="hu-HU" smtClean="0"/>
              <a:t>‹#›</a:t>
            </a:fld>
            <a:endParaRPr lang="hu-HU"/>
          </a:p>
        </p:txBody>
      </p:sp>
    </p:spTree>
    <p:extLst>
      <p:ext uri="{BB962C8B-B14F-4D97-AF65-F5344CB8AC3E}">
        <p14:creationId xmlns:p14="http://schemas.microsoft.com/office/powerpoint/2010/main" val="1289686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ím és tartal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cap="none" baseline="0"/>
            </a:lvl1pPr>
          </a:lstStyle>
          <a:p>
            <a:r>
              <a:rPr lang="hu-HU"/>
              <a:t>Mintacím szerkesztése</a:t>
            </a:r>
            <a:endParaRPr lang="en-US" dirty="0"/>
          </a:p>
        </p:txBody>
      </p:sp>
      <p:sp>
        <p:nvSpPr>
          <p:cNvPr id="3" name="Content Placeholder 2"/>
          <p:cNvSpPr>
            <a:spLocks noGrp="1"/>
          </p:cNvSpPr>
          <p:nvPr>
            <p:ph idx="1"/>
          </p:nvPr>
        </p:nvSpPr>
        <p:spPr/>
        <p:txBody>
          <a:bodyPr>
            <a:normAutofit/>
          </a:bodyPr>
          <a:lstStyle>
            <a:lvl1pPr marL="0" indent="0">
              <a:buClr>
                <a:schemeClr val="accent3">
                  <a:lumMod val="50000"/>
                </a:schemeClr>
              </a:buClr>
              <a:buNone/>
              <a:defRPr sz="2000"/>
            </a:lvl1pPr>
            <a:lvl2pPr marL="205740" indent="0">
              <a:buClr>
                <a:schemeClr val="accent3">
                  <a:lumMod val="50000"/>
                </a:schemeClr>
              </a:buClr>
              <a:buNone/>
              <a:defRPr sz="1800"/>
            </a:lvl2pPr>
            <a:lvl3pPr marL="411480" indent="0">
              <a:buClr>
                <a:schemeClr val="accent3">
                  <a:lumMod val="50000"/>
                </a:schemeClr>
              </a:buClr>
              <a:buNone/>
              <a:defRPr sz="1800"/>
            </a:lvl3pPr>
            <a:lvl4pPr marL="617220" indent="0">
              <a:buClr>
                <a:schemeClr val="accent3">
                  <a:lumMod val="50000"/>
                </a:schemeClr>
              </a:buClr>
              <a:buNone/>
              <a:defRPr sz="1800"/>
            </a:lvl4pPr>
            <a:lvl5pPr marL="822960" indent="0">
              <a:buClr>
                <a:schemeClr val="accent3">
                  <a:lumMod val="50000"/>
                </a:schemeClr>
              </a:buClr>
              <a:buNone/>
              <a:defRPr sz="1800"/>
            </a:lvl5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FB78DAAF-0C17-4703-AEE3-44267674DFC7}" type="datetimeFigureOut">
              <a:rPr lang="hu-HU" smtClean="0"/>
              <a:t>2024. 10. 10.</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736942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zakaszfejléc">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000" b="0"/>
            </a:lvl1pPr>
          </a:lstStyle>
          <a:p>
            <a:r>
              <a:rPr lang="hu-HU"/>
              <a:t>Mintacím szerkesztése</a:t>
            </a:r>
            <a:endParaRPr lang="en-US" dirty="0"/>
          </a:p>
        </p:txBody>
      </p:sp>
      <p:sp>
        <p:nvSpPr>
          <p:cNvPr id="3" name="Text Placeholder 2"/>
          <p:cNvSpPr>
            <a:spLocks noGrp="1"/>
          </p:cNvSpPr>
          <p:nvPr>
            <p:ph type="body" idx="1"/>
          </p:nvPr>
        </p:nvSpPr>
        <p:spPr>
          <a:xfrm>
            <a:off x="1624331" y="5020056"/>
            <a:ext cx="6789420" cy="1066800"/>
          </a:xfrm>
        </p:spPr>
        <p:txBody>
          <a:bodyPr anchor="t">
            <a:normAutofit/>
          </a:bodyPr>
          <a:lstStyle>
            <a:lvl1pPr marL="0" indent="0">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a:xfrm>
            <a:off x="6445251" y="6272785"/>
            <a:ext cx="1983232" cy="365125"/>
          </a:xfrm>
        </p:spPr>
        <p:txBody>
          <a:bodyPr/>
          <a:lstStyle/>
          <a:p>
            <a:fld id="{FB78DAAF-0C17-4703-AEE3-44267674DFC7}" type="datetimeFigureOut">
              <a:rPr lang="hu-HU" smtClean="0"/>
              <a:t>2024. 10. 10.</a:t>
            </a:fld>
            <a:endParaRPr lang="hu-HU"/>
          </a:p>
        </p:txBody>
      </p:sp>
      <p:sp>
        <p:nvSpPr>
          <p:cNvPr id="5" name="Footer Placeholder 4"/>
          <p:cNvSpPr>
            <a:spLocks noGrp="1"/>
          </p:cNvSpPr>
          <p:nvPr>
            <p:ph type="ftr" sz="quarter" idx="11"/>
          </p:nvPr>
        </p:nvSpPr>
        <p:spPr>
          <a:xfrm>
            <a:off x="1637031" y="6272785"/>
            <a:ext cx="4745736" cy="365125"/>
          </a:xfrm>
        </p:spPr>
        <p:txBody>
          <a:bodyPr/>
          <a:lstStyle/>
          <a:p>
            <a:endParaRPr lang="hu-HU"/>
          </a:p>
        </p:txBody>
      </p:sp>
      <p:sp>
        <p:nvSpPr>
          <p:cNvPr id="6" name="Slide Number Placeholder 5"/>
          <p:cNvSpPr>
            <a:spLocks noGrp="1"/>
          </p:cNvSpPr>
          <p:nvPr>
            <p:ph type="sldNum" sz="quarter" idx="12"/>
          </p:nvPr>
        </p:nvSpPr>
        <p:spPr>
          <a:xfrm>
            <a:off x="632776" y="2506133"/>
            <a:ext cx="891224" cy="720332"/>
          </a:xfrm>
        </p:spPr>
        <p:txBody>
          <a:bodyPr/>
          <a:lstStyle>
            <a:lvl1pPr>
              <a:defRPr sz="2100"/>
            </a:lvl1pPr>
          </a:lstStyle>
          <a:p>
            <a:fld id="{1209D428-69BB-4D9A-8FAB-16C0194CC2DE}" type="slidenum">
              <a:rPr lang="hu-HU" smtClean="0"/>
              <a:t>‹#›</a:t>
            </a:fld>
            <a:endParaRPr lang="hu-HU"/>
          </a:p>
        </p:txBody>
      </p:sp>
    </p:spTree>
    <p:extLst>
      <p:ext uri="{BB962C8B-B14F-4D97-AF65-F5344CB8AC3E}">
        <p14:creationId xmlns:p14="http://schemas.microsoft.com/office/powerpoint/2010/main" val="395755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2 tartalomrész">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2060"/>
                </a:solidFill>
              </a:defRPr>
            </a:lvl1pPr>
          </a:lstStyle>
          <a:p>
            <a:r>
              <a:rPr lang="hu-HU"/>
              <a:t>Mintacím szerkesztése</a:t>
            </a:r>
            <a:endParaRPr lang="en-US" dirty="0"/>
          </a:p>
        </p:txBody>
      </p:sp>
      <p:sp>
        <p:nvSpPr>
          <p:cNvPr id="3" name="Content Placeholder 2"/>
          <p:cNvSpPr>
            <a:spLocks noGrp="1"/>
          </p:cNvSpPr>
          <p:nvPr>
            <p:ph sz="half" idx="1"/>
          </p:nvPr>
        </p:nvSpPr>
        <p:spPr>
          <a:xfrm>
            <a:off x="802386" y="2194560"/>
            <a:ext cx="3566160" cy="3977640"/>
          </a:xfrm>
        </p:spPr>
        <p:txBody>
          <a:bodyPr>
            <a:normAutofit/>
          </a:bodyPr>
          <a:lstStyle>
            <a:lvl1pPr>
              <a:buClr>
                <a:schemeClr val="accent3">
                  <a:lumMod val="75000"/>
                </a:schemeClr>
              </a:buClr>
              <a:defRPr sz="2000"/>
            </a:lvl1pPr>
            <a:lvl2pPr>
              <a:buClr>
                <a:schemeClr val="accent3">
                  <a:lumMod val="75000"/>
                </a:schemeClr>
              </a:buClr>
              <a:defRPr sz="1800"/>
            </a:lvl2pPr>
            <a:lvl3pPr>
              <a:buClr>
                <a:schemeClr val="accent3">
                  <a:lumMod val="75000"/>
                </a:schemeClr>
              </a:buClr>
              <a:defRPr sz="1800"/>
            </a:lvl3pPr>
            <a:lvl4pPr>
              <a:buClr>
                <a:schemeClr val="accent3">
                  <a:lumMod val="75000"/>
                </a:schemeClr>
              </a:buClr>
              <a:defRPr sz="1800"/>
            </a:lvl4pPr>
            <a:lvl5pPr>
              <a:buClr>
                <a:schemeClr val="accent3">
                  <a:lumMod val="75000"/>
                </a:schemeClr>
              </a:buClr>
              <a:defRPr sz="18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Content Placeholder 3"/>
          <p:cNvSpPr>
            <a:spLocks noGrp="1"/>
          </p:cNvSpPr>
          <p:nvPr>
            <p:ph sz="half" idx="2"/>
          </p:nvPr>
        </p:nvSpPr>
        <p:spPr>
          <a:xfrm>
            <a:off x="4773168" y="2194560"/>
            <a:ext cx="3566160" cy="3977640"/>
          </a:xfrm>
        </p:spPr>
        <p:txBody>
          <a:bodyPr>
            <a:normAutofit/>
          </a:bodyPr>
          <a:lstStyle>
            <a:lvl1pPr>
              <a:buClr>
                <a:schemeClr val="accent3">
                  <a:lumMod val="75000"/>
                </a:schemeClr>
              </a:buClr>
              <a:defRPr sz="2000"/>
            </a:lvl1pPr>
            <a:lvl2pPr>
              <a:buClr>
                <a:schemeClr val="accent3">
                  <a:lumMod val="75000"/>
                </a:schemeClr>
              </a:buClr>
              <a:defRPr sz="1800"/>
            </a:lvl2pPr>
            <a:lvl3pPr>
              <a:buClr>
                <a:schemeClr val="accent3">
                  <a:lumMod val="75000"/>
                </a:schemeClr>
              </a:buClr>
              <a:defRPr sz="1800"/>
            </a:lvl3pPr>
            <a:lvl4pPr>
              <a:buClr>
                <a:schemeClr val="accent3">
                  <a:lumMod val="75000"/>
                </a:schemeClr>
              </a:buClr>
              <a:defRPr sz="1800"/>
            </a:lvl4pPr>
            <a:lvl5pPr>
              <a:buClr>
                <a:schemeClr val="accent3">
                  <a:lumMod val="75000"/>
                </a:schemeClr>
              </a:buClr>
              <a:defRPr sz="18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Date Placeholder 4"/>
          <p:cNvSpPr>
            <a:spLocks noGrp="1"/>
          </p:cNvSpPr>
          <p:nvPr>
            <p:ph type="dt" sz="half" idx="10"/>
          </p:nvPr>
        </p:nvSpPr>
        <p:spPr/>
        <p:txBody>
          <a:bodyPr/>
          <a:lstStyle/>
          <a:p>
            <a:fld id="{FB78DAAF-0C17-4703-AEE3-44267674DFC7}" type="datetimeFigureOut">
              <a:rPr lang="hu-HU" smtClean="0"/>
              <a:t>2024. 10. 10.</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3840558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lvl1pPr>
              <a:defRPr>
                <a:solidFill>
                  <a:srgbClr val="002060"/>
                </a:solidFill>
              </a:defRPr>
            </a:lvl1pPr>
          </a:lstStyle>
          <a:p>
            <a:r>
              <a:rPr lang="hu-HU"/>
              <a:t>Mintacím szerkesztése</a:t>
            </a:r>
            <a:endParaRPr lang="en-US" dirty="0"/>
          </a:p>
        </p:txBody>
      </p:sp>
      <p:sp>
        <p:nvSpPr>
          <p:cNvPr id="3" name="Text Placeholder 2"/>
          <p:cNvSpPr>
            <a:spLocks noGrp="1"/>
          </p:cNvSpPr>
          <p:nvPr>
            <p:ph type="body" idx="1"/>
          </p:nvPr>
        </p:nvSpPr>
        <p:spPr>
          <a:xfrm>
            <a:off x="800100" y="2048256"/>
            <a:ext cx="3566160" cy="640080"/>
          </a:xfrm>
        </p:spPr>
        <p:txBody>
          <a:bodyPr anchor="ctr">
            <a:normAutofit/>
          </a:bodyPr>
          <a:lstStyle>
            <a:lvl1pPr marL="0" indent="0">
              <a:buNone/>
              <a:defRPr sz="20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u-HU"/>
              <a:t>Mintaszöveg szerkesztése</a:t>
            </a:r>
          </a:p>
        </p:txBody>
      </p:sp>
      <p:sp>
        <p:nvSpPr>
          <p:cNvPr id="4" name="Content Placeholder 3"/>
          <p:cNvSpPr>
            <a:spLocks noGrp="1"/>
          </p:cNvSpPr>
          <p:nvPr>
            <p:ph sz="half" idx="2"/>
          </p:nvPr>
        </p:nvSpPr>
        <p:spPr>
          <a:xfrm>
            <a:off x="802386" y="2743200"/>
            <a:ext cx="3566160" cy="3291840"/>
          </a:xfrm>
        </p:spPr>
        <p:txBody>
          <a:bodyPr>
            <a:normAutofit/>
          </a:bodyPr>
          <a:lstStyle>
            <a:lvl1pPr>
              <a:buClr>
                <a:schemeClr val="accent3">
                  <a:lumMod val="75000"/>
                </a:schemeClr>
              </a:buClr>
              <a:defRPr sz="2000"/>
            </a:lvl1pPr>
            <a:lvl2pPr>
              <a:buClr>
                <a:schemeClr val="accent3">
                  <a:lumMod val="75000"/>
                </a:schemeClr>
              </a:buClr>
              <a:defRPr sz="1800"/>
            </a:lvl2pPr>
            <a:lvl3pPr>
              <a:buClr>
                <a:schemeClr val="accent3">
                  <a:lumMod val="75000"/>
                </a:schemeClr>
              </a:buClr>
              <a:defRPr sz="1800"/>
            </a:lvl3pPr>
            <a:lvl4pPr>
              <a:buClr>
                <a:schemeClr val="accent3">
                  <a:lumMod val="75000"/>
                </a:schemeClr>
              </a:buClr>
              <a:defRPr sz="1800"/>
            </a:lvl4pPr>
            <a:lvl5pPr>
              <a:buClr>
                <a:schemeClr val="accent3">
                  <a:lumMod val="75000"/>
                </a:schemeClr>
              </a:buClr>
              <a:defRPr sz="18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Text Placeholder 4"/>
          <p:cNvSpPr>
            <a:spLocks noGrp="1"/>
          </p:cNvSpPr>
          <p:nvPr>
            <p:ph type="body" sz="quarter" idx="3"/>
          </p:nvPr>
        </p:nvSpPr>
        <p:spPr>
          <a:xfrm>
            <a:off x="4773168" y="2048256"/>
            <a:ext cx="3566160" cy="640080"/>
          </a:xfrm>
        </p:spPr>
        <p:txBody>
          <a:bodyPr anchor="ctr">
            <a:normAutofit/>
          </a:bodyPr>
          <a:lstStyle>
            <a:lvl1pPr marL="0" indent="0">
              <a:buNone/>
              <a:defRPr sz="20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u-HU"/>
              <a:t>Mintaszöveg szerkesztése</a:t>
            </a:r>
          </a:p>
        </p:txBody>
      </p:sp>
      <p:sp>
        <p:nvSpPr>
          <p:cNvPr id="6" name="Content Placeholder 5"/>
          <p:cNvSpPr>
            <a:spLocks noGrp="1"/>
          </p:cNvSpPr>
          <p:nvPr>
            <p:ph sz="quarter" idx="4"/>
          </p:nvPr>
        </p:nvSpPr>
        <p:spPr>
          <a:xfrm>
            <a:off x="4773168" y="2743200"/>
            <a:ext cx="3566160" cy="3291840"/>
          </a:xfrm>
        </p:spPr>
        <p:txBody>
          <a:bodyPr>
            <a:normAutofit/>
          </a:bodyPr>
          <a:lstStyle>
            <a:lvl1pPr>
              <a:buClr>
                <a:schemeClr val="accent3">
                  <a:lumMod val="75000"/>
                </a:schemeClr>
              </a:buClr>
              <a:defRPr sz="2000"/>
            </a:lvl1pPr>
            <a:lvl2pPr>
              <a:buClr>
                <a:schemeClr val="accent3">
                  <a:lumMod val="75000"/>
                </a:schemeClr>
              </a:buClr>
              <a:defRPr sz="1800"/>
            </a:lvl2pPr>
            <a:lvl3pPr>
              <a:buClr>
                <a:schemeClr val="accent3">
                  <a:lumMod val="75000"/>
                </a:schemeClr>
              </a:buClr>
              <a:defRPr sz="1800"/>
            </a:lvl3pPr>
            <a:lvl4pPr>
              <a:buClr>
                <a:schemeClr val="accent3">
                  <a:lumMod val="75000"/>
                </a:schemeClr>
              </a:buClr>
              <a:defRPr sz="1800"/>
            </a:lvl4pPr>
            <a:lvl5pPr>
              <a:buClr>
                <a:schemeClr val="accent3">
                  <a:lumMod val="75000"/>
                </a:schemeClr>
              </a:buClr>
              <a:defRPr sz="18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7" name="Date Placeholder 6"/>
          <p:cNvSpPr>
            <a:spLocks noGrp="1"/>
          </p:cNvSpPr>
          <p:nvPr>
            <p:ph type="dt" sz="half" idx="10"/>
          </p:nvPr>
        </p:nvSpPr>
        <p:spPr/>
        <p:txBody>
          <a:bodyPr/>
          <a:lstStyle/>
          <a:p>
            <a:fld id="{FB78DAAF-0C17-4703-AEE3-44267674DFC7}" type="datetimeFigureOut">
              <a:rPr lang="hu-HU" smtClean="0"/>
              <a:t>2024. 10. 10.</a:t>
            </a:fld>
            <a:endParaRPr lang="hu-HU"/>
          </a:p>
        </p:txBody>
      </p:sp>
      <p:sp>
        <p:nvSpPr>
          <p:cNvPr id="8" name="Footer Placeholder 7"/>
          <p:cNvSpPr>
            <a:spLocks noGrp="1"/>
          </p:cNvSpPr>
          <p:nvPr>
            <p:ph type="ftr" sz="quarter" idx="11"/>
          </p:nvPr>
        </p:nvSpPr>
        <p:spPr/>
        <p:txBody>
          <a:bodyPr/>
          <a:lstStyle/>
          <a:p>
            <a:endParaRPr lang="hu-HU"/>
          </a:p>
        </p:txBody>
      </p:sp>
      <p:sp>
        <p:nvSpPr>
          <p:cNvPr id="9" name="Slide Number Placeholder 8"/>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86179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Csak cím">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lvl1pPr>
              <a:defRPr>
                <a:solidFill>
                  <a:srgbClr val="002060"/>
                </a:solidFill>
              </a:defRPr>
            </a:lvl1pPr>
          </a:lstStyle>
          <a:p>
            <a:r>
              <a:rPr lang="hu-HU"/>
              <a:t>Mintacím szerkesztése</a:t>
            </a:r>
            <a:endParaRPr lang="en-US" dirty="0"/>
          </a:p>
        </p:txBody>
      </p:sp>
      <p:sp>
        <p:nvSpPr>
          <p:cNvPr id="3" name="Date Placeholder 2"/>
          <p:cNvSpPr>
            <a:spLocks noGrp="1"/>
          </p:cNvSpPr>
          <p:nvPr>
            <p:ph type="dt" sz="half" idx="10"/>
          </p:nvPr>
        </p:nvSpPr>
        <p:spPr/>
        <p:txBody>
          <a:bodyPr/>
          <a:lstStyle/>
          <a:p>
            <a:fld id="{FB78DAAF-0C17-4703-AEE3-44267674DFC7}" type="datetimeFigureOut">
              <a:rPr lang="hu-HU" smtClean="0"/>
              <a:t>2024. 10. 10.</a:t>
            </a:fld>
            <a:endParaRPr lang="hu-HU"/>
          </a:p>
        </p:txBody>
      </p:sp>
      <p:sp>
        <p:nvSpPr>
          <p:cNvPr id="4" name="Footer Placeholder 3"/>
          <p:cNvSpPr>
            <a:spLocks noGrp="1"/>
          </p:cNvSpPr>
          <p:nvPr>
            <p:ph type="ftr" sz="quarter" idx="11"/>
          </p:nvPr>
        </p:nvSpPr>
        <p:spPr/>
        <p:txBody>
          <a:bodyPr/>
          <a:lstStyle/>
          <a:p>
            <a:endParaRPr lang="hu-HU"/>
          </a:p>
        </p:txBody>
      </p:sp>
      <p:sp>
        <p:nvSpPr>
          <p:cNvPr id="5" name="Slide Number Placeholder 4"/>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649301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78DAAF-0C17-4703-AEE3-44267674DFC7}" type="datetimeFigureOut">
              <a:rPr lang="hu-HU" smtClean="0"/>
              <a:t>2024. 10. 10.</a:t>
            </a:fld>
            <a:endParaRPr lang="hu-HU"/>
          </a:p>
        </p:txBody>
      </p:sp>
      <p:sp>
        <p:nvSpPr>
          <p:cNvPr id="3" name="Footer Placeholder 2"/>
          <p:cNvSpPr>
            <a:spLocks noGrp="1"/>
          </p:cNvSpPr>
          <p:nvPr>
            <p:ph type="ftr" sz="quarter" idx="11"/>
          </p:nvPr>
        </p:nvSpPr>
        <p:spPr/>
        <p:txBody>
          <a:bodyPr/>
          <a:lstStyle/>
          <a:p>
            <a:endParaRPr lang="hu-HU"/>
          </a:p>
        </p:txBody>
      </p:sp>
      <p:sp>
        <p:nvSpPr>
          <p:cNvPr id="4" name="Slide Number Placeholder 3"/>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1330477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400" b="1">
                <a:solidFill>
                  <a:srgbClr val="002060"/>
                </a:solidFill>
              </a:defRPr>
            </a:lvl1pPr>
          </a:lstStyle>
          <a:p>
            <a:r>
              <a:rPr lang="hu-HU"/>
              <a:t>Mintacím szerkesztése</a:t>
            </a:r>
            <a:endParaRPr lang="en-US" dirty="0"/>
          </a:p>
        </p:txBody>
      </p:sp>
      <p:sp>
        <p:nvSpPr>
          <p:cNvPr id="3" name="Content Placeholder 2"/>
          <p:cNvSpPr>
            <a:spLocks noGrp="1"/>
          </p:cNvSpPr>
          <p:nvPr>
            <p:ph idx="1"/>
          </p:nvPr>
        </p:nvSpPr>
        <p:spPr>
          <a:xfrm>
            <a:off x="628650" y="685800"/>
            <a:ext cx="5033772" cy="5020056"/>
          </a:xfrm>
        </p:spPr>
        <p:txBody>
          <a:bodyPr>
            <a:normAutofit/>
          </a:bodyPr>
          <a:lstStyle>
            <a:lvl1pPr>
              <a:buClr>
                <a:schemeClr val="accent3">
                  <a:lumMod val="75000"/>
                </a:schemeClr>
              </a:buClr>
              <a:defRPr sz="2400"/>
            </a:lvl1pPr>
            <a:lvl2pPr>
              <a:buClr>
                <a:schemeClr val="accent3">
                  <a:lumMod val="75000"/>
                </a:schemeClr>
              </a:buClr>
              <a:defRPr sz="2000"/>
            </a:lvl2pPr>
            <a:lvl3pPr>
              <a:buClr>
                <a:schemeClr val="accent3">
                  <a:lumMod val="75000"/>
                </a:schemeClr>
              </a:buClr>
              <a:defRPr sz="2000"/>
            </a:lvl3pPr>
            <a:lvl4pPr>
              <a:buClr>
                <a:schemeClr val="accent3">
                  <a:lumMod val="75000"/>
                </a:schemeClr>
              </a:buClr>
              <a:defRPr sz="2000"/>
            </a:lvl4pPr>
            <a:lvl5pPr>
              <a:buClr>
                <a:schemeClr val="accent3">
                  <a:lumMod val="75000"/>
                </a:schemeClr>
              </a:buClr>
              <a:defRPr sz="20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750"/>
              </a:spcBef>
              <a:buNone/>
              <a:defRPr sz="10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hu-HU"/>
              <a:t>Mintaszöveg szerkesztése</a:t>
            </a:r>
          </a:p>
        </p:txBody>
      </p:sp>
      <p:sp>
        <p:nvSpPr>
          <p:cNvPr id="5" name="Date Placeholder 4"/>
          <p:cNvSpPr>
            <a:spLocks noGrp="1"/>
          </p:cNvSpPr>
          <p:nvPr>
            <p:ph type="dt" sz="half" idx="10"/>
          </p:nvPr>
        </p:nvSpPr>
        <p:spPr/>
        <p:txBody>
          <a:bodyPr/>
          <a:lstStyle/>
          <a:p>
            <a:fld id="{FB78DAAF-0C17-4703-AEE3-44267674DFC7}" type="datetimeFigureOut">
              <a:rPr lang="hu-HU" smtClean="0"/>
              <a:t>2024. 10. 10.</a:t>
            </a:fld>
            <a:endParaRPr lang="hu-HU"/>
          </a:p>
        </p:txBody>
      </p:sp>
      <p:sp>
        <p:nvSpPr>
          <p:cNvPr id="6" name="Footer Placeholder 5"/>
          <p:cNvSpPr>
            <a:spLocks noGrp="1"/>
          </p:cNvSpPr>
          <p:nvPr>
            <p:ph type="ftr" sz="quarter" idx="11"/>
          </p:nvPr>
        </p:nvSpPr>
        <p:spPr/>
        <p:txBody>
          <a:bodyPr/>
          <a:lstStyle/>
          <a:p>
            <a:endParaRPr lang="hu-HU"/>
          </a:p>
        </p:txBody>
      </p:sp>
      <p:grpSp>
        <p:nvGrpSpPr>
          <p:cNvPr id="9" name="Group 8"/>
          <p:cNvGrpSpPr>
            <a:grpSpLocks noChangeAspect="1"/>
          </p:cNvGrpSpPr>
          <p:nvPr/>
        </p:nvGrpSpPr>
        <p:grpSpPr>
          <a:xfrm>
            <a:off x="8551294" y="6229681"/>
            <a:ext cx="3429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2563968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400" b="1">
                <a:solidFill>
                  <a:srgbClr val="002060"/>
                </a:solidFill>
              </a:defRPr>
            </a:lvl1pPr>
          </a:lstStyle>
          <a:p>
            <a:r>
              <a:rPr lang="hu-HU"/>
              <a:t>Mintacím szerkesztése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hu-HU"/>
              <a:t>Kép beszúrásához kattintson az ikonra</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750"/>
              </a:spcBef>
              <a:buNone/>
              <a:defRPr sz="1050">
                <a:solidFill>
                  <a:schemeClr val="accent1">
                    <a:lumMod val="75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hu-HU"/>
              <a:t>Mintaszöveg szerkesztése</a:t>
            </a:r>
          </a:p>
        </p:txBody>
      </p:sp>
      <p:sp>
        <p:nvSpPr>
          <p:cNvPr id="5" name="Date Placeholder 4"/>
          <p:cNvSpPr>
            <a:spLocks noGrp="1"/>
          </p:cNvSpPr>
          <p:nvPr>
            <p:ph type="dt" sz="half" idx="10"/>
          </p:nvPr>
        </p:nvSpPr>
        <p:spPr/>
        <p:txBody>
          <a:bodyPr/>
          <a:lstStyle/>
          <a:p>
            <a:fld id="{FB78DAAF-0C17-4703-AEE3-44267674DFC7}" type="datetimeFigureOut">
              <a:rPr lang="hu-HU" smtClean="0"/>
              <a:t>2024. 10. 10.</a:t>
            </a:fld>
            <a:endParaRPr lang="hu-HU"/>
          </a:p>
        </p:txBody>
      </p:sp>
      <p:grpSp>
        <p:nvGrpSpPr>
          <p:cNvPr id="8" name="Group 7"/>
          <p:cNvGrpSpPr>
            <a:grpSpLocks noChangeAspect="1"/>
          </p:cNvGrpSpPr>
          <p:nvPr/>
        </p:nvGrpSpPr>
        <p:grpSpPr>
          <a:xfrm>
            <a:off x="8551294" y="6229681"/>
            <a:ext cx="3429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2292946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2060"/>
                </a:solidFill>
              </a:defRPr>
            </a:lvl1pPr>
          </a:lstStyle>
          <a:p>
            <a:r>
              <a:rPr lang="hu-HU"/>
              <a:t>Mintacím szerkesztése</a:t>
            </a:r>
            <a:endParaRPr lang="en-US" dirty="0"/>
          </a:p>
        </p:txBody>
      </p:sp>
      <p:sp>
        <p:nvSpPr>
          <p:cNvPr id="3" name="Vertical Text Placeholder 2"/>
          <p:cNvSpPr>
            <a:spLocks noGrp="1"/>
          </p:cNvSpPr>
          <p:nvPr>
            <p:ph type="body" orient="vert" idx="1"/>
          </p:nvPr>
        </p:nvSpPr>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FB78DAAF-0C17-4703-AEE3-44267674DFC7}" type="datetimeFigureOut">
              <a:rPr lang="hu-HU" smtClean="0"/>
              <a:t>2024. 10. 10.</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3082205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p>
            <a:r>
              <a:rPr lang="hu-HU"/>
              <a:t>Mintacím szerkesztése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FB78DAAF-0C17-4703-AEE3-44267674DFC7}" type="datetimeFigureOut">
              <a:rPr lang="hu-HU" smtClean="0"/>
              <a:t>2024. 10. 10.</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19326752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Chart">
  <p:cSld name="Cím, szöveg és diagram">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467600" cy="990600"/>
          </a:xfrm>
        </p:spPr>
        <p:txBody>
          <a:bodyPr/>
          <a:lstStyle/>
          <a:p>
            <a:r>
              <a:rPr lang="hu-HU"/>
              <a:t>Mintacím szerkesztése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4" name="Chart Placeholder 3"/>
          <p:cNvSpPr>
            <a:spLocks noGrp="1"/>
          </p:cNvSpPr>
          <p:nvPr>
            <p:ph type="chart" sz="half" idx="2"/>
          </p:nvPr>
        </p:nvSpPr>
        <p:spPr>
          <a:xfrm>
            <a:off x="4648200" y="1981200"/>
            <a:ext cx="3810000" cy="4114800"/>
          </a:xfrm>
        </p:spPr>
        <p:txBody>
          <a:bodyPr rtlCol="0">
            <a:normAutofit/>
          </a:bodyPr>
          <a:lstStyle/>
          <a:p>
            <a:pPr lvl="0"/>
            <a:r>
              <a:rPr lang="hu-HU" noProof="0"/>
              <a:t>Diagram beszúrásához kattintson az ikonra</a:t>
            </a:r>
            <a:endParaRPr lang="en-US" noProof="0"/>
          </a:p>
        </p:txBody>
      </p:sp>
    </p:spTree>
    <p:extLst>
      <p:ext uri="{BB962C8B-B14F-4D97-AF65-F5344CB8AC3E}">
        <p14:creationId xmlns:p14="http://schemas.microsoft.com/office/powerpoint/2010/main" val="3442995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alphaModFix amt="8000"/>
            <a:lum/>
          </a:blip>
          <a:srcRect/>
          <a:stretch>
            <a:fillRect t="-11000" b="-1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02386" y="484632"/>
            <a:ext cx="7543800" cy="1609344"/>
          </a:xfrm>
          <a:prstGeom prst="rect">
            <a:avLst/>
          </a:prstGeom>
        </p:spPr>
        <p:txBody>
          <a:bodyPr vert="horz" lIns="91440" tIns="45720" rIns="91440" bIns="45720" rtlCol="0" anchor="ctr">
            <a:normAutofit/>
          </a:bodyPr>
          <a:lstStyle/>
          <a:p>
            <a:r>
              <a:rPr lang="hu-HU"/>
              <a:t>Mintacím szerkesztése</a:t>
            </a:r>
            <a:endParaRPr lang="en-US" dirty="0"/>
          </a:p>
        </p:txBody>
      </p:sp>
      <p:sp>
        <p:nvSpPr>
          <p:cNvPr id="3" name="Text Placeholder 2"/>
          <p:cNvSpPr>
            <a:spLocks noGrp="1"/>
          </p:cNvSpPr>
          <p:nvPr>
            <p:ph type="body" idx="1"/>
          </p:nvPr>
        </p:nvSpPr>
        <p:spPr>
          <a:xfrm>
            <a:off x="802386" y="2121408"/>
            <a:ext cx="7543800" cy="4050792"/>
          </a:xfrm>
          <a:prstGeom prst="rect">
            <a:avLst/>
          </a:prstGeom>
        </p:spPr>
        <p:txBody>
          <a:bodyPr vert="horz" lIns="91440" tIns="45720" rIns="91440" bIns="45720" rtlCol="0">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2"/>
          </p:nvPr>
        </p:nvSpPr>
        <p:spPr>
          <a:xfrm>
            <a:off x="5973318" y="6272785"/>
            <a:ext cx="2455164" cy="365125"/>
          </a:xfrm>
          <a:prstGeom prst="rect">
            <a:avLst/>
          </a:prstGeom>
        </p:spPr>
        <p:txBody>
          <a:bodyPr vert="horz" lIns="91440" tIns="45720" rIns="91440" bIns="45720" rtlCol="0" anchor="ctr"/>
          <a:lstStyle>
            <a:lvl1pPr algn="r">
              <a:defRPr sz="825">
                <a:solidFill>
                  <a:schemeClr val="tx2"/>
                </a:solidFill>
              </a:defRPr>
            </a:lvl1pPr>
          </a:lstStyle>
          <a:p>
            <a:fld id="{FB78DAAF-0C17-4703-AEE3-44267674DFC7}" type="datetimeFigureOut">
              <a:rPr lang="hu-HU" smtClean="0"/>
              <a:t>2024. 10. 10.</a:t>
            </a:fld>
            <a:endParaRPr lang="hu-HU"/>
          </a:p>
        </p:txBody>
      </p:sp>
      <p:sp>
        <p:nvSpPr>
          <p:cNvPr id="5" name="Footer Placeholder 4"/>
          <p:cNvSpPr>
            <a:spLocks noGrp="1"/>
          </p:cNvSpPr>
          <p:nvPr>
            <p:ph type="ftr" sz="quarter" idx="3"/>
          </p:nvPr>
        </p:nvSpPr>
        <p:spPr>
          <a:xfrm>
            <a:off x="816102" y="6272785"/>
            <a:ext cx="4745736" cy="365125"/>
          </a:xfrm>
          <a:prstGeom prst="rect">
            <a:avLst/>
          </a:prstGeom>
        </p:spPr>
        <p:txBody>
          <a:bodyPr vert="horz" lIns="91440" tIns="45720" rIns="91440" bIns="45720" rtlCol="0" anchor="ctr"/>
          <a:lstStyle>
            <a:lvl1pPr algn="l">
              <a:defRPr sz="825">
                <a:solidFill>
                  <a:schemeClr val="tx2"/>
                </a:solidFill>
              </a:defRPr>
            </a:lvl1pPr>
          </a:lstStyle>
          <a:p>
            <a:endParaRPr lang="hu-HU"/>
          </a:p>
        </p:txBody>
      </p:sp>
      <p:grpSp>
        <p:nvGrpSpPr>
          <p:cNvPr id="7" name="Group 6"/>
          <p:cNvGrpSpPr>
            <a:grpSpLocks noChangeAspect="1"/>
          </p:cNvGrpSpPr>
          <p:nvPr/>
        </p:nvGrpSpPr>
        <p:grpSpPr>
          <a:xfrm>
            <a:off x="8551294" y="6229681"/>
            <a:ext cx="3429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5">
                <a:duotone>
                  <a:schemeClr val="accent1">
                    <a:shade val="45000"/>
                    <a:satMod val="135000"/>
                  </a:schemeClr>
                  <a:prstClr val="white"/>
                </a:duotone>
                <a:extLst>
                  <a:ext uri="{BEBA8EAE-BF5A-486C-A8C5-ECC9F3942E4B}">
                    <a14:imgProps xmlns:a14="http://schemas.microsoft.com/office/drawing/2010/main">
                      <a14:imgLayer r:embed="rId16">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050" b="1">
                <a:solidFill>
                  <a:srgbClr val="FFFFFF"/>
                </a:solidFill>
                <a:latin typeface="+mj-lt"/>
              </a:defRPr>
            </a:lvl1pPr>
          </a:lstStyle>
          <a:p>
            <a:fld id="{1209D428-69BB-4D9A-8FAB-16C0194CC2DE}" type="slidenum">
              <a:rPr lang="hu-HU" smtClean="0"/>
              <a:t>‹#›</a:t>
            </a:fld>
            <a:endParaRPr lang="hu-HU"/>
          </a:p>
        </p:txBody>
      </p:sp>
    </p:spTree>
    <p:extLst>
      <p:ext uri="{BB962C8B-B14F-4D97-AF65-F5344CB8AC3E}">
        <p14:creationId xmlns:p14="http://schemas.microsoft.com/office/powerpoint/2010/main" val="2822716443"/>
      </p:ext>
    </p:extLst>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 id="2147483915" r:id="rId12"/>
  </p:sldLayoutIdLst>
  <p:txStyles>
    <p:titleStyle>
      <a:lvl1pPr algn="l" defTabSz="685800" rtl="0" eaLnBrk="1" latinLnBrk="0" hangingPunct="1">
        <a:lnSpc>
          <a:spcPct val="90000"/>
        </a:lnSpc>
        <a:spcBef>
          <a:spcPct val="0"/>
        </a:spcBef>
        <a:buNone/>
        <a:defRPr sz="4050" kern="1200" cap="all" baseline="0">
          <a:solidFill>
            <a:srgbClr val="002060"/>
          </a:solidFill>
          <a:latin typeface="+mj-lt"/>
          <a:ea typeface="+mj-ea"/>
          <a:cs typeface="+mj-cs"/>
        </a:defRPr>
      </a:lvl1pPr>
    </p:titleStyle>
    <p:bodyStyle>
      <a:lvl1pPr marL="137160" indent="-137160" algn="l" defTabSz="685800" rtl="0" eaLnBrk="1" latinLnBrk="0" hangingPunct="1">
        <a:lnSpc>
          <a:spcPct val="90000"/>
        </a:lnSpc>
        <a:spcBef>
          <a:spcPts val="900"/>
        </a:spcBef>
        <a:buClr>
          <a:schemeClr val="accent1">
            <a:lumMod val="75000"/>
          </a:schemeClr>
        </a:buClr>
        <a:buSzPct val="85000"/>
        <a:buFont typeface="Wingdings" pitchFamily="2" charset="2"/>
        <a:buChar char="§"/>
        <a:defRPr sz="1500" kern="1200">
          <a:solidFill>
            <a:schemeClr val="tx1"/>
          </a:solidFill>
          <a:latin typeface="+mn-lt"/>
          <a:ea typeface="+mn-ea"/>
          <a:cs typeface="+mn-cs"/>
        </a:defRPr>
      </a:lvl1pPr>
      <a:lvl2pPr marL="34290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350" kern="1200">
          <a:solidFill>
            <a:schemeClr val="tx1"/>
          </a:solidFill>
          <a:latin typeface="+mn-lt"/>
          <a:ea typeface="+mn-ea"/>
          <a:cs typeface="+mn-cs"/>
        </a:defRPr>
      </a:lvl2pPr>
      <a:lvl3pPr marL="54864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3pPr>
      <a:lvl4pPr marL="75438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4pPr>
      <a:lvl5pPr marL="96012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5pPr>
      <a:lvl6pPr marL="1200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6pPr>
      <a:lvl7pPr marL="1425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7pPr>
      <a:lvl8pPr marL="1650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8pPr>
      <a:lvl9pPr marL="1875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0.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41.png"/><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0.png"/><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image" Target="../media/image8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2" Type="http://schemas.openxmlformats.org/officeDocument/2006/relationships/hyperlink" Target="https://www.mathworks.com/help/examples.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ctrTitle"/>
          </p:nvPr>
        </p:nvSpPr>
        <p:spPr>
          <a:xfrm>
            <a:off x="486032" y="758952"/>
            <a:ext cx="8328454" cy="2670048"/>
          </a:xfrm>
        </p:spPr>
        <p:txBody>
          <a:bodyPr>
            <a:noAutofit/>
          </a:bodyPr>
          <a:lstStyle/>
          <a:p>
            <a:r>
              <a:rPr lang="en-US" sz="4000" dirty="0"/>
              <a:t>Applied Statistics,</a:t>
            </a:r>
            <a:br>
              <a:rPr lang="en-US" sz="4000" dirty="0"/>
            </a:br>
            <a:r>
              <a:rPr lang="en-US" sz="4000" dirty="0"/>
              <a:t>Probability theory and mathematical statistics</a:t>
            </a:r>
            <a:endParaRPr lang="en-GB" sz="4000" dirty="0"/>
          </a:p>
        </p:txBody>
      </p:sp>
      <p:sp>
        <p:nvSpPr>
          <p:cNvPr id="3" name="Alcím 2"/>
          <p:cNvSpPr>
            <a:spLocks noGrp="1"/>
          </p:cNvSpPr>
          <p:nvPr>
            <p:ph type="subTitle" idx="1"/>
          </p:nvPr>
        </p:nvSpPr>
        <p:spPr/>
        <p:txBody>
          <a:bodyPr/>
          <a:lstStyle/>
          <a:p>
            <a:r>
              <a:rPr lang="en-US" dirty="0"/>
              <a:t>General notion of random variables</a:t>
            </a:r>
          </a:p>
          <a:p>
            <a:endParaRPr lang="en-US" dirty="0"/>
          </a:p>
        </p:txBody>
      </p:sp>
      <p:sp>
        <p:nvSpPr>
          <p:cNvPr id="4" name="Szövegdoboz 3">
            <a:extLst>
              <a:ext uri="{FF2B5EF4-FFF2-40B4-BE49-F238E27FC236}">
                <a16:creationId xmlns:a16="http://schemas.microsoft.com/office/drawing/2014/main" id="{002A1929-D361-4830-B28B-82105341B8EC}"/>
              </a:ext>
            </a:extLst>
          </p:cNvPr>
          <p:cNvSpPr txBox="1"/>
          <p:nvPr/>
        </p:nvSpPr>
        <p:spPr>
          <a:xfrm>
            <a:off x="2241176" y="3542200"/>
            <a:ext cx="4652683" cy="400110"/>
          </a:xfrm>
          <a:prstGeom prst="rect">
            <a:avLst/>
          </a:prstGeom>
          <a:noFill/>
        </p:spPr>
        <p:txBody>
          <a:bodyPr wrap="square" rtlCol="0">
            <a:spAutoFit/>
          </a:bodyPr>
          <a:lstStyle/>
          <a:p>
            <a:r>
              <a:rPr lang="hu-HU" sz="2000" dirty="0"/>
              <a:t>Attila Barta, Sándor Pecsora</a:t>
            </a:r>
          </a:p>
        </p:txBody>
      </p:sp>
    </p:spTree>
    <p:extLst>
      <p:ext uri="{BB962C8B-B14F-4D97-AF65-F5344CB8AC3E}">
        <p14:creationId xmlns:p14="http://schemas.microsoft.com/office/powerpoint/2010/main" val="3735662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US" dirty="0">
                <a:solidFill>
                  <a:srgbClr val="92D050"/>
                </a:solidFill>
                <a:cs typeface="Arial" panose="020B0604020202020204" pitchFamily="34" charset="0"/>
              </a:rPr>
              <a:t>Exercise </a:t>
            </a:r>
            <a:r>
              <a:rPr lang="hu-HU" dirty="0">
                <a:solidFill>
                  <a:srgbClr val="92D050"/>
                </a:solidFill>
                <a:cs typeface="Arial" panose="020B0604020202020204" pitchFamily="34" charset="0"/>
              </a:rPr>
              <a:t>9</a:t>
            </a:r>
            <a:r>
              <a:rPr lang="en-US" dirty="0">
                <a:solidFill>
                  <a:srgbClr val="92D050"/>
                </a:solidFill>
                <a:cs typeface="Arial" panose="020B0604020202020204" pitchFamily="34" charset="0"/>
              </a:rPr>
              <a:t>.</a:t>
            </a:r>
            <a:r>
              <a:rPr lang="hu-HU" dirty="0">
                <a:solidFill>
                  <a:srgbClr val="92D050"/>
                </a:solidFill>
                <a:cs typeface="Arial" panose="020B0604020202020204" pitchFamily="34" charset="0"/>
              </a:rPr>
              <a:t>3</a:t>
            </a:r>
            <a:endParaRPr lang="en-GB" dirty="0"/>
          </a:p>
        </p:txBody>
      </p:sp>
      <mc:AlternateContent xmlns:mc="http://schemas.openxmlformats.org/markup-compatibility/2006" xmlns:a14="http://schemas.microsoft.com/office/drawing/2010/main">
        <mc:Choice Requires="a14">
          <p:sp>
            <p:nvSpPr>
              <p:cNvPr id="3" name="Tartalom helye 2"/>
              <p:cNvSpPr>
                <a:spLocks noGrp="1"/>
              </p:cNvSpPr>
              <p:nvPr>
                <p:ph idx="1"/>
              </p:nvPr>
            </p:nvSpPr>
            <p:spPr>
              <a:xfrm>
                <a:off x="822959" y="1845733"/>
                <a:ext cx="7543801" cy="2482427"/>
              </a:xfrm>
            </p:spPr>
            <p:txBody>
              <a:bodyPr>
                <a:noAutofit/>
              </a:bodyPr>
              <a:lstStyle/>
              <a:p>
                <a:pPr algn="just"/>
                <a:r>
                  <a:rPr lang="en-US" sz="1600" dirty="0"/>
                  <a:t>Check whether the following functions are cumulative distribution functions or not.</a:t>
                </a:r>
                <a:endParaRPr lang="hu-HU" sz="1600" b="0" i="1" dirty="0">
                  <a:solidFill>
                    <a:schemeClr val="tx1"/>
                  </a:solidFill>
                  <a:latin typeface="Cambria Math" panose="02040503050406030204" pitchFamily="18" charset="0"/>
                </a:endParaRPr>
              </a:p>
              <a:p>
                <a:pPr marL="457200" indent="-457200">
                  <a:buClrTx/>
                  <a:buFont typeface="+mj-lt"/>
                  <a:buAutoNum type="alphaLcParenR"/>
                </a:pPr>
                <a14:m>
                  <m:oMath xmlns:m="http://schemas.openxmlformats.org/officeDocument/2006/math">
                    <m:r>
                      <a:rPr lang="hu-HU" sz="1600" b="0" i="1" dirty="0" smtClean="0">
                        <a:latin typeface="Cambria Math" panose="02040503050406030204" pitchFamily="18" charset="0"/>
                      </a:rPr>
                      <m:t>𝐹</m:t>
                    </m:r>
                    <m:d>
                      <m:dPr>
                        <m:ctrlPr>
                          <a:rPr lang="hu-HU" sz="1600" b="0" i="1" dirty="0" smtClean="0">
                            <a:latin typeface="Cambria Math" panose="02040503050406030204" pitchFamily="18" charset="0"/>
                          </a:rPr>
                        </m:ctrlPr>
                      </m:dPr>
                      <m:e>
                        <m:r>
                          <a:rPr lang="hu-HU" sz="1600" b="0" i="1" dirty="0" smtClean="0">
                            <a:latin typeface="Cambria Math" panose="02040503050406030204" pitchFamily="18" charset="0"/>
                          </a:rPr>
                          <m:t>𝑥</m:t>
                        </m:r>
                      </m:e>
                    </m:d>
                    <m:r>
                      <a:rPr lang="hu-HU" sz="1600" b="0" i="1" dirty="0" smtClean="0">
                        <a:latin typeface="Cambria Math" panose="02040503050406030204" pitchFamily="18" charset="0"/>
                      </a:rPr>
                      <m:t>≔</m:t>
                    </m:r>
                    <m:d>
                      <m:dPr>
                        <m:begChr m:val="{"/>
                        <m:endChr m:val=""/>
                        <m:ctrlPr>
                          <a:rPr lang="hu-HU" sz="1600" b="0" i="1" dirty="0" smtClean="0">
                            <a:latin typeface="Cambria Math" panose="02040503050406030204" pitchFamily="18" charset="0"/>
                          </a:rPr>
                        </m:ctrlPr>
                      </m:dPr>
                      <m:e>
                        <m:m>
                          <m:mPr>
                            <m:mcs>
                              <m:mc>
                                <m:mcPr>
                                  <m:count m:val="1"/>
                                  <m:mcJc m:val="center"/>
                                </m:mcPr>
                              </m:mc>
                            </m:mcs>
                            <m:ctrlPr>
                              <a:rPr lang="hu-HU" sz="1600" b="0" i="1" dirty="0" smtClean="0">
                                <a:latin typeface="Cambria Math" panose="02040503050406030204" pitchFamily="18" charset="0"/>
                              </a:rPr>
                            </m:ctrlPr>
                          </m:mPr>
                          <m:mr>
                            <m:e>
                              <m:r>
                                <m:rPr>
                                  <m:brk m:alnAt="7"/>
                                </m:rPr>
                                <a:rPr lang="hu-HU" sz="1600" b="0" i="1" dirty="0" smtClean="0">
                                  <a:latin typeface="Cambria Math" panose="02040503050406030204" pitchFamily="18" charset="0"/>
                                </a:rPr>
                                <m:t>0</m:t>
                              </m:r>
                              <m:r>
                                <a:rPr lang="hu-HU" sz="1600" b="0" i="1" dirty="0" smtClean="0">
                                  <a:latin typeface="Cambria Math" panose="02040503050406030204" pitchFamily="18" charset="0"/>
                                </a:rPr>
                                <m:t>, </m:t>
                              </m:r>
                              <m:r>
                                <a:rPr lang="hu-HU" sz="1600" b="0" i="1" dirty="0" smtClean="0">
                                  <a:latin typeface="Cambria Math" panose="02040503050406030204" pitchFamily="18" charset="0"/>
                                </a:rPr>
                                <m:t>𝑖𝑓</m:t>
                              </m:r>
                              <m:r>
                                <a:rPr lang="hu-HU" sz="1600" b="0" i="1" dirty="0" smtClean="0">
                                  <a:latin typeface="Cambria Math" panose="02040503050406030204" pitchFamily="18" charset="0"/>
                                </a:rPr>
                                <m:t> </m:t>
                              </m:r>
                              <m:r>
                                <a:rPr lang="hu-HU" sz="1600" b="0" i="1" dirty="0" smtClean="0">
                                  <a:latin typeface="Cambria Math" panose="02040503050406030204" pitchFamily="18" charset="0"/>
                                </a:rPr>
                                <m:t>𝑥</m:t>
                              </m:r>
                              <m:r>
                                <a:rPr lang="hu-HU" sz="1600" b="0" i="1" dirty="0" smtClean="0">
                                  <a:latin typeface="Cambria Math" panose="02040503050406030204" pitchFamily="18" charset="0"/>
                                </a:rPr>
                                <m:t>&lt;1/2</m:t>
                              </m:r>
                            </m:e>
                          </m:mr>
                          <m:mr>
                            <m:e>
                              <m:f>
                                <m:fPr>
                                  <m:ctrlPr>
                                    <a:rPr lang="hu-HU" sz="1600" b="0" i="1" dirty="0" smtClean="0">
                                      <a:latin typeface="Cambria Math" panose="02040503050406030204" pitchFamily="18" charset="0"/>
                                    </a:rPr>
                                  </m:ctrlPr>
                                </m:fPr>
                                <m:num>
                                  <m:r>
                                    <a:rPr lang="hu-HU" sz="1600" b="0" i="1" dirty="0" smtClean="0">
                                      <a:latin typeface="Cambria Math" panose="02040503050406030204" pitchFamily="18" charset="0"/>
                                    </a:rPr>
                                    <m:t>𝑥</m:t>
                                  </m:r>
                                  <m:r>
                                    <a:rPr lang="hu-HU" sz="1600" b="0" i="1" dirty="0" smtClean="0">
                                      <a:latin typeface="Cambria Math" panose="02040503050406030204" pitchFamily="18" charset="0"/>
                                    </a:rPr>
                                    <m:t>−1</m:t>
                                  </m:r>
                                </m:num>
                                <m:den>
                                  <m:r>
                                    <a:rPr lang="hu-HU" sz="1600" b="0" i="1" dirty="0" smtClean="0">
                                      <a:latin typeface="Cambria Math" panose="02040503050406030204" pitchFamily="18" charset="0"/>
                                    </a:rPr>
                                    <m:t>𝑥</m:t>
                                  </m:r>
                                  <m:r>
                                    <a:rPr lang="hu-HU" sz="1600" b="0" i="1" dirty="0" smtClean="0">
                                      <a:latin typeface="Cambria Math" panose="02040503050406030204" pitchFamily="18" charset="0"/>
                                    </a:rPr>
                                    <m:t>+1</m:t>
                                  </m:r>
                                </m:den>
                              </m:f>
                              <m:r>
                                <a:rPr lang="hu-HU" sz="1600" b="0" i="1" dirty="0" smtClean="0">
                                  <a:latin typeface="Cambria Math" panose="02040503050406030204" pitchFamily="18" charset="0"/>
                                </a:rPr>
                                <m:t>, </m:t>
                              </m:r>
                              <m:r>
                                <a:rPr lang="hu-HU" sz="1600" b="0" i="1" dirty="0" smtClean="0">
                                  <a:latin typeface="Cambria Math" panose="02040503050406030204" pitchFamily="18" charset="0"/>
                                </a:rPr>
                                <m:t>𝑖𝑓</m:t>
                              </m:r>
                              <m:r>
                                <a:rPr lang="hu-HU" sz="1600" b="0" i="1" dirty="0" smtClean="0">
                                  <a:latin typeface="Cambria Math" panose="02040503050406030204" pitchFamily="18" charset="0"/>
                                </a:rPr>
                                <m:t> </m:t>
                              </m:r>
                              <m:r>
                                <a:rPr lang="hu-HU" sz="1600" b="0" i="1" dirty="0" smtClean="0">
                                  <a:latin typeface="Cambria Math" panose="02040503050406030204" pitchFamily="18" charset="0"/>
                                </a:rPr>
                                <m:t>𝑥</m:t>
                              </m:r>
                              <m:r>
                                <a:rPr lang="hu-HU" sz="1600" b="0" i="1" dirty="0" smtClean="0">
                                  <a:latin typeface="Cambria Math" panose="02040503050406030204" pitchFamily="18" charset="0"/>
                                </a:rPr>
                                <m:t>≥1/2</m:t>
                              </m:r>
                            </m:e>
                          </m:mr>
                        </m:m>
                      </m:e>
                    </m:d>
                  </m:oMath>
                </a14:m>
                <a:endParaRPr lang="hu-HU" sz="1600" dirty="0"/>
              </a:p>
              <a:p>
                <a:pPr marL="457200" indent="-457200">
                  <a:buClrTx/>
                  <a:buFont typeface="+mj-lt"/>
                  <a:buAutoNum type="alphaLcParenR"/>
                </a:pPr>
                <a:endParaRPr lang="hu-HU" sz="1600" dirty="0"/>
              </a:p>
              <a:p>
                <a:pPr marL="457200" indent="-457200">
                  <a:buClrTx/>
                  <a:buFont typeface="+mj-lt"/>
                  <a:buAutoNum type="alphaLcParenR"/>
                </a:pPr>
                <a14:m>
                  <m:oMath xmlns:m="http://schemas.openxmlformats.org/officeDocument/2006/math">
                    <m:r>
                      <a:rPr lang="hu-HU" sz="1600" i="1" dirty="0">
                        <a:latin typeface="Cambria Math" panose="02040503050406030204" pitchFamily="18" charset="0"/>
                      </a:rPr>
                      <m:t>𝐹</m:t>
                    </m:r>
                    <m:d>
                      <m:dPr>
                        <m:ctrlPr>
                          <a:rPr lang="hu-HU" sz="1600" i="1" dirty="0">
                            <a:latin typeface="Cambria Math" panose="02040503050406030204" pitchFamily="18" charset="0"/>
                          </a:rPr>
                        </m:ctrlPr>
                      </m:dPr>
                      <m:e>
                        <m:r>
                          <a:rPr lang="hu-HU" sz="1600" i="1" dirty="0">
                            <a:latin typeface="Cambria Math" panose="02040503050406030204" pitchFamily="18" charset="0"/>
                          </a:rPr>
                          <m:t>𝑥</m:t>
                        </m:r>
                      </m:e>
                    </m:d>
                    <m:r>
                      <a:rPr lang="hu-HU" sz="1600" i="1" dirty="0">
                        <a:latin typeface="Cambria Math" panose="02040503050406030204" pitchFamily="18" charset="0"/>
                      </a:rPr>
                      <m:t>≔</m:t>
                    </m:r>
                    <m:d>
                      <m:dPr>
                        <m:begChr m:val="{"/>
                        <m:endChr m:val=""/>
                        <m:ctrlPr>
                          <a:rPr lang="hu-HU" sz="1600" i="1" dirty="0">
                            <a:latin typeface="Cambria Math" panose="02040503050406030204" pitchFamily="18" charset="0"/>
                          </a:rPr>
                        </m:ctrlPr>
                      </m:dPr>
                      <m:e>
                        <m:m>
                          <m:mPr>
                            <m:mcs>
                              <m:mc>
                                <m:mcPr>
                                  <m:count m:val="1"/>
                                  <m:mcJc m:val="center"/>
                                </m:mcPr>
                              </m:mc>
                            </m:mcs>
                            <m:ctrlPr>
                              <a:rPr lang="hu-HU" sz="1600" i="1" dirty="0">
                                <a:latin typeface="Cambria Math" panose="02040503050406030204" pitchFamily="18" charset="0"/>
                              </a:rPr>
                            </m:ctrlPr>
                          </m:mPr>
                          <m:mr>
                            <m:e>
                              <m:r>
                                <m:rPr>
                                  <m:brk m:alnAt="7"/>
                                </m:rPr>
                                <a:rPr lang="hu-HU" sz="1600" i="1" dirty="0">
                                  <a:latin typeface="Cambria Math" panose="02040503050406030204" pitchFamily="18" charset="0"/>
                                </a:rPr>
                                <m:t>0</m:t>
                              </m:r>
                              <m:r>
                                <a:rPr lang="hu-HU" sz="1600" i="1" dirty="0">
                                  <a:latin typeface="Cambria Math" panose="02040503050406030204" pitchFamily="18" charset="0"/>
                                </a:rPr>
                                <m:t>, </m:t>
                              </m:r>
                              <m:r>
                                <a:rPr lang="hu-HU" sz="1600" i="1" dirty="0">
                                  <a:latin typeface="Cambria Math" panose="02040503050406030204" pitchFamily="18" charset="0"/>
                                </a:rPr>
                                <m:t>𝑖𝑓</m:t>
                              </m:r>
                              <m:r>
                                <a:rPr lang="hu-HU" sz="1600" i="1" dirty="0">
                                  <a:latin typeface="Cambria Math" panose="02040503050406030204" pitchFamily="18" charset="0"/>
                                </a:rPr>
                                <m:t> </m:t>
                              </m:r>
                              <m:r>
                                <a:rPr lang="hu-HU" sz="1600" i="1" dirty="0">
                                  <a:latin typeface="Cambria Math" panose="02040503050406030204" pitchFamily="18" charset="0"/>
                                </a:rPr>
                                <m:t>𝑥</m:t>
                              </m:r>
                              <m:r>
                                <a:rPr lang="hu-HU" sz="1600" i="1" dirty="0">
                                  <a:latin typeface="Cambria Math" panose="02040503050406030204" pitchFamily="18" charset="0"/>
                                </a:rPr>
                                <m:t>&lt;1</m:t>
                              </m:r>
                            </m:e>
                          </m:mr>
                          <m:mr>
                            <m:e>
                              <m:f>
                                <m:fPr>
                                  <m:ctrlPr>
                                    <a:rPr lang="hu-HU" sz="1600" i="1" dirty="0">
                                      <a:latin typeface="Cambria Math" panose="02040503050406030204" pitchFamily="18" charset="0"/>
                                    </a:rPr>
                                  </m:ctrlPr>
                                </m:fPr>
                                <m:num>
                                  <m:r>
                                    <a:rPr lang="hu-HU" sz="1600" i="1" dirty="0">
                                      <a:latin typeface="Cambria Math" panose="02040503050406030204" pitchFamily="18" charset="0"/>
                                    </a:rPr>
                                    <m:t>𝑥</m:t>
                                  </m:r>
                                  <m:r>
                                    <a:rPr lang="hu-HU" sz="1600" i="1" dirty="0">
                                      <a:latin typeface="Cambria Math" panose="02040503050406030204" pitchFamily="18" charset="0"/>
                                    </a:rPr>
                                    <m:t>−1</m:t>
                                  </m:r>
                                </m:num>
                                <m:den>
                                  <m:r>
                                    <a:rPr lang="hu-HU" sz="1600" i="1" dirty="0">
                                      <a:latin typeface="Cambria Math" panose="02040503050406030204" pitchFamily="18" charset="0"/>
                                    </a:rPr>
                                    <m:t>𝑥</m:t>
                                  </m:r>
                                  <m:r>
                                    <a:rPr lang="hu-HU" sz="1600" i="1" dirty="0">
                                      <a:latin typeface="Cambria Math" panose="02040503050406030204" pitchFamily="18" charset="0"/>
                                    </a:rPr>
                                    <m:t>+1</m:t>
                                  </m:r>
                                </m:den>
                              </m:f>
                              <m:r>
                                <a:rPr lang="hu-HU" sz="1600" i="1" dirty="0">
                                  <a:latin typeface="Cambria Math" panose="02040503050406030204" pitchFamily="18" charset="0"/>
                                </a:rPr>
                                <m:t>, </m:t>
                              </m:r>
                              <m:r>
                                <a:rPr lang="hu-HU" sz="1600" i="1" dirty="0">
                                  <a:latin typeface="Cambria Math" panose="02040503050406030204" pitchFamily="18" charset="0"/>
                                </a:rPr>
                                <m:t>𝑖𝑓</m:t>
                              </m:r>
                              <m:r>
                                <a:rPr lang="hu-HU" sz="1600" i="1" dirty="0">
                                  <a:latin typeface="Cambria Math" panose="02040503050406030204" pitchFamily="18" charset="0"/>
                                </a:rPr>
                                <m:t> </m:t>
                              </m:r>
                              <m:r>
                                <a:rPr lang="hu-HU" sz="1600" i="1" dirty="0">
                                  <a:latin typeface="Cambria Math" panose="02040503050406030204" pitchFamily="18" charset="0"/>
                                </a:rPr>
                                <m:t>𝑥</m:t>
                              </m:r>
                              <m:r>
                                <a:rPr lang="hu-HU" sz="1600" i="1" dirty="0">
                                  <a:latin typeface="Cambria Math" panose="02040503050406030204" pitchFamily="18" charset="0"/>
                                </a:rPr>
                                <m:t>≥1</m:t>
                              </m:r>
                            </m:e>
                          </m:mr>
                        </m:m>
                      </m:e>
                    </m:d>
                  </m:oMath>
                </a14:m>
                <a:endParaRPr lang="en-GB" sz="1600" dirty="0"/>
              </a:p>
            </p:txBody>
          </p:sp>
        </mc:Choice>
        <mc:Fallback xmlns="">
          <p:sp>
            <p:nvSpPr>
              <p:cNvPr id="3" name="Tartalom helye 2"/>
              <p:cNvSpPr>
                <a:spLocks noGrp="1" noRot="1" noChangeAspect="1" noMove="1" noResize="1" noEditPoints="1" noAdjustHandles="1" noChangeArrowheads="1" noChangeShapeType="1" noTextEdit="1"/>
              </p:cNvSpPr>
              <p:nvPr>
                <p:ph idx="1"/>
              </p:nvPr>
            </p:nvSpPr>
            <p:spPr>
              <a:xfrm>
                <a:off x="822959" y="1845733"/>
                <a:ext cx="7543801" cy="2482427"/>
              </a:xfrm>
              <a:blipFill rotWithShape="0">
                <a:blip r:embed="rId2"/>
                <a:stretch>
                  <a:fillRect l="-404" t="-172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Szövegdoboz 3"/>
              <p:cNvSpPr txBox="1"/>
              <p:nvPr/>
            </p:nvSpPr>
            <p:spPr>
              <a:xfrm>
                <a:off x="454659" y="4837006"/>
                <a:ext cx="5018169" cy="4667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hu-HU" sz="1600" b="0" i="1" smtClean="0">
                          <a:latin typeface="Cambria Math" panose="02040503050406030204" pitchFamily="18" charset="0"/>
                        </a:rPr>
                        <m:t>𝑎</m:t>
                      </m:r>
                      <m:r>
                        <a:rPr lang="hu-HU" sz="1600" b="0" i="1" smtClean="0">
                          <a:latin typeface="Cambria Math" panose="02040503050406030204" pitchFamily="18" charset="0"/>
                        </a:rPr>
                        <m:t>) </m:t>
                      </m:r>
                      <m:r>
                        <a:rPr lang="hu-HU" sz="1600" b="0" i="1" smtClean="0">
                          <a:latin typeface="Cambria Math" panose="02040503050406030204" pitchFamily="18" charset="0"/>
                        </a:rPr>
                        <m:t>𝑇h𝑒</m:t>
                      </m:r>
                      <m:r>
                        <a:rPr lang="hu-HU" sz="1600" b="0" i="1" smtClean="0">
                          <a:latin typeface="Cambria Math" panose="02040503050406030204" pitchFamily="18" charset="0"/>
                        </a:rPr>
                        <m:t> </m:t>
                      </m:r>
                      <m:f>
                        <m:fPr>
                          <m:ctrlPr>
                            <a:rPr lang="hu-HU" sz="1600" i="1" dirty="0">
                              <a:latin typeface="Cambria Math" panose="02040503050406030204" pitchFamily="18" charset="0"/>
                            </a:rPr>
                          </m:ctrlPr>
                        </m:fPr>
                        <m:num>
                          <m:r>
                            <a:rPr lang="hu-HU" sz="1600" i="1" dirty="0">
                              <a:latin typeface="Cambria Math" panose="02040503050406030204" pitchFamily="18" charset="0"/>
                            </a:rPr>
                            <m:t>𝑥</m:t>
                          </m:r>
                          <m:r>
                            <a:rPr lang="hu-HU" sz="1600" i="1" dirty="0">
                              <a:latin typeface="Cambria Math" panose="02040503050406030204" pitchFamily="18" charset="0"/>
                            </a:rPr>
                            <m:t>−1</m:t>
                          </m:r>
                        </m:num>
                        <m:den>
                          <m:r>
                            <a:rPr lang="hu-HU" sz="1600" i="1" dirty="0">
                              <a:latin typeface="Cambria Math" panose="02040503050406030204" pitchFamily="18" charset="0"/>
                            </a:rPr>
                            <m:t>𝑥</m:t>
                          </m:r>
                          <m:r>
                            <a:rPr lang="hu-HU" sz="1600" i="1" dirty="0">
                              <a:latin typeface="Cambria Math" panose="02040503050406030204" pitchFamily="18" charset="0"/>
                            </a:rPr>
                            <m:t>+1</m:t>
                          </m:r>
                        </m:den>
                      </m:f>
                      <m:r>
                        <a:rPr lang="hu-HU" sz="1600" b="0" i="1" dirty="0">
                          <a:latin typeface="Cambria Math" panose="02040503050406030204" pitchFamily="18" charset="0"/>
                        </a:rPr>
                        <m:t> </m:t>
                      </m:r>
                      <m:r>
                        <a:rPr lang="hu-HU" sz="1600" b="0" i="1" dirty="0" smtClean="0">
                          <a:latin typeface="Cambria Math" panose="02040503050406030204" pitchFamily="18" charset="0"/>
                        </a:rPr>
                        <m:t> </m:t>
                      </m:r>
                      <m:r>
                        <a:rPr lang="hu-HU" sz="1600" b="0" i="1" dirty="0" smtClean="0">
                          <a:latin typeface="Cambria Math" panose="02040503050406030204" pitchFamily="18" charset="0"/>
                        </a:rPr>
                        <m:t>𝑖𝑠</m:t>
                      </m:r>
                      <m:r>
                        <a:rPr lang="hu-HU" sz="1600" b="0" i="1" dirty="0" smtClean="0">
                          <a:latin typeface="Cambria Math" panose="02040503050406030204" pitchFamily="18" charset="0"/>
                        </a:rPr>
                        <m:t> </m:t>
                      </m:r>
                      <m:r>
                        <a:rPr lang="hu-HU" sz="1600" b="0" i="1" dirty="0" smtClean="0">
                          <a:latin typeface="Cambria Math" panose="02040503050406030204" pitchFamily="18" charset="0"/>
                        </a:rPr>
                        <m:t>𝑛𝑒𝑔𝑎𝑡𝑖𝑣𝑒</m:t>
                      </m:r>
                      <m:r>
                        <a:rPr lang="hu-HU" sz="1600" b="0" i="1" dirty="0" smtClean="0">
                          <a:latin typeface="Cambria Math" panose="02040503050406030204" pitchFamily="18" charset="0"/>
                        </a:rPr>
                        <m:t> </m:t>
                      </m:r>
                      <m:r>
                        <a:rPr lang="hu-HU" sz="1600" b="0" i="1" dirty="0" smtClean="0">
                          <a:latin typeface="Cambria Math" panose="02040503050406030204" pitchFamily="18" charset="0"/>
                        </a:rPr>
                        <m:t>𝑤h𝑒𝑛</m:t>
                      </m:r>
                      <m:r>
                        <a:rPr lang="hu-HU" sz="1600" b="0" i="1" dirty="0" smtClean="0">
                          <a:latin typeface="Cambria Math" panose="02040503050406030204" pitchFamily="18" charset="0"/>
                        </a:rPr>
                        <m:t> </m:t>
                      </m:r>
                      <m:r>
                        <a:rPr lang="hu-HU" sz="1600" b="0" i="1" dirty="0" smtClean="0">
                          <a:latin typeface="Cambria Math" panose="02040503050406030204" pitchFamily="18" charset="0"/>
                        </a:rPr>
                        <m:t>𝑥</m:t>
                      </m:r>
                      <m:r>
                        <a:rPr lang="hu-HU" sz="1600" b="0" i="1" dirty="0" smtClean="0">
                          <a:latin typeface="Cambria Math" panose="02040503050406030204" pitchFamily="18" charset="0"/>
                        </a:rPr>
                        <m:t>=</m:t>
                      </m:r>
                      <m:f>
                        <m:fPr>
                          <m:ctrlPr>
                            <a:rPr lang="hu-HU" sz="1600" b="0" i="1" dirty="0" smtClean="0">
                              <a:latin typeface="Cambria Math" panose="02040503050406030204" pitchFamily="18" charset="0"/>
                            </a:rPr>
                          </m:ctrlPr>
                        </m:fPr>
                        <m:num>
                          <m:r>
                            <a:rPr lang="hu-HU" sz="1600" b="0" i="1" dirty="0" smtClean="0">
                              <a:latin typeface="Cambria Math" panose="02040503050406030204" pitchFamily="18" charset="0"/>
                            </a:rPr>
                            <m:t>1</m:t>
                          </m:r>
                        </m:num>
                        <m:den>
                          <m:r>
                            <a:rPr lang="hu-HU" sz="1600" b="0" i="1" dirty="0" smtClean="0">
                              <a:latin typeface="Cambria Math" panose="02040503050406030204" pitchFamily="18" charset="0"/>
                            </a:rPr>
                            <m:t>2</m:t>
                          </m:r>
                        </m:den>
                      </m:f>
                      <m:r>
                        <a:rPr lang="hu-HU" sz="1600" b="0" i="1" dirty="0" smtClean="0">
                          <a:latin typeface="Cambria Math" panose="02040503050406030204" pitchFamily="18" charset="0"/>
                        </a:rPr>
                        <m:t>;</m:t>
                      </m:r>
                      <m:r>
                        <a:rPr lang="hu-HU" sz="1600" b="0" i="1" dirty="0" smtClean="0">
                          <a:latin typeface="Cambria Math" panose="02040503050406030204" pitchFamily="18" charset="0"/>
                        </a:rPr>
                        <m:t>𝐹</m:t>
                      </m:r>
                      <m:d>
                        <m:dPr>
                          <m:ctrlPr>
                            <a:rPr lang="hu-HU" sz="1600" b="0" i="1" dirty="0" smtClean="0">
                              <a:latin typeface="Cambria Math" panose="02040503050406030204" pitchFamily="18" charset="0"/>
                            </a:rPr>
                          </m:ctrlPr>
                        </m:dPr>
                        <m:e>
                          <m:r>
                            <a:rPr lang="hu-HU" sz="1600" b="0" i="1" dirty="0" smtClean="0">
                              <a:latin typeface="Cambria Math" panose="02040503050406030204" pitchFamily="18" charset="0"/>
                            </a:rPr>
                            <m:t>𝑥</m:t>
                          </m:r>
                        </m:e>
                      </m:d>
                      <m:r>
                        <a:rPr lang="hu-HU" sz="1600" b="0" i="1" dirty="0" smtClean="0">
                          <a:latin typeface="Cambria Math" panose="02040503050406030204" pitchFamily="18" charset="0"/>
                        </a:rPr>
                        <m:t> </m:t>
                      </m:r>
                      <m:r>
                        <a:rPr lang="hu-HU" sz="1600" b="0" i="1" dirty="0" smtClean="0">
                          <a:latin typeface="Cambria Math" panose="02040503050406030204" pitchFamily="18" charset="0"/>
                        </a:rPr>
                        <m:t>𝑖𝑠</m:t>
                      </m:r>
                      <m:r>
                        <a:rPr lang="hu-HU" sz="1600" b="0" i="1" dirty="0" smtClean="0">
                          <a:latin typeface="Cambria Math" panose="02040503050406030204" pitchFamily="18" charset="0"/>
                        </a:rPr>
                        <m:t> </m:t>
                      </m:r>
                      <m:r>
                        <a:rPr lang="hu-HU" sz="1600" b="0" i="1" dirty="0" smtClean="0">
                          <a:latin typeface="Cambria Math" panose="02040503050406030204" pitchFamily="18" charset="0"/>
                        </a:rPr>
                        <m:t>𝑛𝑜𝑡</m:t>
                      </m:r>
                      <m:r>
                        <a:rPr lang="hu-HU" sz="1600" b="0" i="1" dirty="0" smtClean="0">
                          <a:latin typeface="Cambria Math" panose="02040503050406030204" pitchFamily="18" charset="0"/>
                        </a:rPr>
                        <m:t> </m:t>
                      </m:r>
                      <m:r>
                        <a:rPr lang="hu-HU" sz="1600" b="0" i="1" dirty="0" smtClean="0">
                          <a:latin typeface="Cambria Math" panose="02040503050406030204" pitchFamily="18" charset="0"/>
                        </a:rPr>
                        <m:t>𝐶𝐷𝐹</m:t>
                      </m:r>
                      <m:r>
                        <a:rPr lang="hu-HU" sz="1600" b="0" i="1" dirty="0" smtClean="0">
                          <a:latin typeface="Cambria Math" panose="02040503050406030204" pitchFamily="18" charset="0"/>
                        </a:rPr>
                        <m:t>.</m:t>
                      </m:r>
                    </m:oMath>
                  </m:oMathPara>
                </a14:m>
                <a:endParaRPr lang="en-GB" sz="1600" dirty="0"/>
              </a:p>
            </p:txBody>
          </p:sp>
        </mc:Choice>
        <mc:Fallback xmlns="">
          <p:sp>
            <p:nvSpPr>
              <p:cNvPr id="4" name="Szövegdoboz 3"/>
              <p:cNvSpPr txBox="1">
                <a:spLocks noRot="1" noChangeAspect="1" noMove="1" noResize="1" noEditPoints="1" noAdjustHandles="1" noChangeArrowheads="1" noChangeShapeType="1" noTextEdit="1"/>
              </p:cNvSpPr>
              <p:nvPr/>
            </p:nvSpPr>
            <p:spPr>
              <a:xfrm>
                <a:off x="454659" y="4837006"/>
                <a:ext cx="5018169" cy="466731"/>
              </a:xfrm>
              <a:prstGeom prst="rect">
                <a:avLst/>
              </a:prstGeom>
              <a:blipFill rotWithShape="0">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Szövegdoboz 15"/>
              <p:cNvSpPr txBox="1"/>
              <p:nvPr/>
            </p:nvSpPr>
            <p:spPr>
              <a:xfrm>
                <a:off x="454659" y="5609596"/>
                <a:ext cx="148066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hu-HU" sz="1600" b="0" i="1" smtClean="0">
                          <a:latin typeface="Cambria Math" panose="02040503050406030204" pitchFamily="18" charset="0"/>
                        </a:rPr>
                        <m:t>𝑏</m:t>
                      </m:r>
                      <m:r>
                        <a:rPr lang="hu-HU" sz="1600" b="0" i="1" smtClean="0">
                          <a:latin typeface="Cambria Math" panose="02040503050406030204" pitchFamily="18" charset="0"/>
                        </a:rPr>
                        <m:t>)</m:t>
                      </m:r>
                      <m:r>
                        <a:rPr lang="hu-HU" sz="1600" b="0" i="1" smtClean="0">
                          <a:latin typeface="Cambria Math" panose="02040503050406030204" pitchFamily="18" charset="0"/>
                        </a:rPr>
                        <m:t>𝐹</m:t>
                      </m:r>
                      <m:d>
                        <m:dPr>
                          <m:ctrlPr>
                            <a:rPr lang="hu-HU" sz="1600" b="0" i="1" smtClean="0">
                              <a:latin typeface="Cambria Math" panose="02040503050406030204" pitchFamily="18" charset="0"/>
                            </a:rPr>
                          </m:ctrlPr>
                        </m:dPr>
                        <m:e>
                          <m:r>
                            <a:rPr lang="hu-HU" sz="1600" b="0" i="1" smtClean="0">
                              <a:latin typeface="Cambria Math" panose="02040503050406030204" pitchFamily="18" charset="0"/>
                            </a:rPr>
                            <m:t>𝑥</m:t>
                          </m:r>
                        </m:e>
                      </m:d>
                      <m:r>
                        <a:rPr lang="hu-HU" sz="1600" b="0" i="1" smtClean="0">
                          <a:latin typeface="Cambria Math" panose="02040503050406030204" pitchFamily="18" charset="0"/>
                        </a:rPr>
                        <m:t> </m:t>
                      </m:r>
                      <m:r>
                        <a:rPr lang="hu-HU" sz="1600" b="0" i="1" smtClean="0">
                          <a:latin typeface="Cambria Math" panose="02040503050406030204" pitchFamily="18" charset="0"/>
                        </a:rPr>
                        <m:t>𝑖𝑠</m:t>
                      </m:r>
                      <m:r>
                        <a:rPr lang="hu-HU" sz="1600" b="0" i="1" smtClean="0">
                          <a:latin typeface="Cambria Math" panose="02040503050406030204" pitchFamily="18" charset="0"/>
                        </a:rPr>
                        <m:t> </m:t>
                      </m:r>
                      <m:r>
                        <a:rPr lang="hu-HU" sz="1600" b="0" i="1" smtClean="0">
                          <a:latin typeface="Cambria Math" panose="02040503050406030204" pitchFamily="18" charset="0"/>
                        </a:rPr>
                        <m:t>𝑎</m:t>
                      </m:r>
                      <m:r>
                        <a:rPr lang="hu-HU" sz="1600" b="0" i="1" smtClean="0">
                          <a:latin typeface="Cambria Math" panose="02040503050406030204" pitchFamily="18" charset="0"/>
                        </a:rPr>
                        <m:t> </m:t>
                      </m:r>
                      <m:r>
                        <a:rPr lang="hu-HU" sz="1600" b="0" i="1" smtClean="0">
                          <a:latin typeface="Cambria Math" panose="02040503050406030204" pitchFamily="18" charset="0"/>
                        </a:rPr>
                        <m:t>𝐶𝐷𝐹</m:t>
                      </m:r>
                    </m:oMath>
                  </m:oMathPara>
                </a14:m>
                <a:endParaRPr lang="en-GB" sz="1600" dirty="0"/>
              </a:p>
            </p:txBody>
          </p:sp>
        </mc:Choice>
        <mc:Fallback xmlns="">
          <p:sp>
            <p:nvSpPr>
              <p:cNvPr id="16" name="Szövegdoboz 15"/>
              <p:cNvSpPr txBox="1">
                <a:spLocks noRot="1" noChangeAspect="1" noMove="1" noResize="1" noEditPoints="1" noAdjustHandles="1" noChangeArrowheads="1" noChangeShapeType="1" noTextEdit="1"/>
              </p:cNvSpPr>
              <p:nvPr/>
            </p:nvSpPr>
            <p:spPr>
              <a:xfrm>
                <a:off x="454659" y="5609596"/>
                <a:ext cx="1480662" cy="246221"/>
              </a:xfrm>
              <a:prstGeom prst="rect">
                <a:avLst/>
              </a:prstGeom>
              <a:blipFill rotWithShape="0">
                <a:blip r:embed="rId4"/>
                <a:stretch>
                  <a:fillRect l="-2893" r="-2066" b="-31707"/>
                </a:stretch>
              </a:blipFill>
            </p:spPr>
            <p:txBody>
              <a:bodyPr/>
              <a:lstStyle/>
              <a:p>
                <a:r>
                  <a:rPr lang="en-GB">
                    <a:noFill/>
                  </a:rPr>
                  <a:t> </a:t>
                </a:r>
              </a:p>
            </p:txBody>
          </p:sp>
        </mc:Fallback>
      </mc:AlternateContent>
    </p:spTree>
    <p:extLst>
      <p:ext uri="{BB962C8B-B14F-4D97-AF65-F5344CB8AC3E}">
        <p14:creationId xmlns:p14="http://schemas.microsoft.com/office/powerpoint/2010/main" val="3501878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822960" y="286604"/>
            <a:ext cx="7543800" cy="772779"/>
          </a:xfrm>
        </p:spPr>
        <p:txBody>
          <a:bodyPr/>
          <a:lstStyle/>
          <a:p>
            <a:r>
              <a:rPr lang="en-US" dirty="0">
                <a:solidFill>
                  <a:srgbClr val="92D050"/>
                </a:solidFill>
                <a:cs typeface="Arial" panose="020B0604020202020204" pitchFamily="34" charset="0"/>
              </a:rPr>
              <a:t>Exercise </a:t>
            </a:r>
            <a:r>
              <a:rPr lang="hu-HU" dirty="0">
                <a:solidFill>
                  <a:srgbClr val="92D050"/>
                </a:solidFill>
                <a:cs typeface="Arial" panose="020B0604020202020204" pitchFamily="34" charset="0"/>
              </a:rPr>
              <a:t>9.5 </a:t>
            </a:r>
            <a:r>
              <a:rPr lang="hu-HU" dirty="0">
                <a:solidFill>
                  <a:schemeClr val="tx1"/>
                </a:solidFill>
                <a:cs typeface="Arial" panose="020B0604020202020204" pitchFamily="34" charset="0"/>
              </a:rPr>
              <a:t>(M1) </a:t>
            </a:r>
            <a:r>
              <a:rPr lang="hu-HU" dirty="0" err="1">
                <a:solidFill>
                  <a:srgbClr val="FF0000"/>
                </a:solidFill>
                <a:cs typeface="Arial" panose="020B0604020202020204" pitchFamily="34" charset="0"/>
              </a:rPr>
              <a:t>Only</a:t>
            </a:r>
            <a:r>
              <a:rPr lang="hu-HU" dirty="0">
                <a:solidFill>
                  <a:srgbClr val="FF0000"/>
                </a:solidFill>
                <a:cs typeface="Arial" panose="020B0604020202020204" pitchFamily="34" charset="0"/>
              </a:rPr>
              <a:t> </a:t>
            </a:r>
            <a:r>
              <a:rPr lang="hu-HU" dirty="0" err="1">
                <a:solidFill>
                  <a:srgbClr val="FF0000"/>
                </a:solidFill>
                <a:cs typeface="Arial" panose="020B0604020202020204" pitchFamily="34" charset="0"/>
              </a:rPr>
              <a:t>Matlab</a:t>
            </a:r>
            <a:endParaRPr lang="en-GB" dirty="0">
              <a:solidFill>
                <a:srgbClr val="FF0000"/>
              </a:solidFill>
            </a:endParaRPr>
          </a:p>
        </p:txBody>
      </p:sp>
      <mc:AlternateContent xmlns:mc="http://schemas.openxmlformats.org/markup-compatibility/2006" xmlns:a14="http://schemas.microsoft.com/office/drawing/2010/main">
        <mc:Choice Requires="a14">
          <p:sp>
            <p:nvSpPr>
              <p:cNvPr id="3" name="Tartalom helye 2"/>
              <p:cNvSpPr>
                <a:spLocks noGrp="1"/>
              </p:cNvSpPr>
              <p:nvPr>
                <p:ph idx="1"/>
              </p:nvPr>
            </p:nvSpPr>
            <p:spPr>
              <a:xfrm>
                <a:off x="533400" y="1751643"/>
                <a:ext cx="7924800" cy="1084690"/>
              </a:xfrm>
            </p:spPr>
            <p:txBody>
              <a:bodyPr>
                <a:normAutofit/>
              </a:bodyPr>
              <a:lstStyle/>
              <a:p>
                <a:r>
                  <a:rPr lang="en-US" dirty="0"/>
                  <a:t>Find the </a:t>
                </a:r>
                <a:r>
                  <a:rPr lang="en-US" dirty="0" err="1"/>
                  <a:t>cdf</a:t>
                </a:r>
                <a:r>
                  <a:rPr lang="en-US" dirty="0"/>
                  <a:t> of the distance of two randomly chosen points of the</a:t>
                </a:r>
                <a:r>
                  <a:rPr lang="hu-HU" dirty="0"/>
                  <a:t> </a:t>
                </a:r>
                <a14:m>
                  <m:oMath xmlns:m="http://schemas.openxmlformats.org/officeDocument/2006/math">
                    <m:r>
                      <a:rPr lang="en-US" i="1" dirty="0" smtClean="0">
                        <a:latin typeface="Cambria Math" panose="02040503050406030204" pitchFamily="18" charset="0"/>
                      </a:rPr>
                      <m:t>[0; 1]</m:t>
                    </m:r>
                  </m:oMath>
                </a14:m>
                <a:r>
                  <a:rPr lang="hu-HU" dirty="0"/>
                  <a:t> </a:t>
                </a:r>
                <a:r>
                  <a:rPr lang="en-US" dirty="0"/>
                  <a:t>interval. What</a:t>
                </a:r>
                <a:r>
                  <a:rPr lang="hu-HU" dirty="0"/>
                  <a:t> </a:t>
                </a:r>
                <a:r>
                  <a:rPr lang="en-US" dirty="0"/>
                  <a:t>is the probability that the distance of the points is in the interval </a:t>
                </a:r>
                <a14:m>
                  <m:oMath xmlns:m="http://schemas.openxmlformats.org/officeDocument/2006/math">
                    <m:d>
                      <m:dPr>
                        <m:begChr m:val="["/>
                        <m:endChr m:val="]"/>
                        <m:ctrlPr>
                          <a:rPr lang="en-US" i="1" dirty="0" smtClean="0">
                            <a:latin typeface="Cambria Math" panose="02040503050406030204" pitchFamily="18" charset="0"/>
                          </a:rPr>
                        </m:ctrlPr>
                      </m:dPr>
                      <m:e>
                        <m:f>
                          <m:fPr>
                            <m:ctrlPr>
                              <a:rPr lang="hu-HU" i="1" dirty="0" smtClean="0">
                                <a:latin typeface="Cambria Math" panose="02040503050406030204" pitchFamily="18" charset="0"/>
                              </a:rPr>
                            </m:ctrlPr>
                          </m:fPr>
                          <m:num>
                            <m:r>
                              <a:rPr lang="en-US" i="1" dirty="0" smtClean="0">
                                <a:latin typeface="Cambria Math" panose="02040503050406030204" pitchFamily="18" charset="0"/>
                              </a:rPr>
                              <m:t>1</m:t>
                            </m:r>
                          </m:num>
                          <m:den>
                            <m:r>
                              <a:rPr lang="en-US" i="1" dirty="0" smtClean="0">
                                <a:latin typeface="Cambria Math" panose="02040503050406030204" pitchFamily="18" charset="0"/>
                              </a:rPr>
                              <m:t>2</m:t>
                            </m:r>
                          </m:den>
                        </m:f>
                        <m:r>
                          <a:rPr lang="en-US" i="1" dirty="0">
                            <a:latin typeface="Cambria Math" panose="02040503050406030204" pitchFamily="18" charset="0"/>
                          </a:rPr>
                          <m:t>;</m:t>
                        </m:r>
                        <m:f>
                          <m:fPr>
                            <m:ctrlPr>
                              <a:rPr lang="hu-HU" i="1" dirty="0" smtClean="0">
                                <a:latin typeface="Cambria Math" panose="02040503050406030204" pitchFamily="18" charset="0"/>
                              </a:rPr>
                            </m:ctrlPr>
                          </m:fPr>
                          <m:num>
                            <m:r>
                              <a:rPr lang="en-US" i="1" dirty="0" smtClean="0">
                                <a:latin typeface="Cambria Math" panose="02040503050406030204" pitchFamily="18" charset="0"/>
                              </a:rPr>
                              <m:t>3</m:t>
                            </m:r>
                          </m:num>
                          <m:den>
                            <m:r>
                              <a:rPr lang="en-US" i="1" dirty="0" smtClean="0">
                                <a:latin typeface="Cambria Math" panose="02040503050406030204" pitchFamily="18" charset="0"/>
                              </a:rPr>
                              <m:t>4</m:t>
                            </m:r>
                          </m:den>
                        </m:f>
                      </m:e>
                    </m:d>
                  </m:oMath>
                </a14:m>
                <a:r>
                  <a:rPr lang="en-US" dirty="0"/>
                  <a:t>?</a:t>
                </a:r>
                <a:endParaRPr lang="en-GB" dirty="0"/>
              </a:p>
            </p:txBody>
          </p:sp>
        </mc:Choice>
        <mc:Fallback xmlns="">
          <p:sp>
            <p:nvSpPr>
              <p:cNvPr id="3" name="Tartalom helye 2"/>
              <p:cNvSpPr>
                <a:spLocks noGrp="1" noRot="1" noChangeAspect="1" noMove="1" noResize="1" noEditPoints="1" noAdjustHandles="1" noChangeArrowheads="1" noChangeShapeType="1" noTextEdit="1"/>
              </p:cNvSpPr>
              <p:nvPr>
                <p:ph idx="1"/>
              </p:nvPr>
            </p:nvSpPr>
            <p:spPr>
              <a:xfrm>
                <a:off x="533400" y="1751643"/>
                <a:ext cx="7924800" cy="1084690"/>
              </a:xfrm>
              <a:blipFill rotWithShape="0">
                <a:blip r:embed="rId2"/>
                <a:stretch>
                  <a:fillRect l="-846" t="-5618" b="-1685"/>
                </a:stretch>
              </a:blipFill>
            </p:spPr>
            <p:txBody>
              <a:bodyPr/>
              <a:lstStyle/>
              <a:p>
                <a:r>
                  <a:rPr lang="en-GB">
                    <a:noFill/>
                  </a:rPr>
                  <a:t> </a:t>
                </a:r>
              </a:p>
            </p:txBody>
          </p:sp>
        </mc:Fallback>
      </mc:AlternateContent>
      <p:grpSp>
        <p:nvGrpSpPr>
          <p:cNvPr id="30" name="Csoportba foglalás 29"/>
          <p:cNvGrpSpPr/>
          <p:nvPr/>
        </p:nvGrpSpPr>
        <p:grpSpPr>
          <a:xfrm>
            <a:off x="190499" y="3003286"/>
            <a:ext cx="1987845" cy="599784"/>
            <a:chOff x="602456" y="3615267"/>
            <a:chExt cx="1987845" cy="599784"/>
          </a:xfrm>
        </p:grpSpPr>
        <p:cxnSp>
          <p:nvCxnSpPr>
            <p:cNvPr id="18" name="Egyenes összekötő 17"/>
            <p:cNvCxnSpPr/>
            <p:nvPr/>
          </p:nvCxnSpPr>
          <p:spPr>
            <a:xfrm>
              <a:off x="626533" y="3683000"/>
              <a:ext cx="189653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Egyenes összekötő 19"/>
            <p:cNvCxnSpPr/>
            <p:nvPr/>
          </p:nvCxnSpPr>
          <p:spPr>
            <a:xfrm>
              <a:off x="1377421" y="3615267"/>
              <a:ext cx="0" cy="1439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Egyenes összekötő 20"/>
            <p:cNvCxnSpPr/>
            <p:nvPr/>
          </p:nvCxnSpPr>
          <p:spPr>
            <a:xfrm>
              <a:off x="670189" y="3615267"/>
              <a:ext cx="0" cy="1439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Egyenes összekötő 21"/>
            <p:cNvCxnSpPr/>
            <p:nvPr/>
          </p:nvCxnSpPr>
          <p:spPr>
            <a:xfrm>
              <a:off x="2439458" y="3615267"/>
              <a:ext cx="0" cy="1439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Egyenes összekötő 22"/>
            <p:cNvCxnSpPr/>
            <p:nvPr/>
          </p:nvCxnSpPr>
          <p:spPr>
            <a:xfrm>
              <a:off x="1856052" y="3615267"/>
              <a:ext cx="0" cy="143933"/>
            </a:xfrm>
            <a:prstGeom prst="line">
              <a:avLst/>
            </a:prstGeom>
          </p:spPr>
          <p:style>
            <a:lnRef idx="1">
              <a:schemeClr val="accent1"/>
            </a:lnRef>
            <a:fillRef idx="0">
              <a:schemeClr val="accent1"/>
            </a:fillRef>
            <a:effectRef idx="0">
              <a:schemeClr val="accent1"/>
            </a:effectRef>
            <a:fontRef idx="minor">
              <a:schemeClr val="tx1"/>
            </a:fontRef>
          </p:style>
        </p:cxnSp>
        <p:sp>
          <p:nvSpPr>
            <p:cNvPr id="24" name="Szövegdoboz 23"/>
            <p:cNvSpPr txBox="1"/>
            <p:nvPr/>
          </p:nvSpPr>
          <p:spPr>
            <a:xfrm>
              <a:off x="602456" y="3845719"/>
              <a:ext cx="301686" cy="369332"/>
            </a:xfrm>
            <a:prstGeom prst="rect">
              <a:avLst/>
            </a:prstGeom>
            <a:noFill/>
          </p:spPr>
          <p:txBody>
            <a:bodyPr wrap="none" rtlCol="0">
              <a:spAutoFit/>
            </a:bodyPr>
            <a:lstStyle/>
            <a:p>
              <a:r>
                <a:rPr lang="hu-HU" dirty="0"/>
                <a:t>0</a:t>
              </a:r>
              <a:endParaRPr lang="en-GB" dirty="0"/>
            </a:p>
          </p:txBody>
        </p:sp>
        <p:sp>
          <p:nvSpPr>
            <p:cNvPr id="27" name="Szövegdoboz 26"/>
            <p:cNvSpPr txBox="1"/>
            <p:nvPr/>
          </p:nvSpPr>
          <p:spPr>
            <a:xfrm>
              <a:off x="2288615" y="3845719"/>
              <a:ext cx="301686" cy="369332"/>
            </a:xfrm>
            <a:prstGeom prst="rect">
              <a:avLst/>
            </a:prstGeom>
            <a:noFill/>
          </p:spPr>
          <p:txBody>
            <a:bodyPr wrap="none" rtlCol="0">
              <a:spAutoFit/>
            </a:bodyPr>
            <a:lstStyle/>
            <a:p>
              <a:r>
                <a:rPr lang="hu-HU" dirty="0"/>
                <a:t>1</a:t>
              </a:r>
              <a:endParaRPr lang="en-GB" dirty="0"/>
            </a:p>
          </p:txBody>
        </p:sp>
        <p:sp>
          <p:nvSpPr>
            <p:cNvPr id="28" name="Bal oldali kapcsos zárójel 27"/>
            <p:cNvSpPr/>
            <p:nvPr/>
          </p:nvSpPr>
          <p:spPr>
            <a:xfrm rot="16200000">
              <a:off x="1558668" y="3601144"/>
              <a:ext cx="115943" cy="47882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9" name="Szövegdoboz 28"/>
                <p:cNvSpPr txBox="1"/>
                <p:nvPr/>
              </p:nvSpPr>
              <p:spPr>
                <a:xfrm>
                  <a:off x="1524979" y="3938052"/>
                  <a:ext cx="18331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hu-HU" b="0" i="1" smtClean="0">
                            <a:latin typeface="Cambria Math" panose="02040503050406030204" pitchFamily="18" charset="0"/>
                          </a:rPr>
                          <m:t>𝑥</m:t>
                        </m:r>
                      </m:oMath>
                    </m:oMathPara>
                  </a14:m>
                  <a:endParaRPr lang="en-GB" dirty="0"/>
                </a:p>
              </p:txBody>
            </p:sp>
          </mc:Choice>
          <mc:Fallback xmlns="">
            <p:sp>
              <p:nvSpPr>
                <p:cNvPr id="29" name="Szövegdoboz 28"/>
                <p:cNvSpPr txBox="1">
                  <a:spLocks noRot="1" noChangeAspect="1" noMove="1" noResize="1" noEditPoints="1" noAdjustHandles="1" noChangeArrowheads="1" noChangeShapeType="1" noTextEdit="1"/>
                </p:cNvSpPr>
                <p:nvPr/>
              </p:nvSpPr>
              <p:spPr>
                <a:xfrm>
                  <a:off x="1524979" y="3938052"/>
                  <a:ext cx="183319" cy="276999"/>
                </a:xfrm>
                <a:prstGeom prst="rect">
                  <a:avLst/>
                </a:prstGeom>
                <a:blipFill rotWithShape="0">
                  <a:blip r:embed="rId3"/>
                  <a:stretch>
                    <a:fillRect l="-20000" r="-13333"/>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31" name="Téglalap 30"/>
              <p:cNvSpPr/>
              <p:nvPr/>
            </p:nvSpPr>
            <p:spPr>
              <a:xfrm>
                <a:off x="190499" y="3577040"/>
                <a:ext cx="11950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hu-HU" i="1" smtClean="0">
                          <a:latin typeface="Cambria Math" panose="02040503050406030204" pitchFamily="18" charset="0"/>
                        </a:rPr>
                        <m:t>𝑦</m:t>
                      </m:r>
                      <m:r>
                        <a:rPr lang="hu-HU" i="1" smtClean="0">
                          <a:latin typeface="Cambria Math" panose="02040503050406030204" pitchFamily="18" charset="0"/>
                        </a:rPr>
                        <m:t>−</m:t>
                      </m:r>
                      <m:r>
                        <a:rPr lang="hu-HU" i="1" smtClean="0">
                          <a:latin typeface="Cambria Math" panose="02040503050406030204" pitchFamily="18" charset="0"/>
                        </a:rPr>
                        <m:t>𝑧</m:t>
                      </m:r>
                      <m:r>
                        <a:rPr lang="hu-HU" b="0" i="1" smtClean="0">
                          <a:latin typeface="Cambria Math" panose="02040503050406030204" pitchFamily="18" charset="0"/>
                        </a:rPr>
                        <m:t>=</m:t>
                      </m:r>
                      <m:r>
                        <a:rPr lang="hu-HU" b="0" i="1" smtClean="0">
                          <a:latin typeface="Cambria Math" panose="02040503050406030204" pitchFamily="18" charset="0"/>
                        </a:rPr>
                        <m:t>𝑥</m:t>
                      </m:r>
                    </m:oMath>
                  </m:oMathPara>
                </a14:m>
                <a:endParaRPr lang="en-GB" dirty="0"/>
              </a:p>
            </p:txBody>
          </p:sp>
        </mc:Choice>
        <mc:Fallback xmlns="">
          <p:sp>
            <p:nvSpPr>
              <p:cNvPr id="31" name="Téglalap 30"/>
              <p:cNvSpPr>
                <a:spLocks noRot="1" noChangeAspect="1" noMove="1" noResize="1" noEditPoints="1" noAdjustHandles="1" noChangeArrowheads="1" noChangeShapeType="1" noTextEdit="1"/>
              </p:cNvSpPr>
              <p:nvPr/>
            </p:nvSpPr>
            <p:spPr>
              <a:xfrm>
                <a:off x="190499" y="3577040"/>
                <a:ext cx="1195071" cy="369332"/>
              </a:xfrm>
              <a:prstGeom prst="rect">
                <a:avLst/>
              </a:prstGeom>
              <a:blipFill rotWithShape="0">
                <a:blip r:embed="rId4"/>
                <a:stretch>
                  <a:fillRect b="-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églalap 31"/>
              <p:cNvSpPr/>
              <p:nvPr/>
            </p:nvSpPr>
            <p:spPr>
              <a:xfrm>
                <a:off x="190499" y="3878326"/>
                <a:ext cx="11950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hu-HU" b="0" i="1" smtClean="0">
                          <a:latin typeface="Cambria Math" panose="02040503050406030204" pitchFamily="18" charset="0"/>
                        </a:rPr>
                        <m:t>𝑧</m:t>
                      </m:r>
                      <m:r>
                        <a:rPr lang="hu-HU" i="1">
                          <a:latin typeface="Cambria Math" panose="02040503050406030204" pitchFamily="18" charset="0"/>
                        </a:rPr>
                        <m:t>−</m:t>
                      </m:r>
                      <m:r>
                        <a:rPr lang="hu-HU" b="0" i="1" smtClean="0">
                          <a:latin typeface="Cambria Math" panose="02040503050406030204" pitchFamily="18" charset="0"/>
                        </a:rPr>
                        <m:t>𝑦</m:t>
                      </m:r>
                      <m:r>
                        <a:rPr lang="hu-HU" i="1">
                          <a:latin typeface="Cambria Math" panose="02040503050406030204" pitchFamily="18" charset="0"/>
                        </a:rPr>
                        <m:t>=</m:t>
                      </m:r>
                      <m:r>
                        <a:rPr lang="hu-HU" i="1">
                          <a:latin typeface="Cambria Math" panose="02040503050406030204" pitchFamily="18" charset="0"/>
                        </a:rPr>
                        <m:t>𝑥</m:t>
                      </m:r>
                    </m:oMath>
                  </m:oMathPara>
                </a14:m>
                <a:endParaRPr lang="en-GB" dirty="0"/>
              </a:p>
            </p:txBody>
          </p:sp>
        </mc:Choice>
        <mc:Fallback xmlns="">
          <p:sp>
            <p:nvSpPr>
              <p:cNvPr id="32" name="Téglalap 31"/>
              <p:cNvSpPr>
                <a:spLocks noRot="1" noChangeAspect="1" noMove="1" noResize="1" noEditPoints="1" noAdjustHandles="1" noChangeArrowheads="1" noChangeShapeType="1" noTextEdit="1"/>
              </p:cNvSpPr>
              <p:nvPr/>
            </p:nvSpPr>
            <p:spPr>
              <a:xfrm>
                <a:off x="190499" y="3878326"/>
                <a:ext cx="1195071" cy="369332"/>
              </a:xfrm>
              <a:prstGeom prst="rect">
                <a:avLst/>
              </a:prstGeom>
              <a:blipFill rotWithShape="0">
                <a:blip r:embed="rId5"/>
                <a:stretch>
                  <a:fillRect b="-65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1" name="Szövegdoboz 50"/>
              <p:cNvSpPr txBox="1"/>
              <p:nvPr/>
            </p:nvSpPr>
            <p:spPr>
              <a:xfrm>
                <a:off x="1408048" y="3641100"/>
                <a:ext cx="1347035" cy="4919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hu-HU" b="0" i="1" smtClean="0">
                          <a:latin typeface="Cambria Math" panose="02040503050406030204" pitchFamily="18" charset="0"/>
                          <a:ea typeface="Cambria Math" panose="02040503050406030204" pitchFamily="18" charset="0"/>
                        </a:rPr>
                        <m:t>⟹</m:t>
                      </m:r>
                      <m:m>
                        <m:mPr>
                          <m:mcs>
                            <m:mc>
                              <m:mcPr>
                                <m:count m:val="1"/>
                                <m:mcJc m:val="center"/>
                              </m:mcPr>
                            </m:mc>
                          </m:mcs>
                          <m:ctrlPr>
                            <a:rPr lang="hu-HU" b="0" i="1" smtClean="0">
                              <a:latin typeface="Cambria Math" panose="02040503050406030204" pitchFamily="18" charset="0"/>
                              <a:ea typeface="Cambria Math" panose="02040503050406030204" pitchFamily="18" charset="0"/>
                            </a:rPr>
                          </m:ctrlPr>
                        </m:mPr>
                        <m:mr>
                          <m:e>
                            <m:r>
                              <m:rPr>
                                <m:brk m:alnAt="7"/>
                              </m:rPr>
                              <a:rPr lang="hu-HU" b="0" i="1" smtClean="0">
                                <a:latin typeface="Cambria Math" panose="02040503050406030204" pitchFamily="18" charset="0"/>
                                <a:ea typeface="Cambria Math" panose="02040503050406030204" pitchFamily="18" charset="0"/>
                              </a:rPr>
                              <m:t>𝑦</m:t>
                            </m:r>
                            <m:r>
                              <a:rPr lang="hu-HU" b="0" i="1" smtClean="0">
                                <a:latin typeface="Cambria Math" panose="02040503050406030204" pitchFamily="18" charset="0"/>
                                <a:ea typeface="Cambria Math" panose="02040503050406030204" pitchFamily="18" charset="0"/>
                              </a:rPr>
                              <m:t>=</m:t>
                            </m:r>
                            <m:r>
                              <a:rPr lang="hu-HU" b="0" i="1" smtClean="0">
                                <a:latin typeface="Cambria Math" panose="02040503050406030204" pitchFamily="18" charset="0"/>
                                <a:ea typeface="Cambria Math" panose="02040503050406030204" pitchFamily="18" charset="0"/>
                              </a:rPr>
                              <m:t>𝑧</m:t>
                            </m:r>
                            <m:r>
                              <a:rPr lang="hu-HU" b="0" i="1" smtClean="0">
                                <a:latin typeface="Cambria Math" panose="02040503050406030204" pitchFamily="18" charset="0"/>
                                <a:ea typeface="Cambria Math" panose="02040503050406030204" pitchFamily="18" charset="0"/>
                              </a:rPr>
                              <m:t>+</m:t>
                            </m:r>
                            <m:r>
                              <a:rPr lang="hu-HU" b="0" i="1" smtClean="0">
                                <a:latin typeface="Cambria Math" panose="02040503050406030204" pitchFamily="18" charset="0"/>
                                <a:ea typeface="Cambria Math" panose="02040503050406030204" pitchFamily="18" charset="0"/>
                              </a:rPr>
                              <m:t>𝑥</m:t>
                            </m:r>
                          </m:e>
                        </m:mr>
                        <m:mr>
                          <m:e>
                            <m:r>
                              <a:rPr lang="hu-HU" b="0" i="1" smtClean="0">
                                <a:latin typeface="Cambria Math" panose="02040503050406030204" pitchFamily="18" charset="0"/>
                                <a:ea typeface="Cambria Math" panose="02040503050406030204" pitchFamily="18" charset="0"/>
                              </a:rPr>
                              <m:t>𝑦</m:t>
                            </m:r>
                            <m:r>
                              <a:rPr lang="hu-HU" b="0" i="1" smtClean="0">
                                <a:latin typeface="Cambria Math" panose="02040503050406030204" pitchFamily="18" charset="0"/>
                                <a:ea typeface="Cambria Math" panose="02040503050406030204" pitchFamily="18" charset="0"/>
                              </a:rPr>
                              <m:t>=</m:t>
                            </m:r>
                            <m:r>
                              <a:rPr lang="hu-HU" i="1">
                                <a:latin typeface="Cambria Math" panose="02040503050406030204" pitchFamily="18" charset="0"/>
                                <a:ea typeface="Cambria Math" panose="02040503050406030204" pitchFamily="18" charset="0"/>
                              </a:rPr>
                              <m:t>𝑧</m:t>
                            </m:r>
                            <m:r>
                              <a:rPr lang="hu-HU" b="0" i="1" smtClean="0">
                                <a:latin typeface="Cambria Math" panose="02040503050406030204" pitchFamily="18" charset="0"/>
                                <a:ea typeface="Cambria Math" panose="02040503050406030204" pitchFamily="18" charset="0"/>
                              </a:rPr>
                              <m:t>−</m:t>
                            </m:r>
                            <m:r>
                              <a:rPr lang="hu-HU" b="0" i="1" smtClean="0">
                                <a:latin typeface="Cambria Math" panose="02040503050406030204" pitchFamily="18" charset="0"/>
                                <a:ea typeface="Cambria Math" panose="02040503050406030204" pitchFamily="18" charset="0"/>
                              </a:rPr>
                              <m:t>𝑥</m:t>
                            </m:r>
                          </m:e>
                        </m:mr>
                      </m:m>
                    </m:oMath>
                  </m:oMathPara>
                </a14:m>
                <a:endParaRPr lang="en-GB" dirty="0"/>
              </a:p>
            </p:txBody>
          </p:sp>
        </mc:Choice>
        <mc:Fallback xmlns="">
          <p:sp>
            <p:nvSpPr>
              <p:cNvPr id="51" name="Szövegdoboz 50"/>
              <p:cNvSpPr txBox="1">
                <a:spLocks noRot="1" noChangeAspect="1" noMove="1" noResize="1" noEditPoints="1" noAdjustHandles="1" noChangeArrowheads="1" noChangeShapeType="1" noTextEdit="1"/>
              </p:cNvSpPr>
              <p:nvPr/>
            </p:nvSpPr>
            <p:spPr>
              <a:xfrm>
                <a:off x="1408048" y="3641100"/>
                <a:ext cx="1347035" cy="491994"/>
              </a:xfrm>
              <a:prstGeom prst="rect">
                <a:avLst/>
              </a:prstGeom>
              <a:blipFill rotWithShape="0">
                <a:blip r:embed="rId6"/>
                <a:stretch>
                  <a:fillRect/>
                </a:stretch>
              </a:blipFill>
            </p:spPr>
            <p:txBody>
              <a:bodyPr/>
              <a:lstStyle/>
              <a:p>
                <a:r>
                  <a:rPr lang="en-GB">
                    <a:noFill/>
                  </a:rPr>
                  <a:t> </a:t>
                </a:r>
              </a:p>
            </p:txBody>
          </p:sp>
        </mc:Fallback>
      </mc:AlternateContent>
      <p:grpSp>
        <p:nvGrpSpPr>
          <p:cNvPr id="57" name="Csoportba foglalás 56"/>
          <p:cNvGrpSpPr/>
          <p:nvPr/>
        </p:nvGrpSpPr>
        <p:grpSpPr>
          <a:xfrm>
            <a:off x="-165939" y="4116137"/>
            <a:ext cx="2593061" cy="2200457"/>
            <a:chOff x="-165939" y="4116137"/>
            <a:chExt cx="2593061" cy="2200457"/>
          </a:xfrm>
        </p:grpSpPr>
        <p:grpSp>
          <p:nvGrpSpPr>
            <p:cNvPr id="50" name="Csoportba foglalás 49"/>
            <p:cNvGrpSpPr/>
            <p:nvPr/>
          </p:nvGrpSpPr>
          <p:grpSpPr>
            <a:xfrm>
              <a:off x="-165939" y="4289674"/>
              <a:ext cx="2557921" cy="2026920"/>
              <a:chOff x="1765973" y="3947160"/>
              <a:chExt cx="2557921" cy="2026920"/>
            </a:xfrm>
          </p:grpSpPr>
          <p:cxnSp>
            <p:nvCxnSpPr>
              <p:cNvPr id="34" name="Egyenes összekötő nyíllal 33"/>
              <p:cNvCxnSpPr/>
              <p:nvPr/>
            </p:nvCxnSpPr>
            <p:spPr>
              <a:xfrm>
                <a:off x="2103120" y="5585460"/>
                <a:ext cx="20269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Egyenes összekötő nyíllal 34"/>
              <p:cNvCxnSpPr/>
              <p:nvPr/>
            </p:nvCxnSpPr>
            <p:spPr>
              <a:xfrm rot="16200000">
                <a:off x="1400175" y="4960620"/>
                <a:ext cx="20269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Egyenes összekötő 35"/>
              <p:cNvCxnSpPr/>
              <p:nvPr/>
            </p:nvCxnSpPr>
            <p:spPr>
              <a:xfrm>
                <a:off x="2212181" y="4148137"/>
                <a:ext cx="184404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9" name="Egyenes összekötő 38"/>
              <p:cNvCxnSpPr/>
              <p:nvPr/>
            </p:nvCxnSpPr>
            <p:spPr>
              <a:xfrm rot="5400000">
                <a:off x="2933700" y="4876800"/>
                <a:ext cx="184404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0" name="Egyenes összekötő 39"/>
              <p:cNvCxnSpPr/>
              <p:nvPr/>
            </p:nvCxnSpPr>
            <p:spPr>
              <a:xfrm rot="18900000">
                <a:off x="2479854" y="5322114"/>
                <a:ext cx="1844040" cy="0"/>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1" name="Egyenes összekötő 40"/>
              <p:cNvCxnSpPr/>
              <p:nvPr/>
            </p:nvCxnSpPr>
            <p:spPr>
              <a:xfrm rot="18900000">
                <a:off x="1765973" y="4598339"/>
                <a:ext cx="1844040" cy="0"/>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Szövegdoboz 42"/>
                  <p:cNvSpPr txBox="1"/>
                  <p:nvPr/>
                </p:nvSpPr>
                <p:spPr>
                  <a:xfrm>
                    <a:off x="2234434" y="4761633"/>
                    <a:ext cx="121700"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hu-HU" sz="1200" b="0" i="1" smtClean="0">
                              <a:latin typeface="Cambria Math" panose="02040503050406030204" pitchFamily="18" charset="0"/>
                            </a:rPr>
                            <m:t>𝑥</m:t>
                          </m:r>
                        </m:oMath>
                      </m:oMathPara>
                    </a14:m>
                    <a:endParaRPr lang="en-GB" sz="1200" dirty="0"/>
                  </a:p>
                </p:txBody>
              </p:sp>
            </mc:Choice>
            <mc:Fallback xmlns="">
              <p:sp>
                <p:nvSpPr>
                  <p:cNvPr id="43" name="Szövegdoboz 42"/>
                  <p:cNvSpPr txBox="1">
                    <a:spLocks noRot="1" noChangeAspect="1" noMove="1" noResize="1" noEditPoints="1" noAdjustHandles="1" noChangeArrowheads="1" noChangeShapeType="1" noTextEdit="1"/>
                  </p:cNvSpPr>
                  <p:nvPr/>
                </p:nvSpPr>
                <p:spPr>
                  <a:xfrm>
                    <a:off x="2234434" y="4761633"/>
                    <a:ext cx="121700" cy="184666"/>
                  </a:xfrm>
                  <a:prstGeom prst="rect">
                    <a:avLst/>
                  </a:prstGeom>
                  <a:blipFill rotWithShape="0">
                    <a:blip r:embed="rId7"/>
                    <a:stretch>
                      <a:fillRect l="-20000" r="-1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4" name="Szövegdoboz 43"/>
                  <p:cNvSpPr txBox="1"/>
                  <p:nvPr/>
                </p:nvSpPr>
                <p:spPr>
                  <a:xfrm>
                    <a:off x="3071707" y="5653528"/>
                    <a:ext cx="121700"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hu-HU" sz="1200" b="0" i="1" smtClean="0">
                              <a:latin typeface="Cambria Math" panose="02040503050406030204" pitchFamily="18" charset="0"/>
                            </a:rPr>
                            <m:t>𝑥</m:t>
                          </m:r>
                        </m:oMath>
                      </m:oMathPara>
                    </a14:m>
                    <a:endParaRPr lang="en-GB" sz="1200" dirty="0"/>
                  </a:p>
                </p:txBody>
              </p:sp>
            </mc:Choice>
            <mc:Fallback xmlns="">
              <p:sp>
                <p:nvSpPr>
                  <p:cNvPr id="44" name="Szövegdoboz 43"/>
                  <p:cNvSpPr txBox="1">
                    <a:spLocks noRot="1" noChangeAspect="1" noMove="1" noResize="1" noEditPoints="1" noAdjustHandles="1" noChangeArrowheads="1" noChangeShapeType="1" noTextEdit="1"/>
                  </p:cNvSpPr>
                  <p:nvPr/>
                </p:nvSpPr>
                <p:spPr>
                  <a:xfrm>
                    <a:off x="3071707" y="5653528"/>
                    <a:ext cx="121700" cy="184666"/>
                  </a:xfrm>
                  <a:prstGeom prst="rect">
                    <a:avLst/>
                  </a:prstGeom>
                  <a:blipFill rotWithShape="0">
                    <a:blip r:embed="rId8"/>
                    <a:stretch>
                      <a:fillRect l="-20000" r="-10000"/>
                    </a:stretch>
                  </a:blipFill>
                </p:spPr>
                <p:txBody>
                  <a:bodyPr/>
                  <a:lstStyle/>
                  <a:p>
                    <a:r>
                      <a:rPr lang="en-GB">
                        <a:noFill/>
                      </a:rPr>
                      <a:t> </a:t>
                    </a:r>
                  </a:p>
                </p:txBody>
              </p:sp>
            </mc:Fallback>
          </mc:AlternateContent>
          <p:cxnSp>
            <p:nvCxnSpPr>
              <p:cNvPr id="46" name="Egyenes összekötő 45"/>
              <p:cNvCxnSpPr/>
              <p:nvPr/>
            </p:nvCxnSpPr>
            <p:spPr>
              <a:xfrm>
                <a:off x="3132557" y="5513493"/>
                <a:ext cx="0" cy="143933"/>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Egyenes összekötő 46"/>
              <p:cNvCxnSpPr/>
              <p:nvPr/>
            </p:nvCxnSpPr>
            <p:spPr>
              <a:xfrm flipH="1">
                <a:off x="2354075" y="4877900"/>
                <a:ext cx="116262" cy="1937"/>
              </a:xfrm>
              <a:prstGeom prst="line">
                <a:avLst/>
              </a:prstGeom>
            </p:spPr>
            <p:style>
              <a:lnRef idx="1">
                <a:schemeClr val="accent1"/>
              </a:lnRef>
              <a:fillRef idx="0">
                <a:schemeClr val="accent1"/>
              </a:fillRef>
              <a:effectRef idx="0">
                <a:schemeClr val="accent1"/>
              </a:effectRef>
              <a:fontRef idx="minor">
                <a:schemeClr val="tx1"/>
              </a:fontRef>
            </p:style>
          </p:cxnSp>
          <p:sp>
            <p:nvSpPr>
              <p:cNvPr id="49" name="Hatszög 48"/>
              <p:cNvSpPr/>
              <p:nvPr/>
            </p:nvSpPr>
            <p:spPr>
              <a:xfrm rot="18900000">
                <a:off x="2120635" y="4366807"/>
                <a:ext cx="2037396" cy="1007391"/>
              </a:xfrm>
              <a:prstGeom prst="hexagon">
                <a:avLst>
                  <a:gd name="adj" fmla="val 49737"/>
                  <a:gd name="vf" fmla="val 115470"/>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45" name="Szövegdoboz 44"/>
                  <p:cNvSpPr txBox="1"/>
                  <p:nvPr/>
                </p:nvSpPr>
                <p:spPr>
                  <a:xfrm>
                    <a:off x="2587920" y="4785567"/>
                    <a:ext cx="1144737"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hu-HU" sz="1200" b="0" i="1" smtClean="0">
                              <a:latin typeface="Cambria Math" panose="02040503050406030204" pitchFamily="18" charset="0"/>
                            </a:rPr>
                            <m:t>𝑆</m:t>
                          </m:r>
                          <m:r>
                            <a:rPr lang="hu-HU" sz="1200" b="0" i="1" smtClean="0">
                              <a:latin typeface="Cambria Math" panose="02040503050406030204" pitchFamily="18" charset="0"/>
                            </a:rPr>
                            <m:t>=1−</m:t>
                          </m:r>
                          <m:sSup>
                            <m:sSupPr>
                              <m:ctrlPr>
                                <a:rPr lang="hu-HU" sz="1200" b="0" i="1" smtClean="0">
                                  <a:latin typeface="Cambria Math" panose="02040503050406030204" pitchFamily="18" charset="0"/>
                                </a:rPr>
                              </m:ctrlPr>
                            </m:sSupPr>
                            <m:e>
                              <m:d>
                                <m:dPr>
                                  <m:ctrlPr>
                                    <a:rPr lang="hu-HU" sz="1200" b="0" i="1" smtClean="0">
                                      <a:latin typeface="Cambria Math" panose="02040503050406030204" pitchFamily="18" charset="0"/>
                                    </a:rPr>
                                  </m:ctrlPr>
                                </m:dPr>
                                <m:e>
                                  <m:r>
                                    <a:rPr lang="hu-HU" sz="1200" b="0" i="1" smtClean="0">
                                      <a:latin typeface="Cambria Math" panose="02040503050406030204" pitchFamily="18" charset="0"/>
                                    </a:rPr>
                                    <m:t>1−</m:t>
                                  </m:r>
                                  <m:r>
                                    <a:rPr lang="hu-HU" sz="1200" b="0" i="1" smtClean="0">
                                      <a:latin typeface="Cambria Math" panose="02040503050406030204" pitchFamily="18" charset="0"/>
                                    </a:rPr>
                                    <m:t>𝑥</m:t>
                                  </m:r>
                                </m:e>
                              </m:d>
                            </m:e>
                            <m:sup>
                              <m:r>
                                <a:rPr lang="hu-HU" sz="1200" b="0" i="1" smtClean="0">
                                  <a:latin typeface="Cambria Math" panose="02040503050406030204" pitchFamily="18" charset="0"/>
                                </a:rPr>
                                <m:t>2</m:t>
                              </m:r>
                            </m:sup>
                          </m:sSup>
                        </m:oMath>
                      </m:oMathPara>
                    </a14:m>
                    <a:endParaRPr lang="en-GB" sz="1200" dirty="0"/>
                  </a:p>
                </p:txBody>
              </p:sp>
            </mc:Choice>
            <mc:Fallback xmlns="">
              <p:sp>
                <p:nvSpPr>
                  <p:cNvPr id="45" name="Szövegdoboz 44"/>
                  <p:cNvSpPr txBox="1">
                    <a:spLocks noRot="1" noChangeAspect="1" noMove="1" noResize="1" noEditPoints="1" noAdjustHandles="1" noChangeArrowheads="1" noChangeShapeType="1" noTextEdit="1"/>
                  </p:cNvSpPr>
                  <p:nvPr/>
                </p:nvSpPr>
                <p:spPr>
                  <a:xfrm>
                    <a:off x="2587920" y="4785567"/>
                    <a:ext cx="1144737" cy="184666"/>
                  </a:xfrm>
                  <a:prstGeom prst="rect">
                    <a:avLst/>
                  </a:prstGeom>
                  <a:blipFill rotWithShape="0">
                    <a:blip r:embed="rId9"/>
                    <a:stretch>
                      <a:fillRect l="-2674" r="-535" b="-6452"/>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52" name="Téglalap 51"/>
                <p:cNvSpPr/>
                <p:nvPr/>
              </p:nvSpPr>
              <p:spPr>
                <a:xfrm>
                  <a:off x="214576" y="4116137"/>
                  <a:ext cx="37138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hu-HU" i="1">
                            <a:latin typeface="Cambria Math" panose="02040503050406030204" pitchFamily="18" charset="0"/>
                          </a:rPr>
                          <m:t>𝑦</m:t>
                        </m:r>
                      </m:oMath>
                    </m:oMathPara>
                  </a14:m>
                  <a:endParaRPr lang="en-GB" dirty="0"/>
                </a:p>
              </p:txBody>
            </p:sp>
          </mc:Choice>
          <mc:Fallback xmlns="">
            <p:sp>
              <p:nvSpPr>
                <p:cNvPr id="52" name="Téglalap 51"/>
                <p:cNvSpPr>
                  <a:spLocks noRot="1" noChangeAspect="1" noMove="1" noResize="1" noEditPoints="1" noAdjustHandles="1" noChangeArrowheads="1" noChangeShapeType="1" noTextEdit="1"/>
                </p:cNvSpPr>
                <p:nvPr/>
              </p:nvSpPr>
              <p:spPr>
                <a:xfrm>
                  <a:off x="214576" y="4116137"/>
                  <a:ext cx="371384" cy="369332"/>
                </a:xfrm>
                <a:prstGeom prst="rect">
                  <a:avLst/>
                </a:prstGeom>
                <a:blipFill rotWithShape="0">
                  <a:blip r:embed="rId10"/>
                  <a:stretch>
                    <a:fillRect b="-65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3" name="Téglalap 52"/>
                <p:cNvSpPr/>
                <p:nvPr/>
              </p:nvSpPr>
              <p:spPr>
                <a:xfrm>
                  <a:off x="2073371" y="5856007"/>
                  <a:ext cx="35375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hu-HU" i="1">
                            <a:latin typeface="Cambria Math" panose="02040503050406030204" pitchFamily="18" charset="0"/>
                            <a:ea typeface="Cambria Math" panose="02040503050406030204" pitchFamily="18" charset="0"/>
                          </a:rPr>
                          <m:t>𝑧</m:t>
                        </m:r>
                      </m:oMath>
                    </m:oMathPara>
                  </a14:m>
                  <a:endParaRPr lang="en-GB" dirty="0"/>
                </a:p>
              </p:txBody>
            </p:sp>
          </mc:Choice>
          <mc:Fallback xmlns="">
            <p:sp>
              <p:nvSpPr>
                <p:cNvPr id="53" name="Téglalap 52"/>
                <p:cNvSpPr>
                  <a:spLocks noRot="1" noChangeAspect="1" noMove="1" noResize="1" noEditPoints="1" noAdjustHandles="1" noChangeArrowheads="1" noChangeShapeType="1" noTextEdit="1"/>
                </p:cNvSpPr>
                <p:nvPr/>
              </p:nvSpPr>
              <p:spPr>
                <a:xfrm>
                  <a:off x="2073371" y="5856007"/>
                  <a:ext cx="353751" cy="369332"/>
                </a:xfrm>
                <a:prstGeom prst="rect">
                  <a:avLst/>
                </a:prstGeom>
                <a:blipFill rotWithShape="0">
                  <a:blip r:embed="rId11"/>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54" name="Szövegdoboz 53"/>
              <p:cNvSpPr txBox="1"/>
              <p:nvPr/>
            </p:nvSpPr>
            <p:spPr>
              <a:xfrm>
                <a:off x="4165971" y="3244334"/>
                <a:ext cx="244791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hu-HU" b="0" i="1" smtClean="0">
                          <a:latin typeface="Cambria Math" panose="02040503050406030204" pitchFamily="18" charset="0"/>
                        </a:rPr>
                        <m:t>1−</m:t>
                      </m:r>
                      <m:sSup>
                        <m:sSupPr>
                          <m:ctrlPr>
                            <a:rPr lang="hu-HU" b="0" i="1" smtClean="0">
                              <a:latin typeface="Cambria Math" panose="02040503050406030204" pitchFamily="18" charset="0"/>
                            </a:rPr>
                          </m:ctrlPr>
                        </m:sSupPr>
                        <m:e>
                          <m:d>
                            <m:dPr>
                              <m:ctrlPr>
                                <a:rPr lang="hu-HU" b="0" i="1" smtClean="0">
                                  <a:latin typeface="Cambria Math" panose="02040503050406030204" pitchFamily="18" charset="0"/>
                                </a:rPr>
                              </m:ctrlPr>
                            </m:dPr>
                            <m:e>
                              <m:r>
                                <a:rPr lang="hu-HU" b="0" i="1" smtClean="0">
                                  <a:latin typeface="Cambria Math" panose="02040503050406030204" pitchFamily="18" charset="0"/>
                                </a:rPr>
                                <m:t>1−</m:t>
                              </m:r>
                              <m:r>
                                <a:rPr lang="hu-HU" b="0" i="1" smtClean="0">
                                  <a:latin typeface="Cambria Math" panose="02040503050406030204" pitchFamily="18" charset="0"/>
                                </a:rPr>
                                <m:t>𝑥</m:t>
                              </m:r>
                            </m:e>
                          </m:d>
                        </m:e>
                        <m:sup>
                          <m:r>
                            <a:rPr lang="hu-HU" b="0" i="1" smtClean="0">
                              <a:latin typeface="Cambria Math" panose="02040503050406030204" pitchFamily="18" charset="0"/>
                            </a:rPr>
                            <m:t>2</m:t>
                          </m:r>
                        </m:sup>
                      </m:sSup>
                      <m:r>
                        <a:rPr lang="hu-HU" b="0" i="1" smtClean="0">
                          <a:latin typeface="Cambria Math" panose="02040503050406030204" pitchFamily="18" charset="0"/>
                        </a:rPr>
                        <m:t>=</m:t>
                      </m:r>
                      <m:r>
                        <a:rPr lang="hu-HU" b="0" i="1" smtClean="0">
                          <a:latin typeface="Cambria Math" panose="02040503050406030204" pitchFamily="18" charset="0"/>
                        </a:rPr>
                        <m:t>𝑥</m:t>
                      </m:r>
                      <m:d>
                        <m:dPr>
                          <m:ctrlPr>
                            <a:rPr lang="hu-HU" b="0" i="1" smtClean="0">
                              <a:latin typeface="Cambria Math" panose="02040503050406030204" pitchFamily="18" charset="0"/>
                            </a:rPr>
                          </m:ctrlPr>
                        </m:dPr>
                        <m:e>
                          <m:r>
                            <a:rPr lang="hu-HU" b="0" i="1" smtClean="0">
                              <a:latin typeface="Cambria Math" panose="02040503050406030204" pitchFamily="18" charset="0"/>
                            </a:rPr>
                            <m:t>2−</m:t>
                          </m:r>
                          <m:r>
                            <a:rPr lang="hu-HU" b="0" i="1" smtClean="0">
                              <a:latin typeface="Cambria Math" panose="02040503050406030204" pitchFamily="18" charset="0"/>
                            </a:rPr>
                            <m:t>𝑥</m:t>
                          </m:r>
                        </m:e>
                      </m:d>
                    </m:oMath>
                  </m:oMathPara>
                </a14:m>
                <a:endParaRPr lang="en-GB" dirty="0"/>
              </a:p>
            </p:txBody>
          </p:sp>
        </mc:Choice>
        <mc:Fallback xmlns="">
          <p:sp>
            <p:nvSpPr>
              <p:cNvPr id="54" name="Szövegdoboz 53"/>
              <p:cNvSpPr txBox="1">
                <a:spLocks noRot="1" noChangeAspect="1" noMove="1" noResize="1" noEditPoints="1" noAdjustHandles="1" noChangeArrowheads="1" noChangeShapeType="1" noTextEdit="1"/>
              </p:cNvSpPr>
              <p:nvPr/>
            </p:nvSpPr>
            <p:spPr>
              <a:xfrm>
                <a:off x="4165971" y="3244334"/>
                <a:ext cx="2447914" cy="276999"/>
              </a:xfrm>
              <a:prstGeom prst="rect">
                <a:avLst/>
              </a:prstGeom>
              <a:blipFill rotWithShape="0">
                <a:blip r:embed="rId12"/>
                <a:stretch>
                  <a:fillRect l="-1741" t="-4348" b="-652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5" name="Téglalap 54"/>
              <p:cNvSpPr/>
              <p:nvPr/>
            </p:nvSpPr>
            <p:spPr>
              <a:xfrm>
                <a:off x="4094525" y="3693168"/>
                <a:ext cx="5016053" cy="111799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hu-HU" i="1" dirty="0" smtClean="0">
                          <a:latin typeface="Cambria Math" panose="02040503050406030204" pitchFamily="18" charset="0"/>
                        </a:rPr>
                        <m:t>𝐹</m:t>
                      </m:r>
                      <m:d>
                        <m:dPr>
                          <m:ctrlPr>
                            <a:rPr lang="hu-HU" i="1" dirty="0">
                              <a:latin typeface="Cambria Math" panose="02040503050406030204" pitchFamily="18" charset="0"/>
                            </a:rPr>
                          </m:ctrlPr>
                        </m:dPr>
                        <m:e>
                          <m:r>
                            <a:rPr lang="hu-HU" i="1" dirty="0">
                              <a:latin typeface="Cambria Math" panose="02040503050406030204" pitchFamily="18" charset="0"/>
                            </a:rPr>
                            <m:t>𝑥</m:t>
                          </m:r>
                        </m:e>
                      </m:d>
                      <m:r>
                        <a:rPr lang="hu-HU" b="0" i="1" dirty="0" smtClean="0">
                          <a:latin typeface="Cambria Math" panose="02040503050406030204" pitchFamily="18" charset="0"/>
                        </a:rPr>
                        <m:t>=</m:t>
                      </m:r>
                      <m:r>
                        <a:rPr lang="hu-HU" b="0" i="1" dirty="0" smtClean="0">
                          <a:latin typeface="Cambria Math" panose="02040503050406030204" pitchFamily="18" charset="0"/>
                        </a:rPr>
                        <m:t>𝑃</m:t>
                      </m:r>
                      <m:d>
                        <m:dPr>
                          <m:ctrlPr>
                            <a:rPr lang="hu-HU" b="0" i="1" dirty="0" smtClean="0">
                              <a:latin typeface="Cambria Math" panose="02040503050406030204" pitchFamily="18" charset="0"/>
                            </a:rPr>
                          </m:ctrlPr>
                        </m:dPr>
                        <m:e>
                          <m:r>
                            <a:rPr lang="hu-HU" b="0" i="1" dirty="0" smtClean="0">
                              <a:latin typeface="Cambria Math" panose="02040503050406030204" pitchFamily="18" charset="0"/>
                            </a:rPr>
                            <m:t>𝜉</m:t>
                          </m:r>
                          <m:r>
                            <a:rPr lang="hu-HU" b="0" i="1" dirty="0" smtClean="0">
                              <a:latin typeface="Cambria Math" panose="02040503050406030204" pitchFamily="18" charset="0"/>
                            </a:rPr>
                            <m:t>&lt;</m:t>
                          </m:r>
                          <m:r>
                            <a:rPr lang="hu-HU" b="0" i="1" dirty="0" smtClean="0">
                              <a:latin typeface="Cambria Math" panose="02040503050406030204" pitchFamily="18" charset="0"/>
                            </a:rPr>
                            <m:t>𝑥</m:t>
                          </m:r>
                        </m:e>
                      </m:d>
                      <m:r>
                        <a:rPr lang="hu-HU" b="0" i="1" dirty="0" smtClean="0">
                          <a:latin typeface="Cambria Math" panose="02040503050406030204" pitchFamily="18" charset="0"/>
                        </a:rPr>
                        <m:t>=</m:t>
                      </m:r>
                      <m:d>
                        <m:dPr>
                          <m:begChr m:val="{"/>
                          <m:endChr m:val=""/>
                          <m:ctrlPr>
                            <a:rPr lang="hu-HU" i="1" dirty="0">
                              <a:latin typeface="Cambria Math" panose="02040503050406030204" pitchFamily="18" charset="0"/>
                            </a:rPr>
                          </m:ctrlPr>
                        </m:dPr>
                        <m:e>
                          <m:m>
                            <m:mPr>
                              <m:mcs>
                                <m:mc>
                                  <m:mcPr>
                                    <m:count m:val="1"/>
                                    <m:mcJc m:val="center"/>
                                  </m:mcPr>
                                </m:mc>
                              </m:mcs>
                              <m:ctrlPr>
                                <a:rPr lang="hu-HU" i="1" dirty="0">
                                  <a:latin typeface="Cambria Math" panose="02040503050406030204" pitchFamily="18" charset="0"/>
                                </a:rPr>
                              </m:ctrlPr>
                            </m:mPr>
                            <m:mr>
                              <m:e>
                                <m:r>
                                  <m:rPr>
                                    <m:brk m:alnAt="7"/>
                                  </m:rPr>
                                  <a:rPr lang="hu-HU" i="1" dirty="0">
                                    <a:latin typeface="Cambria Math" panose="02040503050406030204" pitchFamily="18" charset="0"/>
                                  </a:rPr>
                                  <m:t>0</m:t>
                                </m:r>
                                <m:r>
                                  <a:rPr lang="hu-HU" i="1" dirty="0">
                                    <a:latin typeface="Cambria Math" panose="02040503050406030204" pitchFamily="18" charset="0"/>
                                  </a:rPr>
                                  <m:t>, </m:t>
                                </m:r>
                                <m:r>
                                  <a:rPr lang="hu-HU" b="0" i="1" dirty="0" smtClean="0">
                                    <a:latin typeface="Cambria Math" panose="02040503050406030204" pitchFamily="18" charset="0"/>
                                  </a:rPr>
                                  <m:t>        </m:t>
                                </m:r>
                                <m:r>
                                  <a:rPr lang="hu-HU" i="1" dirty="0">
                                    <a:latin typeface="Cambria Math" panose="02040503050406030204" pitchFamily="18" charset="0"/>
                                  </a:rPr>
                                  <m:t>𝑖𝑓</m:t>
                                </m:r>
                                <m:r>
                                  <a:rPr lang="hu-HU" i="1" dirty="0">
                                    <a:latin typeface="Cambria Math" panose="02040503050406030204" pitchFamily="18" charset="0"/>
                                  </a:rPr>
                                  <m:t> </m:t>
                                </m:r>
                                <m:r>
                                  <a:rPr lang="hu-HU" i="1" dirty="0">
                                    <a:latin typeface="Cambria Math" panose="02040503050406030204" pitchFamily="18" charset="0"/>
                                  </a:rPr>
                                  <m:t>𝑥</m:t>
                                </m:r>
                                <m:r>
                                  <a:rPr lang="hu-HU" b="0" i="1" dirty="0" smtClean="0">
                                    <a:latin typeface="Cambria Math" panose="02040503050406030204" pitchFamily="18" charset="0"/>
                                  </a:rPr>
                                  <m:t>≤0</m:t>
                                </m:r>
                              </m:e>
                            </m:mr>
                            <m:mr>
                              <m:e>
                                <m:eqArr>
                                  <m:eqArrPr>
                                    <m:ctrlPr>
                                      <a:rPr lang="hu-HU" b="0" i="1" dirty="0" smtClean="0">
                                        <a:latin typeface="Cambria Math" panose="02040503050406030204" pitchFamily="18" charset="0"/>
                                      </a:rPr>
                                    </m:ctrlPr>
                                  </m:eqArrPr>
                                  <m:e>
                                    <m:r>
                                      <a:rPr lang="hu-HU" b="0" i="1" dirty="0" smtClean="0">
                                        <a:latin typeface="Cambria Math" panose="02040503050406030204" pitchFamily="18" charset="0"/>
                                      </a:rPr>
                                      <m:t>𝑥</m:t>
                                    </m:r>
                                    <m:d>
                                      <m:dPr>
                                        <m:ctrlPr>
                                          <a:rPr lang="hu-HU" b="0" i="1" dirty="0" smtClean="0">
                                            <a:latin typeface="Cambria Math" panose="02040503050406030204" pitchFamily="18" charset="0"/>
                                          </a:rPr>
                                        </m:ctrlPr>
                                      </m:dPr>
                                      <m:e>
                                        <m:r>
                                          <a:rPr lang="hu-HU" b="0" i="1" dirty="0" smtClean="0">
                                            <a:latin typeface="Cambria Math" panose="02040503050406030204" pitchFamily="18" charset="0"/>
                                          </a:rPr>
                                          <m:t>2−</m:t>
                                        </m:r>
                                        <m:r>
                                          <a:rPr lang="hu-HU" b="0" i="1" dirty="0" smtClean="0">
                                            <a:latin typeface="Cambria Math" panose="02040503050406030204" pitchFamily="18" charset="0"/>
                                          </a:rPr>
                                          <m:t>𝑥</m:t>
                                        </m:r>
                                      </m:e>
                                    </m:d>
                                    <m:r>
                                      <a:rPr lang="hu-HU" i="1" dirty="0">
                                        <a:latin typeface="Cambria Math" panose="02040503050406030204" pitchFamily="18" charset="0"/>
                                      </a:rPr>
                                      <m:t>, </m:t>
                                    </m:r>
                                    <m:r>
                                      <a:rPr lang="hu-HU" b="0" i="1" dirty="0" smtClean="0">
                                        <a:latin typeface="Cambria Math" panose="02040503050406030204" pitchFamily="18" charset="0"/>
                                      </a:rPr>
                                      <m:t> </m:t>
                                    </m:r>
                                    <m:r>
                                      <a:rPr lang="hu-HU" i="1" dirty="0">
                                        <a:latin typeface="Cambria Math" panose="02040503050406030204" pitchFamily="18" charset="0"/>
                                      </a:rPr>
                                      <m:t>𝑖𝑓</m:t>
                                    </m:r>
                                    <m:r>
                                      <a:rPr lang="hu-HU" i="1" dirty="0">
                                        <a:latin typeface="Cambria Math" panose="02040503050406030204" pitchFamily="18" charset="0"/>
                                      </a:rPr>
                                      <m:t> 0&lt;</m:t>
                                    </m:r>
                                    <m:r>
                                      <a:rPr lang="hu-HU" i="1" dirty="0">
                                        <a:latin typeface="Cambria Math" panose="02040503050406030204" pitchFamily="18" charset="0"/>
                                      </a:rPr>
                                      <m:t>𝑥</m:t>
                                    </m:r>
                                    <m:r>
                                      <a:rPr lang="hu-HU" b="0" i="1" dirty="0" smtClean="0">
                                        <a:latin typeface="Cambria Math" panose="02040503050406030204" pitchFamily="18" charset="0"/>
                                      </a:rPr>
                                      <m:t>≤</m:t>
                                    </m:r>
                                    <m:r>
                                      <a:rPr lang="hu-HU" i="1" dirty="0">
                                        <a:latin typeface="Cambria Math" panose="02040503050406030204" pitchFamily="18" charset="0"/>
                                      </a:rPr>
                                      <m:t>1</m:t>
                                    </m:r>
                                  </m:e>
                                  <m:e>
                                    <m:r>
                                      <a:rPr lang="hu-HU" b="0" i="1" dirty="0" smtClean="0">
                                        <a:latin typeface="Cambria Math" panose="02040503050406030204" pitchFamily="18" charset="0"/>
                                      </a:rPr>
                                      <m:t>1,         </m:t>
                                    </m:r>
                                    <m:r>
                                      <a:rPr lang="hu-HU" b="0" i="1" dirty="0" smtClean="0">
                                        <a:latin typeface="Cambria Math" panose="02040503050406030204" pitchFamily="18" charset="0"/>
                                      </a:rPr>
                                      <m:t>𝑖𝑓</m:t>
                                    </m:r>
                                    <m:r>
                                      <a:rPr lang="hu-HU" b="0" i="1" dirty="0" smtClean="0">
                                        <a:latin typeface="Cambria Math" panose="02040503050406030204" pitchFamily="18" charset="0"/>
                                      </a:rPr>
                                      <m:t> 1&lt;</m:t>
                                    </m:r>
                                    <m:r>
                                      <a:rPr lang="hu-HU" b="0" i="1" dirty="0" smtClean="0">
                                        <a:latin typeface="Cambria Math" panose="02040503050406030204" pitchFamily="18" charset="0"/>
                                      </a:rPr>
                                      <m:t>𝑥</m:t>
                                    </m:r>
                                  </m:e>
                                </m:eqArr>
                              </m:e>
                            </m:mr>
                          </m:m>
                        </m:e>
                      </m:d>
                    </m:oMath>
                  </m:oMathPara>
                </a14:m>
                <a:endParaRPr lang="en-GB" dirty="0"/>
              </a:p>
            </p:txBody>
          </p:sp>
        </mc:Choice>
        <mc:Fallback xmlns="">
          <p:sp>
            <p:nvSpPr>
              <p:cNvPr id="55" name="Téglalap 54"/>
              <p:cNvSpPr>
                <a:spLocks noRot="1" noChangeAspect="1" noMove="1" noResize="1" noEditPoints="1" noAdjustHandles="1" noChangeArrowheads="1" noChangeShapeType="1" noTextEdit="1"/>
              </p:cNvSpPr>
              <p:nvPr/>
            </p:nvSpPr>
            <p:spPr>
              <a:xfrm>
                <a:off x="4094525" y="3693168"/>
                <a:ext cx="5016053" cy="1117998"/>
              </a:xfrm>
              <a:prstGeom prst="rect">
                <a:avLst/>
              </a:prstGeom>
              <a:blipFill>
                <a:blip r:embed="rId13"/>
                <a:stretch>
                  <a:fillRect/>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56" name="Szövegdoboz 55"/>
              <p:cNvSpPr txBox="1"/>
              <p:nvPr/>
            </p:nvSpPr>
            <p:spPr>
              <a:xfrm>
                <a:off x="4165971" y="4940853"/>
                <a:ext cx="4168064" cy="622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hu-HU" b="0" i="1" smtClean="0">
                          <a:latin typeface="Cambria Math" panose="02040503050406030204" pitchFamily="18" charset="0"/>
                        </a:rPr>
                        <m:t>𝑃</m:t>
                      </m:r>
                      <m:d>
                        <m:dPr>
                          <m:ctrlPr>
                            <a:rPr lang="hu-HU" b="0" i="1" smtClean="0">
                              <a:latin typeface="Cambria Math" panose="02040503050406030204" pitchFamily="18" charset="0"/>
                            </a:rPr>
                          </m:ctrlPr>
                        </m:dPr>
                        <m:e>
                          <m:r>
                            <a:rPr lang="hu-HU" b="0" i="1" smtClean="0">
                              <a:latin typeface="Cambria Math" panose="02040503050406030204" pitchFamily="18" charset="0"/>
                            </a:rPr>
                            <m:t>𝜉</m:t>
                          </m:r>
                          <m:r>
                            <a:rPr lang="hu-HU" b="0" i="1" smtClean="0">
                              <a:latin typeface="Cambria Math" panose="02040503050406030204" pitchFamily="18" charset="0"/>
                            </a:rPr>
                            <m:t>∈</m:t>
                          </m:r>
                          <m:d>
                            <m:dPr>
                              <m:begChr m:val="["/>
                              <m:endChr m:val="]"/>
                              <m:ctrlPr>
                                <a:rPr lang="hu-HU" b="0" i="1" smtClean="0">
                                  <a:latin typeface="Cambria Math" panose="02040503050406030204" pitchFamily="18" charset="0"/>
                                </a:rPr>
                              </m:ctrlPr>
                            </m:dPr>
                            <m:e>
                              <m:f>
                                <m:fPr>
                                  <m:ctrlPr>
                                    <a:rPr lang="hu-HU" b="0" i="1" smtClean="0">
                                      <a:latin typeface="Cambria Math" panose="02040503050406030204" pitchFamily="18" charset="0"/>
                                    </a:rPr>
                                  </m:ctrlPr>
                                </m:fPr>
                                <m:num>
                                  <m:r>
                                    <a:rPr lang="hu-HU" b="0" i="1" smtClean="0">
                                      <a:latin typeface="Cambria Math" panose="02040503050406030204" pitchFamily="18" charset="0"/>
                                    </a:rPr>
                                    <m:t>1</m:t>
                                  </m:r>
                                </m:num>
                                <m:den>
                                  <m:r>
                                    <a:rPr lang="hu-HU" b="0" i="1" smtClean="0">
                                      <a:latin typeface="Cambria Math" panose="02040503050406030204" pitchFamily="18" charset="0"/>
                                    </a:rPr>
                                    <m:t>2</m:t>
                                  </m:r>
                                </m:den>
                              </m:f>
                              <m:r>
                                <a:rPr lang="hu-HU" b="0" i="1" smtClean="0">
                                  <a:latin typeface="Cambria Math" panose="02040503050406030204" pitchFamily="18" charset="0"/>
                                </a:rPr>
                                <m:t>;</m:t>
                              </m:r>
                              <m:f>
                                <m:fPr>
                                  <m:ctrlPr>
                                    <a:rPr lang="hu-HU" b="0" i="1" smtClean="0">
                                      <a:latin typeface="Cambria Math" panose="02040503050406030204" pitchFamily="18" charset="0"/>
                                    </a:rPr>
                                  </m:ctrlPr>
                                </m:fPr>
                                <m:num>
                                  <m:r>
                                    <a:rPr lang="hu-HU" b="0" i="1" smtClean="0">
                                      <a:latin typeface="Cambria Math" panose="02040503050406030204" pitchFamily="18" charset="0"/>
                                    </a:rPr>
                                    <m:t>3</m:t>
                                  </m:r>
                                </m:num>
                                <m:den>
                                  <m:r>
                                    <a:rPr lang="hu-HU" b="0" i="1" smtClean="0">
                                      <a:latin typeface="Cambria Math" panose="02040503050406030204" pitchFamily="18" charset="0"/>
                                    </a:rPr>
                                    <m:t>4</m:t>
                                  </m:r>
                                </m:den>
                              </m:f>
                            </m:e>
                          </m:d>
                        </m:e>
                      </m:d>
                      <m:r>
                        <a:rPr lang="hu-HU" b="0" i="1" smtClean="0">
                          <a:latin typeface="Cambria Math" panose="02040503050406030204" pitchFamily="18" charset="0"/>
                        </a:rPr>
                        <m:t>=</m:t>
                      </m:r>
                      <m:r>
                        <a:rPr lang="hu-HU" b="0" i="1" smtClean="0">
                          <a:latin typeface="Cambria Math" panose="02040503050406030204" pitchFamily="18" charset="0"/>
                        </a:rPr>
                        <m:t>𝐹</m:t>
                      </m:r>
                      <m:d>
                        <m:dPr>
                          <m:ctrlPr>
                            <a:rPr lang="hu-HU" b="0" i="1" smtClean="0">
                              <a:latin typeface="Cambria Math" panose="02040503050406030204" pitchFamily="18" charset="0"/>
                            </a:rPr>
                          </m:ctrlPr>
                        </m:dPr>
                        <m:e>
                          <m:f>
                            <m:fPr>
                              <m:ctrlPr>
                                <a:rPr lang="hu-HU" b="0" i="1" smtClean="0">
                                  <a:latin typeface="Cambria Math" panose="02040503050406030204" pitchFamily="18" charset="0"/>
                                </a:rPr>
                              </m:ctrlPr>
                            </m:fPr>
                            <m:num>
                              <m:r>
                                <a:rPr lang="hu-HU" b="0" i="1" smtClean="0">
                                  <a:latin typeface="Cambria Math" panose="02040503050406030204" pitchFamily="18" charset="0"/>
                                </a:rPr>
                                <m:t>3</m:t>
                              </m:r>
                            </m:num>
                            <m:den>
                              <m:r>
                                <a:rPr lang="hu-HU" b="0" i="1" smtClean="0">
                                  <a:latin typeface="Cambria Math" panose="02040503050406030204" pitchFamily="18" charset="0"/>
                                </a:rPr>
                                <m:t>4</m:t>
                              </m:r>
                            </m:den>
                          </m:f>
                          <m:r>
                            <a:rPr lang="hu-HU" b="0" i="1" smtClean="0">
                              <a:latin typeface="Cambria Math" panose="02040503050406030204" pitchFamily="18" charset="0"/>
                            </a:rPr>
                            <m:t>+0</m:t>
                          </m:r>
                        </m:e>
                      </m:d>
                      <m:r>
                        <a:rPr lang="hu-HU" b="0" i="1" smtClean="0">
                          <a:latin typeface="Cambria Math" panose="02040503050406030204" pitchFamily="18" charset="0"/>
                        </a:rPr>
                        <m:t>−</m:t>
                      </m:r>
                      <m:r>
                        <a:rPr lang="hu-HU" b="0" i="1" smtClean="0">
                          <a:latin typeface="Cambria Math" panose="02040503050406030204" pitchFamily="18" charset="0"/>
                        </a:rPr>
                        <m:t>𝐹</m:t>
                      </m:r>
                      <m:d>
                        <m:dPr>
                          <m:ctrlPr>
                            <a:rPr lang="hu-HU" b="0" i="1" smtClean="0">
                              <a:latin typeface="Cambria Math" panose="02040503050406030204" pitchFamily="18" charset="0"/>
                            </a:rPr>
                          </m:ctrlPr>
                        </m:dPr>
                        <m:e>
                          <m:f>
                            <m:fPr>
                              <m:ctrlPr>
                                <a:rPr lang="hu-HU" b="0" i="1" smtClean="0">
                                  <a:latin typeface="Cambria Math" panose="02040503050406030204" pitchFamily="18" charset="0"/>
                                </a:rPr>
                              </m:ctrlPr>
                            </m:fPr>
                            <m:num>
                              <m:r>
                                <a:rPr lang="hu-HU" b="0" i="1" smtClean="0">
                                  <a:latin typeface="Cambria Math" panose="02040503050406030204" pitchFamily="18" charset="0"/>
                                </a:rPr>
                                <m:t>2</m:t>
                              </m:r>
                            </m:num>
                            <m:den>
                              <m:r>
                                <a:rPr lang="hu-HU" b="0" i="1" smtClean="0">
                                  <a:latin typeface="Cambria Math" panose="02040503050406030204" pitchFamily="18" charset="0"/>
                                </a:rPr>
                                <m:t>4</m:t>
                              </m:r>
                            </m:den>
                          </m:f>
                        </m:e>
                      </m:d>
                      <m:r>
                        <a:rPr lang="hu-HU" b="0" i="1" smtClean="0">
                          <a:latin typeface="Cambria Math" panose="02040503050406030204" pitchFamily="18" charset="0"/>
                        </a:rPr>
                        <m:t>=</m:t>
                      </m:r>
                      <m:f>
                        <m:fPr>
                          <m:ctrlPr>
                            <a:rPr lang="hu-HU" b="0" i="1" smtClean="0">
                              <a:latin typeface="Cambria Math" panose="02040503050406030204" pitchFamily="18" charset="0"/>
                            </a:rPr>
                          </m:ctrlPr>
                        </m:fPr>
                        <m:num>
                          <m:r>
                            <a:rPr lang="hu-HU" b="0" i="1" smtClean="0">
                              <a:latin typeface="Cambria Math" panose="02040503050406030204" pitchFamily="18" charset="0"/>
                            </a:rPr>
                            <m:t>3</m:t>
                          </m:r>
                        </m:num>
                        <m:den>
                          <m:r>
                            <a:rPr lang="hu-HU" b="0" i="1" smtClean="0">
                              <a:latin typeface="Cambria Math" panose="02040503050406030204" pitchFamily="18" charset="0"/>
                            </a:rPr>
                            <m:t>16</m:t>
                          </m:r>
                        </m:den>
                      </m:f>
                    </m:oMath>
                  </m:oMathPara>
                </a14:m>
                <a:endParaRPr lang="en-GB" dirty="0"/>
              </a:p>
            </p:txBody>
          </p:sp>
        </mc:Choice>
        <mc:Fallback xmlns="">
          <p:sp>
            <p:nvSpPr>
              <p:cNvPr id="56" name="Szövegdoboz 55"/>
              <p:cNvSpPr txBox="1">
                <a:spLocks noRot="1" noChangeAspect="1" noMove="1" noResize="1" noEditPoints="1" noAdjustHandles="1" noChangeArrowheads="1" noChangeShapeType="1" noTextEdit="1"/>
              </p:cNvSpPr>
              <p:nvPr/>
            </p:nvSpPr>
            <p:spPr>
              <a:xfrm>
                <a:off x="4165971" y="4940853"/>
                <a:ext cx="4168064" cy="622350"/>
              </a:xfrm>
              <a:prstGeom prst="rect">
                <a:avLst/>
              </a:prstGeom>
              <a:blipFill rotWithShape="0">
                <a:blip r:embed="rId1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4245844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51" grpId="0"/>
      <p:bldP spid="54" grpId="0"/>
      <p:bldP spid="55" grpId="0"/>
      <p:bldP spid="5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ím 1"/>
          <p:cNvSpPr>
            <a:spLocks noGrp="1"/>
          </p:cNvSpPr>
          <p:nvPr>
            <p:ph type="title"/>
          </p:nvPr>
        </p:nvSpPr>
        <p:spPr/>
        <p:txBody>
          <a:bodyPr/>
          <a:lstStyle/>
          <a:p>
            <a:r>
              <a:rPr lang="en-US" dirty="0">
                <a:solidFill>
                  <a:schemeClr val="tx1"/>
                </a:solidFill>
                <a:cs typeface="Arial" panose="020B0604020202020204" pitchFamily="34" charset="0"/>
              </a:rPr>
              <a:t>Exercise </a:t>
            </a:r>
            <a:r>
              <a:rPr lang="en-GB" dirty="0"/>
              <a:t>9.5</a:t>
            </a:r>
            <a:r>
              <a:rPr lang="en-GB" dirty="0">
                <a:solidFill>
                  <a:schemeClr val="tx1"/>
                </a:solidFill>
                <a:cs typeface="Arial" panose="020B0604020202020204" pitchFamily="34" charset="0"/>
              </a:rPr>
              <a:t> (M</a:t>
            </a:r>
            <a:r>
              <a:rPr lang="hu-HU" dirty="0">
                <a:solidFill>
                  <a:schemeClr val="tx1"/>
                </a:solidFill>
                <a:cs typeface="Arial" panose="020B0604020202020204" pitchFamily="34" charset="0"/>
              </a:rPr>
              <a:t>1</a:t>
            </a:r>
            <a:r>
              <a:rPr lang="en-GB" dirty="0">
                <a:solidFill>
                  <a:schemeClr val="tx1"/>
                </a:solidFill>
                <a:cs typeface="Arial" panose="020B0604020202020204" pitchFamily="34" charset="0"/>
              </a:rPr>
              <a:t>)</a:t>
            </a:r>
            <a:br>
              <a:rPr lang="hu-HU" dirty="0">
                <a:solidFill>
                  <a:schemeClr val="tx1"/>
                </a:solidFill>
                <a:cs typeface="Arial" panose="020B0604020202020204" pitchFamily="34" charset="0"/>
              </a:rPr>
            </a:br>
            <a:r>
              <a:rPr lang="hu-HU" dirty="0">
                <a:solidFill>
                  <a:schemeClr val="tx1"/>
                </a:solidFill>
                <a:cs typeface="Arial" panose="020B0604020202020204" pitchFamily="34" charset="0"/>
              </a:rPr>
              <a:t>MATLAB </a:t>
            </a:r>
            <a:r>
              <a:rPr lang="hu-HU" dirty="0" err="1">
                <a:solidFill>
                  <a:schemeClr val="tx1"/>
                </a:solidFill>
                <a:cs typeface="Arial" panose="020B0604020202020204" pitchFamily="34" charset="0"/>
              </a:rPr>
              <a:t>solution</a:t>
            </a:r>
            <a:endParaRPr lang="en-GB" dirty="0">
              <a:solidFill>
                <a:schemeClr val="tx1"/>
              </a:solidFill>
            </a:endParaRPr>
          </a:p>
        </p:txBody>
      </p:sp>
      <p:sp>
        <p:nvSpPr>
          <p:cNvPr id="3" name="Tartalom helye 2"/>
          <p:cNvSpPr>
            <a:spLocks noGrp="1"/>
          </p:cNvSpPr>
          <p:nvPr>
            <p:ph idx="1"/>
          </p:nvPr>
        </p:nvSpPr>
        <p:spPr>
          <a:xfrm>
            <a:off x="822959" y="1737361"/>
            <a:ext cx="7543801" cy="4581143"/>
          </a:xfrm>
        </p:spPr>
        <p:txBody>
          <a:bodyPr>
            <a:normAutofit fontScale="85000" lnSpcReduction="20000"/>
          </a:bodyPr>
          <a:lstStyle/>
          <a:p>
            <a:pPr>
              <a:lnSpc>
                <a:spcPct val="120000"/>
              </a:lnSpc>
              <a:spcBef>
                <a:spcPts val="0"/>
              </a:spcBef>
              <a:spcAft>
                <a:spcPts val="0"/>
              </a:spcAft>
            </a:pPr>
            <a:r>
              <a:rPr lang="en-GB" dirty="0"/>
              <a:t>n = 10^</a:t>
            </a:r>
            <a:r>
              <a:rPr lang="hu-HU" dirty="0"/>
              <a:t>4</a:t>
            </a:r>
            <a:r>
              <a:rPr lang="en-GB" dirty="0"/>
              <a:t>;</a:t>
            </a:r>
          </a:p>
          <a:p>
            <a:pPr>
              <a:lnSpc>
                <a:spcPct val="120000"/>
              </a:lnSpc>
              <a:spcBef>
                <a:spcPts val="0"/>
              </a:spcBef>
              <a:spcAft>
                <a:spcPts val="0"/>
              </a:spcAft>
            </a:pPr>
            <a:r>
              <a:rPr lang="en-GB" dirty="0"/>
              <a:t>c = 0;</a:t>
            </a:r>
          </a:p>
          <a:p>
            <a:pPr>
              <a:lnSpc>
                <a:spcPct val="120000"/>
              </a:lnSpc>
              <a:spcBef>
                <a:spcPts val="0"/>
              </a:spcBef>
              <a:spcAft>
                <a:spcPts val="0"/>
              </a:spcAft>
            </a:pPr>
            <a:r>
              <a:rPr lang="en-GB" dirty="0"/>
              <a:t> </a:t>
            </a:r>
            <a:r>
              <a:rPr lang="pt-BR" dirty="0"/>
              <a:t>axis([0 1 0 1])</a:t>
            </a:r>
          </a:p>
          <a:p>
            <a:pPr>
              <a:lnSpc>
                <a:spcPct val="120000"/>
              </a:lnSpc>
              <a:spcBef>
                <a:spcPts val="0"/>
              </a:spcBef>
              <a:spcAft>
                <a:spcPts val="0"/>
              </a:spcAft>
            </a:pPr>
            <a:r>
              <a:rPr lang="en-GB" dirty="0"/>
              <a:t>hold on</a:t>
            </a:r>
          </a:p>
          <a:p>
            <a:pPr>
              <a:lnSpc>
                <a:spcPct val="120000"/>
              </a:lnSpc>
              <a:spcBef>
                <a:spcPts val="0"/>
              </a:spcBef>
              <a:spcAft>
                <a:spcPts val="0"/>
              </a:spcAft>
            </a:pPr>
            <a:r>
              <a:rPr lang="en-GB" dirty="0"/>
              <a:t> for </a:t>
            </a:r>
            <a:r>
              <a:rPr lang="en-GB" dirty="0" err="1"/>
              <a:t>i</a:t>
            </a:r>
            <a:r>
              <a:rPr lang="en-GB" dirty="0"/>
              <a:t>=1:n</a:t>
            </a:r>
          </a:p>
          <a:p>
            <a:pPr>
              <a:lnSpc>
                <a:spcPct val="120000"/>
              </a:lnSpc>
              <a:spcBef>
                <a:spcPts val="0"/>
              </a:spcBef>
              <a:spcAft>
                <a:spcPts val="0"/>
              </a:spcAft>
            </a:pPr>
            <a:r>
              <a:rPr lang="en-GB" dirty="0"/>
              <a:t>    x = rand();</a:t>
            </a:r>
          </a:p>
          <a:p>
            <a:pPr>
              <a:lnSpc>
                <a:spcPct val="120000"/>
              </a:lnSpc>
              <a:spcBef>
                <a:spcPts val="0"/>
              </a:spcBef>
              <a:spcAft>
                <a:spcPts val="0"/>
              </a:spcAft>
            </a:pPr>
            <a:r>
              <a:rPr lang="en-GB" dirty="0"/>
              <a:t>    y = rand();</a:t>
            </a:r>
          </a:p>
          <a:p>
            <a:pPr>
              <a:lnSpc>
                <a:spcPct val="120000"/>
              </a:lnSpc>
              <a:spcBef>
                <a:spcPts val="0"/>
              </a:spcBef>
              <a:spcAft>
                <a:spcPts val="0"/>
              </a:spcAft>
            </a:pPr>
            <a:r>
              <a:rPr lang="es-ES" dirty="0"/>
              <a:t>    if abs(x-y)&gt;1/2 &amp; abs(x-y)&lt;3/4</a:t>
            </a:r>
          </a:p>
          <a:p>
            <a:pPr>
              <a:lnSpc>
                <a:spcPct val="120000"/>
              </a:lnSpc>
              <a:spcBef>
                <a:spcPts val="0"/>
              </a:spcBef>
              <a:spcAft>
                <a:spcPts val="0"/>
              </a:spcAft>
            </a:pPr>
            <a:r>
              <a:rPr lang="en-GB" dirty="0"/>
              <a:t>        plot(</a:t>
            </a:r>
            <a:r>
              <a:rPr lang="en-GB" dirty="0" err="1"/>
              <a:t>x,y</a:t>
            </a:r>
            <a:r>
              <a:rPr lang="en-GB" dirty="0"/>
              <a:t>, '</a:t>
            </a:r>
            <a:r>
              <a:rPr lang="hu-HU" dirty="0"/>
              <a:t>.</a:t>
            </a:r>
            <a:r>
              <a:rPr lang="en-GB" dirty="0"/>
              <a:t>g')</a:t>
            </a:r>
          </a:p>
          <a:p>
            <a:pPr>
              <a:lnSpc>
                <a:spcPct val="120000"/>
              </a:lnSpc>
              <a:spcBef>
                <a:spcPts val="0"/>
              </a:spcBef>
              <a:spcAft>
                <a:spcPts val="0"/>
              </a:spcAft>
            </a:pPr>
            <a:r>
              <a:rPr lang="en-GB" dirty="0"/>
              <a:t>        c = c+1;</a:t>
            </a:r>
          </a:p>
          <a:p>
            <a:pPr>
              <a:lnSpc>
                <a:spcPct val="120000"/>
              </a:lnSpc>
              <a:spcBef>
                <a:spcPts val="0"/>
              </a:spcBef>
              <a:spcAft>
                <a:spcPts val="0"/>
              </a:spcAft>
            </a:pPr>
            <a:r>
              <a:rPr lang="en-GB" dirty="0"/>
              <a:t>    else</a:t>
            </a:r>
          </a:p>
          <a:p>
            <a:pPr>
              <a:lnSpc>
                <a:spcPct val="120000"/>
              </a:lnSpc>
              <a:spcBef>
                <a:spcPts val="0"/>
              </a:spcBef>
              <a:spcAft>
                <a:spcPts val="0"/>
              </a:spcAft>
            </a:pPr>
            <a:r>
              <a:rPr lang="en-GB" dirty="0"/>
              <a:t>        plot(</a:t>
            </a:r>
            <a:r>
              <a:rPr lang="en-GB" dirty="0" err="1"/>
              <a:t>x,y</a:t>
            </a:r>
            <a:r>
              <a:rPr lang="en-GB" dirty="0"/>
              <a:t>, '</a:t>
            </a:r>
            <a:r>
              <a:rPr lang="hu-HU" dirty="0"/>
              <a:t>.</a:t>
            </a:r>
            <a:r>
              <a:rPr lang="en-GB" dirty="0"/>
              <a:t>r')</a:t>
            </a:r>
          </a:p>
          <a:p>
            <a:pPr>
              <a:lnSpc>
                <a:spcPct val="120000"/>
              </a:lnSpc>
              <a:spcBef>
                <a:spcPts val="0"/>
              </a:spcBef>
              <a:spcAft>
                <a:spcPts val="0"/>
              </a:spcAft>
            </a:pPr>
            <a:r>
              <a:rPr lang="en-GB" dirty="0"/>
              <a:t>    end</a:t>
            </a:r>
          </a:p>
          <a:p>
            <a:pPr>
              <a:lnSpc>
                <a:spcPct val="120000"/>
              </a:lnSpc>
              <a:spcBef>
                <a:spcPts val="0"/>
              </a:spcBef>
              <a:spcAft>
                <a:spcPts val="0"/>
              </a:spcAft>
            </a:pPr>
            <a:r>
              <a:rPr lang="en-GB" dirty="0"/>
              <a:t>end</a:t>
            </a:r>
          </a:p>
          <a:p>
            <a:pPr>
              <a:lnSpc>
                <a:spcPct val="120000"/>
              </a:lnSpc>
              <a:spcBef>
                <a:spcPts val="0"/>
              </a:spcBef>
              <a:spcAft>
                <a:spcPts val="0"/>
              </a:spcAft>
            </a:pPr>
            <a:r>
              <a:rPr lang="en-GB" dirty="0" err="1"/>
              <a:t>c/n</a:t>
            </a:r>
            <a:endParaRPr lang="en-GB" dirty="0"/>
          </a:p>
          <a:p>
            <a:pPr>
              <a:lnSpc>
                <a:spcPct val="120000"/>
              </a:lnSpc>
              <a:spcBef>
                <a:spcPts val="0"/>
              </a:spcBef>
              <a:spcAft>
                <a:spcPts val="0"/>
              </a:spcAft>
            </a:pPr>
            <a:r>
              <a:rPr lang="en-GB" dirty="0"/>
              <a:t>3/16</a:t>
            </a:r>
          </a:p>
        </p:txBody>
      </p:sp>
    </p:spTree>
    <p:extLst>
      <p:ext uri="{BB962C8B-B14F-4D97-AF65-F5344CB8AC3E}">
        <p14:creationId xmlns:p14="http://schemas.microsoft.com/office/powerpoint/2010/main" val="93797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US" dirty="0">
                <a:solidFill>
                  <a:srgbClr val="92D050"/>
                </a:solidFill>
                <a:cs typeface="Arial" panose="020B0604020202020204" pitchFamily="34" charset="0"/>
              </a:rPr>
              <a:t>Exercise </a:t>
            </a:r>
            <a:r>
              <a:rPr lang="hu-HU" dirty="0">
                <a:solidFill>
                  <a:srgbClr val="92D050"/>
                </a:solidFill>
                <a:cs typeface="Arial" panose="020B0604020202020204" pitchFamily="34" charset="0"/>
              </a:rPr>
              <a:t>10.1 </a:t>
            </a:r>
            <a:r>
              <a:rPr lang="hu-HU" dirty="0">
                <a:solidFill>
                  <a:schemeClr val="tx1"/>
                </a:solidFill>
                <a:cs typeface="Arial" panose="020B0604020202020204" pitchFamily="34" charset="0"/>
              </a:rPr>
              <a:t>(M2)</a:t>
            </a:r>
            <a:endParaRPr lang="en-GB" dirty="0"/>
          </a:p>
        </p:txBody>
      </p:sp>
      <p:sp>
        <p:nvSpPr>
          <p:cNvPr id="3" name="Tartalom helye 2"/>
          <p:cNvSpPr>
            <a:spLocks noGrp="1"/>
          </p:cNvSpPr>
          <p:nvPr>
            <p:ph idx="1"/>
          </p:nvPr>
        </p:nvSpPr>
        <p:spPr>
          <a:xfrm>
            <a:off x="822959" y="1845734"/>
            <a:ext cx="7543801" cy="931334"/>
          </a:xfrm>
        </p:spPr>
        <p:txBody>
          <a:bodyPr>
            <a:normAutofit/>
          </a:bodyPr>
          <a:lstStyle/>
          <a:p>
            <a:r>
              <a:rPr lang="en-US" dirty="0"/>
              <a:t>A stick of length two meters is randomly broken into two parts. Find the cumulative</a:t>
            </a:r>
            <a:r>
              <a:rPr lang="hu-HU" dirty="0"/>
              <a:t> </a:t>
            </a:r>
            <a:r>
              <a:rPr lang="en-US" dirty="0"/>
              <a:t>distribution function (</a:t>
            </a:r>
            <a:r>
              <a:rPr lang="en-US" dirty="0" err="1"/>
              <a:t>cdf</a:t>
            </a:r>
            <a:r>
              <a:rPr lang="en-US" dirty="0"/>
              <a:t>) and the probability density function (pdf) of the length of</a:t>
            </a:r>
            <a:r>
              <a:rPr lang="hu-HU" dirty="0"/>
              <a:t> </a:t>
            </a:r>
            <a:r>
              <a:rPr lang="en-GB" dirty="0"/>
              <a:t>the shorter part.</a:t>
            </a:r>
          </a:p>
        </p:txBody>
      </p:sp>
      <p:grpSp>
        <p:nvGrpSpPr>
          <p:cNvPr id="15" name="Csoportba foglalás 14"/>
          <p:cNvGrpSpPr/>
          <p:nvPr/>
        </p:nvGrpSpPr>
        <p:grpSpPr>
          <a:xfrm>
            <a:off x="822959" y="3240352"/>
            <a:ext cx="1987845" cy="599784"/>
            <a:chOff x="602456" y="3615267"/>
            <a:chExt cx="1987845" cy="599784"/>
          </a:xfrm>
        </p:grpSpPr>
        <p:cxnSp>
          <p:nvCxnSpPr>
            <p:cNvPr id="16" name="Egyenes összekötő 15"/>
            <p:cNvCxnSpPr/>
            <p:nvPr/>
          </p:nvCxnSpPr>
          <p:spPr>
            <a:xfrm>
              <a:off x="626533" y="3683000"/>
              <a:ext cx="189653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Egyenes összekötő 16"/>
            <p:cNvCxnSpPr/>
            <p:nvPr/>
          </p:nvCxnSpPr>
          <p:spPr>
            <a:xfrm>
              <a:off x="1377421" y="3615267"/>
              <a:ext cx="0" cy="1439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Egyenes összekötő 17"/>
            <p:cNvCxnSpPr/>
            <p:nvPr/>
          </p:nvCxnSpPr>
          <p:spPr>
            <a:xfrm>
              <a:off x="670189" y="3615267"/>
              <a:ext cx="0" cy="1439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Egyenes összekötő 18"/>
            <p:cNvCxnSpPr/>
            <p:nvPr/>
          </p:nvCxnSpPr>
          <p:spPr>
            <a:xfrm>
              <a:off x="2439458" y="3615267"/>
              <a:ext cx="0" cy="143933"/>
            </a:xfrm>
            <a:prstGeom prst="line">
              <a:avLst/>
            </a:prstGeom>
          </p:spPr>
          <p:style>
            <a:lnRef idx="1">
              <a:schemeClr val="accent1"/>
            </a:lnRef>
            <a:fillRef idx="0">
              <a:schemeClr val="accent1"/>
            </a:fillRef>
            <a:effectRef idx="0">
              <a:schemeClr val="accent1"/>
            </a:effectRef>
            <a:fontRef idx="minor">
              <a:schemeClr val="tx1"/>
            </a:fontRef>
          </p:style>
        </p:cxnSp>
        <p:sp>
          <p:nvSpPr>
            <p:cNvPr id="21" name="Szövegdoboz 20"/>
            <p:cNvSpPr txBox="1"/>
            <p:nvPr/>
          </p:nvSpPr>
          <p:spPr>
            <a:xfrm>
              <a:off x="602456" y="3845719"/>
              <a:ext cx="301686" cy="369332"/>
            </a:xfrm>
            <a:prstGeom prst="rect">
              <a:avLst/>
            </a:prstGeom>
            <a:noFill/>
          </p:spPr>
          <p:txBody>
            <a:bodyPr wrap="none" rtlCol="0">
              <a:spAutoFit/>
            </a:bodyPr>
            <a:lstStyle/>
            <a:p>
              <a:r>
                <a:rPr lang="hu-HU" dirty="0"/>
                <a:t>0</a:t>
              </a:r>
              <a:endParaRPr lang="en-GB" dirty="0"/>
            </a:p>
          </p:txBody>
        </p:sp>
        <p:sp>
          <p:nvSpPr>
            <p:cNvPr id="22" name="Szövegdoboz 21"/>
            <p:cNvSpPr txBox="1"/>
            <p:nvPr/>
          </p:nvSpPr>
          <p:spPr>
            <a:xfrm>
              <a:off x="2288615" y="3845719"/>
              <a:ext cx="301686" cy="369332"/>
            </a:xfrm>
            <a:prstGeom prst="rect">
              <a:avLst/>
            </a:prstGeom>
            <a:noFill/>
          </p:spPr>
          <p:txBody>
            <a:bodyPr wrap="none" rtlCol="0">
              <a:spAutoFit/>
            </a:bodyPr>
            <a:lstStyle/>
            <a:p>
              <a:r>
                <a:rPr lang="hu-HU" dirty="0"/>
                <a:t>2</a:t>
              </a:r>
              <a:endParaRPr lang="en-GB" dirty="0"/>
            </a:p>
          </p:txBody>
        </p:sp>
      </p:grpSp>
      <mc:AlternateContent xmlns:mc="http://schemas.openxmlformats.org/markup-compatibility/2006" xmlns:a14="http://schemas.microsoft.com/office/drawing/2010/main">
        <mc:Choice Requires="a14">
          <p:sp>
            <p:nvSpPr>
              <p:cNvPr id="25" name="Téglalap 24"/>
              <p:cNvSpPr/>
              <p:nvPr/>
            </p:nvSpPr>
            <p:spPr>
              <a:xfrm>
                <a:off x="3805606" y="2911805"/>
                <a:ext cx="4292265" cy="111799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hu-HU" i="1" dirty="0" smtClean="0">
                          <a:latin typeface="Cambria Math" panose="02040503050406030204" pitchFamily="18" charset="0"/>
                        </a:rPr>
                        <m:t>𝐹</m:t>
                      </m:r>
                      <m:d>
                        <m:dPr>
                          <m:ctrlPr>
                            <a:rPr lang="hu-HU" i="1" dirty="0">
                              <a:latin typeface="Cambria Math" panose="02040503050406030204" pitchFamily="18" charset="0"/>
                            </a:rPr>
                          </m:ctrlPr>
                        </m:dPr>
                        <m:e>
                          <m:r>
                            <a:rPr lang="hu-HU" i="1" dirty="0">
                              <a:latin typeface="Cambria Math" panose="02040503050406030204" pitchFamily="18" charset="0"/>
                            </a:rPr>
                            <m:t>𝑥</m:t>
                          </m:r>
                        </m:e>
                      </m:d>
                      <m:r>
                        <a:rPr lang="hu-HU" b="0" i="1" dirty="0" smtClean="0">
                          <a:latin typeface="Cambria Math" panose="02040503050406030204" pitchFamily="18" charset="0"/>
                        </a:rPr>
                        <m:t>=</m:t>
                      </m:r>
                      <m:r>
                        <a:rPr lang="hu-HU" b="0" i="1" dirty="0" smtClean="0">
                          <a:latin typeface="Cambria Math" panose="02040503050406030204" pitchFamily="18" charset="0"/>
                        </a:rPr>
                        <m:t>𝑃</m:t>
                      </m:r>
                      <m:d>
                        <m:dPr>
                          <m:ctrlPr>
                            <a:rPr lang="hu-HU" b="0" i="1" dirty="0" smtClean="0">
                              <a:latin typeface="Cambria Math" panose="02040503050406030204" pitchFamily="18" charset="0"/>
                            </a:rPr>
                          </m:ctrlPr>
                        </m:dPr>
                        <m:e>
                          <m:r>
                            <a:rPr lang="hu-HU" b="0" i="1" dirty="0" smtClean="0">
                              <a:latin typeface="Cambria Math" panose="02040503050406030204" pitchFamily="18" charset="0"/>
                            </a:rPr>
                            <m:t>𝜉</m:t>
                          </m:r>
                          <m:r>
                            <a:rPr lang="hu-HU" b="0" i="1" dirty="0" smtClean="0">
                              <a:latin typeface="Cambria Math" panose="02040503050406030204" pitchFamily="18" charset="0"/>
                            </a:rPr>
                            <m:t>&lt;</m:t>
                          </m:r>
                          <m:r>
                            <a:rPr lang="hu-HU" b="0" i="1" dirty="0" smtClean="0">
                              <a:latin typeface="Cambria Math" panose="02040503050406030204" pitchFamily="18" charset="0"/>
                            </a:rPr>
                            <m:t>𝑥</m:t>
                          </m:r>
                        </m:e>
                      </m:d>
                      <m:r>
                        <a:rPr lang="hu-HU" b="0" i="1" dirty="0" smtClean="0">
                          <a:latin typeface="Cambria Math" panose="02040503050406030204" pitchFamily="18" charset="0"/>
                        </a:rPr>
                        <m:t>=</m:t>
                      </m:r>
                      <m:d>
                        <m:dPr>
                          <m:begChr m:val="{"/>
                          <m:endChr m:val=""/>
                          <m:ctrlPr>
                            <a:rPr lang="hu-HU" i="1" dirty="0">
                              <a:latin typeface="Cambria Math" panose="02040503050406030204" pitchFamily="18" charset="0"/>
                            </a:rPr>
                          </m:ctrlPr>
                        </m:dPr>
                        <m:e>
                          <m:m>
                            <m:mPr>
                              <m:mcs>
                                <m:mc>
                                  <m:mcPr>
                                    <m:count m:val="1"/>
                                    <m:mcJc m:val="center"/>
                                  </m:mcPr>
                                </m:mc>
                              </m:mcs>
                              <m:ctrlPr>
                                <a:rPr lang="hu-HU" i="1" dirty="0">
                                  <a:latin typeface="Cambria Math" panose="02040503050406030204" pitchFamily="18" charset="0"/>
                                </a:rPr>
                              </m:ctrlPr>
                            </m:mPr>
                            <m:mr>
                              <m:e>
                                <m:r>
                                  <m:rPr>
                                    <m:brk m:alnAt="7"/>
                                  </m:rPr>
                                  <a:rPr lang="hu-HU" i="1" dirty="0">
                                    <a:latin typeface="Cambria Math" panose="02040503050406030204" pitchFamily="18" charset="0"/>
                                  </a:rPr>
                                  <m:t>0</m:t>
                                </m:r>
                                <m:r>
                                  <a:rPr lang="hu-HU" i="1" dirty="0">
                                    <a:latin typeface="Cambria Math" panose="02040503050406030204" pitchFamily="18" charset="0"/>
                                  </a:rPr>
                                  <m:t>, </m:t>
                                </m:r>
                                <m:r>
                                  <a:rPr lang="hu-HU" b="0" i="1" dirty="0" smtClean="0">
                                    <a:latin typeface="Cambria Math" panose="02040503050406030204" pitchFamily="18" charset="0"/>
                                  </a:rPr>
                                  <m:t>        </m:t>
                                </m:r>
                                <m:r>
                                  <a:rPr lang="hu-HU" i="1" dirty="0">
                                    <a:latin typeface="Cambria Math" panose="02040503050406030204" pitchFamily="18" charset="0"/>
                                  </a:rPr>
                                  <m:t>𝑖𝑓</m:t>
                                </m:r>
                                <m:r>
                                  <a:rPr lang="hu-HU" i="1" dirty="0">
                                    <a:latin typeface="Cambria Math" panose="02040503050406030204" pitchFamily="18" charset="0"/>
                                  </a:rPr>
                                  <m:t> </m:t>
                                </m:r>
                                <m:r>
                                  <a:rPr lang="hu-HU" i="1" dirty="0">
                                    <a:latin typeface="Cambria Math" panose="02040503050406030204" pitchFamily="18" charset="0"/>
                                  </a:rPr>
                                  <m:t>𝑥</m:t>
                                </m:r>
                                <m:r>
                                  <a:rPr lang="hu-HU" b="0" i="1" dirty="0" smtClean="0">
                                    <a:latin typeface="Cambria Math" panose="02040503050406030204" pitchFamily="18" charset="0"/>
                                  </a:rPr>
                                  <m:t>≤0</m:t>
                                </m:r>
                              </m:e>
                            </m:mr>
                            <m:mr>
                              <m:e>
                                <m:eqArr>
                                  <m:eqArrPr>
                                    <m:ctrlPr>
                                      <a:rPr lang="hu-HU" b="0" i="1" dirty="0" smtClean="0">
                                        <a:latin typeface="Cambria Math" panose="02040503050406030204" pitchFamily="18" charset="0"/>
                                      </a:rPr>
                                    </m:ctrlPr>
                                  </m:eqArrPr>
                                  <m:e>
                                    <m:r>
                                      <a:rPr lang="hu-HU" b="0" i="1" dirty="0" smtClean="0">
                                        <a:latin typeface="Cambria Math" panose="02040503050406030204" pitchFamily="18" charset="0"/>
                                      </a:rPr>
                                      <m:t>𝑥</m:t>
                                    </m:r>
                                    <m:r>
                                      <a:rPr lang="hu-HU" i="1" dirty="0">
                                        <a:latin typeface="Cambria Math" panose="02040503050406030204" pitchFamily="18" charset="0"/>
                                      </a:rPr>
                                      <m:t>, </m:t>
                                    </m:r>
                                    <m:r>
                                      <a:rPr lang="hu-HU" b="0" i="1" dirty="0" smtClean="0">
                                        <a:latin typeface="Cambria Math" panose="02040503050406030204" pitchFamily="18" charset="0"/>
                                      </a:rPr>
                                      <m:t> </m:t>
                                    </m:r>
                                    <m:r>
                                      <a:rPr lang="hu-HU" i="1" dirty="0">
                                        <a:latin typeface="Cambria Math" panose="02040503050406030204" pitchFamily="18" charset="0"/>
                                      </a:rPr>
                                      <m:t>𝑖𝑓</m:t>
                                    </m:r>
                                    <m:r>
                                      <a:rPr lang="hu-HU" i="1" dirty="0">
                                        <a:latin typeface="Cambria Math" panose="02040503050406030204" pitchFamily="18" charset="0"/>
                                      </a:rPr>
                                      <m:t> 0&lt;</m:t>
                                    </m:r>
                                    <m:r>
                                      <a:rPr lang="hu-HU" i="1" dirty="0">
                                        <a:latin typeface="Cambria Math" panose="02040503050406030204" pitchFamily="18" charset="0"/>
                                      </a:rPr>
                                      <m:t>𝑥</m:t>
                                    </m:r>
                                    <m:r>
                                      <a:rPr lang="hu-HU" b="0" i="1" dirty="0" smtClean="0">
                                        <a:latin typeface="Cambria Math" panose="02040503050406030204" pitchFamily="18" charset="0"/>
                                      </a:rPr>
                                      <m:t>≤</m:t>
                                    </m:r>
                                    <m:r>
                                      <a:rPr lang="hu-HU" i="1" dirty="0">
                                        <a:latin typeface="Cambria Math" panose="02040503050406030204" pitchFamily="18" charset="0"/>
                                      </a:rPr>
                                      <m:t>1</m:t>
                                    </m:r>
                                  </m:e>
                                  <m:e>
                                    <m:r>
                                      <a:rPr lang="hu-HU" b="0" i="1" dirty="0" smtClean="0">
                                        <a:latin typeface="Cambria Math" panose="02040503050406030204" pitchFamily="18" charset="0"/>
                                      </a:rPr>
                                      <m:t>1,         </m:t>
                                    </m:r>
                                    <m:r>
                                      <a:rPr lang="hu-HU" b="0" i="1" dirty="0" smtClean="0">
                                        <a:latin typeface="Cambria Math" panose="02040503050406030204" pitchFamily="18" charset="0"/>
                                      </a:rPr>
                                      <m:t>𝑖𝑓</m:t>
                                    </m:r>
                                    <m:r>
                                      <a:rPr lang="hu-HU" b="0" i="1" dirty="0" smtClean="0">
                                        <a:latin typeface="Cambria Math" panose="02040503050406030204" pitchFamily="18" charset="0"/>
                                      </a:rPr>
                                      <m:t> 1&lt;</m:t>
                                    </m:r>
                                    <m:r>
                                      <a:rPr lang="hu-HU" b="0" i="1" dirty="0" smtClean="0">
                                        <a:latin typeface="Cambria Math" panose="02040503050406030204" pitchFamily="18" charset="0"/>
                                      </a:rPr>
                                      <m:t>𝑥</m:t>
                                    </m:r>
                                  </m:e>
                                </m:eqArr>
                              </m:e>
                            </m:mr>
                          </m:m>
                        </m:e>
                      </m:d>
                    </m:oMath>
                  </m:oMathPara>
                </a14:m>
                <a:endParaRPr lang="en-GB" dirty="0"/>
              </a:p>
            </p:txBody>
          </p:sp>
        </mc:Choice>
        <mc:Fallback xmlns="">
          <p:sp>
            <p:nvSpPr>
              <p:cNvPr id="25" name="Téglalap 24"/>
              <p:cNvSpPr>
                <a:spLocks noRot="1" noChangeAspect="1" noMove="1" noResize="1" noEditPoints="1" noAdjustHandles="1" noChangeArrowheads="1" noChangeShapeType="1" noTextEdit="1"/>
              </p:cNvSpPr>
              <p:nvPr/>
            </p:nvSpPr>
            <p:spPr>
              <a:xfrm>
                <a:off x="3805606" y="2911805"/>
                <a:ext cx="4292265" cy="1117998"/>
              </a:xfrm>
              <a:prstGeom prst="rect">
                <a:avLst/>
              </a:prstGeom>
              <a:blipFill rotWithShape="0">
                <a:blip r:embed="rId2"/>
                <a:stretch>
                  <a:fillRect/>
                </a:stretch>
              </a:blipFill>
            </p:spPr>
            <p:txBody>
              <a:bodyPr/>
              <a:lstStyle/>
              <a:p>
                <a:r>
                  <a:rPr lang="en-GB">
                    <a:noFill/>
                  </a:rPr>
                  <a:t> </a:t>
                </a:r>
              </a:p>
            </p:txBody>
          </p:sp>
        </mc:Fallback>
      </mc:AlternateContent>
      <p:grpSp>
        <p:nvGrpSpPr>
          <p:cNvPr id="44" name="Csoportba foglalás 43"/>
          <p:cNvGrpSpPr/>
          <p:nvPr/>
        </p:nvGrpSpPr>
        <p:grpSpPr>
          <a:xfrm>
            <a:off x="335861" y="4078021"/>
            <a:ext cx="2451789" cy="2026920"/>
            <a:chOff x="335861" y="4078021"/>
            <a:chExt cx="2451789" cy="2026920"/>
          </a:xfrm>
        </p:grpSpPr>
        <p:grpSp>
          <p:nvGrpSpPr>
            <p:cNvPr id="27" name="Csoportba foglalás 26"/>
            <p:cNvGrpSpPr/>
            <p:nvPr/>
          </p:nvGrpSpPr>
          <p:grpSpPr>
            <a:xfrm>
              <a:off x="529841" y="4078021"/>
              <a:ext cx="2026920" cy="2026920"/>
              <a:chOff x="2103120" y="3947160"/>
              <a:chExt cx="2026920" cy="2026920"/>
            </a:xfrm>
          </p:grpSpPr>
          <p:cxnSp>
            <p:nvCxnSpPr>
              <p:cNvPr id="30" name="Egyenes összekötő nyíllal 29"/>
              <p:cNvCxnSpPr/>
              <p:nvPr/>
            </p:nvCxnSpPr>
            <p:spPr>
              <a:xfrm>
                <a:off x="2103120" y="5585460"/>
                <a:ext cx="20269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Egyenes összekötő nyíllal 30"/>
              <p:cNvCxnSpPr/>
              <p:nvPr/>
            </p:nvCxnSpPr>
            <p:spPr>
              <a:xfrm rot="16200000">
                <a:off x="1400175" y="4960620"/>
                <a:ext cx="20269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Egyenes összekötő 31"/>
              <p:cNvCxnSpPr/>
              <p:nvPr/>
            </p:nvCxnSpPr>
            <p:spPr>
              <a:xfrm>
                <a:off x="2212181" y="4148137"/>
                <a:ext cx="184404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3" name="Egyenes összekötő 32"/>
              <p:cNvCxnSpPr/>
              <p:nvPr/>
            </p:nvCxnSpPr>
            <p:spPr>
              <a:xfrm rot="5400000">
                <a:off x="2933700" y="4876800"/>
                <a:ext cx="184404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5" name="Egyenes összekötő 34"/>
              <p:cNvCxnSpPr/>
              <p:nvPr/>
            </p:nvCxnSpPr>
            <p:spPr>
              <a:xfrm flipV="1">
                <a:off x="2411238" y="4145864"/>
                <a:ext cx="1437255" cy="1437255"/>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Szövegdoboz 35"/>
                  <p:cNvSpPr txBox="1"/>
                  <p:nvPr/>
                </p:nvSpPr>
                <p:spPr>
                  <a:xfrm>
                    <a:off x="2789744" y="4680962"/>
                    <a:ext cx="350545"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hu-HU" sz="1200" b="0" i="1" smtClean="0">
                              <a:latin typeface="Cambria Math" panose="02040503050406030204" pitchFamily="18" charset="0"/>
                            </a:rPr>
                            <m:t>𝐹</m:t>
                          </m:r>
                          <m:d>
                            <m:dPr>
                              <m:ctrlPr>
                                <a:rPr lang="hu-HU" sz="1200" b="0" i="1" smtClean="0">
                                  <a:latin typeface="Cambria Math" panose="02040503050406030204" pitchFamily="18" charset="0"/>
                                </a:rPr>
                              </m:ctrlPr>
                            </m:dPr>
                            <m:e>
                              <m:r>
                                <a:rPr lang="hu-HU" sz="1200" b="0" i="1" smtClean="0">
                                  <a:latin typeface="Cambria Math" panose="02040503050406030204" pitchFamily="18" charset="0"/>
                                </a:rPr>
                                <m:t>𝑥</m:t>
                              </m:r>
                            </m:e>
                          </m:d>
                        </m:oMath>
                      </m:oMathPara>
                    </a14:m>
                    <a:endParaRPr lang="en-GB" sz="1200" dirty="0"/>
                  </a:p>
                </p:txBody>
              </p:sp>
            </mc:Choice>
            <mc:Fallback xmlns="">
              <p:sp>
                <p:nvSpPr>
                  <p:cNvPr id="36" name="Szövegdoboz 35"/>
                  <p:cNvSpPr txBox="1">
                    <a:spLocks noRot="1" noChangeAspect="1" noMove="1" noResize="1" noEditPoints="1" noAdjustHandles="1" noChangeArrowheads="1" noChangeShapeType="1" noTextEdit="1"/>
                  </p:cNvSpPr>
                  <p:nvPr/>
                </p:nvSpPr>
                <p:spPr>
                  <a:xfrm>
                    <a:off x="2789744" y="4680962"/>
                    <a:ext cx="350545" cy="184666"/>
                  </a:xfrm>
                  <a:prstGeom prst="rect">
                    <a:avLst/>
                  </a:prstGeom>
                  <a:blipFill rotWithShape="0">
                    <a:blip r:embed="rId3"/>
                    <a:stretch>
                      <a:fillRect l="-10526" b="-3226"/>
                    </a:stretch>
                  </a:blipFill>
                </p:spPr>
                <p:txBody>
                  <a:bodyPr/>
                  <a:lstStyle/>
                  <a:p>
                    <a:r>
                      <a:rPr lang="en-GB">
                        <a:noFill/>
                      </a:rPr>
                      <a:t> </a:t>
                    </a:r>
                  </a:p>
                </p:txBody>
              </p:sp>
            </mc:Fallback>
          </mc:AlternateContent>
        </p:grpSp>
        <p:cxnSp>
          <p:nvCxnSpPr>
            <p:cNvPr id="9" name="Egyenes összekötő 8"/>
            <p:cNvCxnSpPr/>
            <p:nvPr/>
          </p:nvCxnSpPr>
          <p:spPr>
            <a:xfrm>
              <a:off x="2276475" y="4276725"/>
              <a:ext cx="5111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Egyenes összekötő 41"/>
            <p:cNvCxnSpPr/>
            <p:nvPr/>
          </p:nvCxnSpPr>
          <p:spPr>
            <a:xfrm>
              <a:off x="335861" y="5713980"/>
              <a:ext cx="5111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3" name="Téglalap 42"/>
              <p:cNvSpPr/>
              <p:nvPr/>
            </p:nvSpPr>
            <p:spPr>
              <a:xfrm>
                <a:off x="3815024" y="4219694"/>
                <a:ext cx="120943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hu-HU" i="1" dirty="0" smtClean="0">
                          <a:latin typeface="Cambria Math" panose="02040503050406030204" pitchFamily="18" charset="0"/>
                        </a:rPr>
                        <m:t>𝜉</m:t>
                      </m:r>
                      <m:r>
                        <a:rPr lang="hu-HU" b="0" i="1" dirty="0" smtClean="0">
                          <a:latin typeface="Cambria Math" panose="02040503050406030204" pitchFamily="18" charset="0"/>
                        </a:rPr>
                        <m:t>~</m:t>
                      </m:r>
                      <m:r>
                        <a:rPr lang="hu-HU" b="0" i="1" dirty="0" smtClean="0">
                          <a:latin typeface="Cambria Math" panose="02040503050406030204" pitchFamily="18" charset="0"/>
                        </a:rPr>
                        <m:t>𝑢</m:t>
                      </m:r>
                      <m:d>
                        <m:dPr>
                          <m:ctrlPr>
                            <a:rPr lang="hu-HU" b="0" i="1" dirty="0" smtClean="0">
                              <a:latin typeface="Cambria Math" panose="02040503050406030204" pitchFamily="18" charset="0"/>
                            </a:rPr>
                          </m:ctrlPr>
                        </m:dPr>
                        <m:e>
                          <m:r>
                            <a:rPr lang="hu-HU" b="0" i="1" dirty="0" smtClean="0">
                              <a:latin typeface="Cambria Math" panose="02040503050406030204" pitchFamily="18" charset="0"/>
                            </a:rPr>
                            <m:t>0;1</m:t>
                          </m:r>
                        </m:e>
                      </m:d>
                    </m:oMath>
                  </m:oMathPara>
                </a14:m>
                <a:endParaRPr lang="en-GB" dirty="0"/>
              </a:p>
            </p:txBody>
          </p:sp>
        </mc:Choice>
        <mc:Fallback xmlns="">
          <p:sp>
            <p:nvSpPr>
              <p:cNvPr id="43" name="Téglalap 42"/>
              <p:cNvSpPr>
                <a:spLocks noRot="1" noChangeAspect="1" noMove="1" noResize="1" noEditPoints="1" noAdjustHandles="1" noChangeArrowheads="1" noChangeShapeType="1" noTextEdit="1"/>
              </p:cNvSpPr>
              <p:nvPr/>
            </p:nvSpPr>
            <p:spPr>
              <a:xfrm>
                <a:off x="3815024" y="4219694"/>
                <a:ext cx="1209434" cy="369332"/>
              </a:xfrm>
              <a:prstGeom prst="rect">
                <a:avLst/>
              </a:prstGeom>
              <a:blipFill rotWithShape="0">
                <a:blip r:embed="rId4"/>
                <a:stretch>
                  <a:fillRect b="-1311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5" name="Szövegdoboz 44"/>
              <p:cNvSpPr txBox="1"/>
              <p:nvPr/>
            </p:nvSpPr>
            <p:spPr>
              <a:xfrm>
                <a:off x="3833427" y="4835688"/>
                <a:ext cx="2854884" cy="617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hu-HU" b="0" i="1" smtClean="0">
                          <a:latin typeface="Cambria Math" panose="02040503050406030204" pitchFamily="18" charset="0"/>
                        </a:rPr>
                        <m:t>𝑓</m:t>
                      </m:r>
                      <m:d>
                        <m:dPr>
                          <m:ctrlPr>
                            <a:rPr lang="hu-HU" b="0" i="1" smtClean="0">
                              <a:latin typeface="Cambria Math" panose="02040503050406030204" pitchFamily="18" charset="0"/>
                            </a:rPr>
                          </m:ctrlPr>
                        </m:dPr>
                        <m:e>
                          <m:r>
                            <a:rPr lang="hu-HU" b="0" i="1" smtClean="0">
                              <a:latin typeface="Cambria Math" panose="02040503050406030204" pitchFamily="18" charset="0"/>
                            </a:rPr>
                            <m:t>𝑥</m:t>
                          </m:r>
                        </m:e>
                      </m:d>
                      <m:r>
                        <a:rPr lang="hu-HU" b="0" i="1" smtClean="0">
                          <a:latin typeface="Cambria Math" panose="02040503050406030204" pitchFamily="18" charset="0"/>
                        </a:rPr>
                        <m:t>=</m:t>
                      </m:r>
                      <m:d>
                        <m:dPr>
                          <m:begChr m:val="{"/>
                          <m:endChr m:val=""/>
                          <m:ctrlPr>
                            <a:rPr lang="hu-HU" b="0" i="1" smtClean="0">
                              <a:latin typeface="Cambria Math" panose="02040503050406030204" pitchFamily="18" charset="0"/>
                            </a:rPr>
                          </m:ctrlPr>
                        </m:dPr>
                        <m:e>
                          <m:m>
                            <m:mPr>
                              <m:mcs>
                                <m:mc>
                                  <m:mcPr>
                                    <m:count m:val="1"/>
                                    <m:mcJc m:val="center"/>
                                  </m:mcPr>
                                </m:mc>
                              </m:mcs>
                              <m:ctrlPr>
                                <a:rPr lang="hu-HU" b="0" i="1" smtClean="0">
                                  <a:latin typeface="Cambria Math" panose="02040503050406030204" pitchFamily="18" charset="0"/>
                                </a:rPr>
                              </m:ctrlPr>
                            </m:mPr>
                            <m:mr>
                              <m:e>
                                <m:r>
                                  <m:rPr>
                                    <m:brk m:alnAt="7"/>
                                  </m:rPr>
                                  <a:rPr lang="hu-HU" b="0" i="1" smtClean="0">
                                    <a:latin typeface="Cambria Math" panose="02040503050406030204" pitchFamily="18" charset="0"/>
                                  </a:rPr>
                                  <m:t>1</m:t>
                                </m:r>
                                <m:r>
                                  <a:rPr lang="hu-HU" b="0" i="1" smtClean="0">
                                    <a:latin typeface="Cambria Math" panose="02040503050406030204" pitchFamily="18" charset="0"/>
                                  </a:rPr>
                                  <m:t>,  </m:t>
                                </m:r>
                                <m:r>
                                  <a:rPr lang="hu-HU" b="0" i="1" smtClean="0">
                                    <a:latin typeface="Cambria Math" panose="02040503050406030204" pitchFamily="18" charset="0"/>
                                  </a:rPr>
                                  <m:t>𝑖𝑓</m:t>
                                </m:r>
                                <m:r>
                                  <a:rPr lang="hu-HU" b="0" i="1" smtClean="0">
                                    <a:latin typeface="Cambria Math" panose="02040503050406030204" pitchFamily="18" charset="0"/>
                                  </a:rPr>
                                  <m:t> 0&lt;</m:t>
                                </m:r>
                                <m:r>
                                  <a:rPr lang="hu-HU" b="0" i="1" smtClean="0">
                                    <a:latin typeface="Cambria Math" panose="02040503050406030204" pitchFamily="18" charset="0"/>
                                  </a:rPr>
                                  <m:t>𝑥</m:t>
                                </m:r>
                                <m:r>
                                  <a:rPr lang="hu-HU" b="0" i="1" smtClean="0">
                                    <a:latin typeface="Cambria Math" panose="02040503050406030204" pitchFamily="18" charset="0"/>
                                  </a:rPr>
                                  <m:t>≤1</m:t>
                                </m:r>
                              </m:e>
                            </m:mr>
                            <m:mr>
                              <m:e>
                                <m:r>
                                  <a:rPr lang="hu-HU" b="0" i="1" smtClean="0">
                                    <a:latin typeface="Cambria Math" panose="02040503050406030204" pitchFamily="18" charset="0"/>
                                  </a:rPr>
                                  <m:t>0,       </m:t>
                                </m:r>
                                <m:r>
                                  <a:rPr lang="hu-HU" b="0" i="1" smtClean="0">
                                    <a:latin typeface="Cambria Math" panose="02040503050406030204" pitchFamily="18" charset="0"/>
                                  </a:rPr>
                                  <m:t>𝑜𝑡h𝑒𝑟𝑤𝑖𝑠𝑒</m:t>
                                </m:r>
                              </m:e>
                            </m:mr>
                          </m:m>
                        </m:e>
                      </m:d>
                    </m:oMath>
                  </m:oMathPara>
                </a14:m>
                <a:endParaRPr lang="en-GB" dirty="0"/>
              </a:p>
            </p:txBody>
          </p:sp>
        </mc:Choice>
        <mc:Fallback xmlns="">
          <p:sp>
            <p:nvSpPr>
              <p:cNvPr id="45" name="Szövegdoboz 44"/>
              <p:cNvSpPr txBox="1">
                <a:spLocks noRot="1" noChangeAspect="1" noMove="1" noResize="1" noEditPoints="1" noAdjustHandles="1" noChangeArrowheads="1" noChangeShapeType="1" noTextEdit="1"/>
              </p:cNvSpPr>
              <p:nvPr/>
            </p:nvSpPr>
            <p:spPr>
              <a:xfrm>
                <a:off x="3833427" y="4835688"/>
                <a:ext cx="2854884" cy="617861"/>
              </a:xfrm>
              <a:prstGeom prst="rect">
                <a:avLst/>
              </a:prstGeom>
              <a:blipFill rotWithShape="0">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93600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43" grpId="0"/>
      <p:bldP spid="4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ím 1"/>
          <p:cNvSpPr>
            <a:spLocks noGrp="1"/>
          </p:cNvSpPr>
          <p:nvPr>
            <p:ph type="title"/>
          </p:nvPr>
        </p:nvSpPr>
        <p:spPr/>
        <p:txBody>
          <a:bodyPr/>
          <a:lstStyle/>
          <a:p>
            <a:r>
              <a:rPr lang="en-US" dirty="0">
                <a:solidFill>
                  <a:schemeClr val="tx1"/>
                </a:solidFill>
                <a:cs typeface="Arial" panose="020B0604020202020204" pitchFamily="34" charset="0"/>
              </a:rPr>
              <a:t>Exercise </a:t>
            </a:r>
            <a:r>
              <a:rPr lang="hu-HU" dirty="0">
                <a:solidFill>
                  <a:schemeClr val="tx1"/>
                </a:solidFill>
                <a:cs typeface="Arial" panose="020B0604020202020204" pitchFamily="34" charset="0"/>
              </a:rPr>
              <a:t>10.1</a:t>
            </a:r>
            <a:r>
              <a:rPr lang="en-GB" dirty="0">
                <a:solidFill>
                  <a:schemeClr val="tx1"/>
                </a:solidFill>
                <a:cs typeface="Arial" panose="020B0604020202020204" pitchFamily="34" charset="0"/>
              </a:rPr>
              <a:t> (M</a:t>
            </a:r>
            <a:r>
              <a:rPr lang="hu-HU" dirty="0">
                <a:solidFill>
                  <a:schemeClr val="tx1"/>
                </a:solidFill>
                <a:cs typeface="Arial" panose="020B0604020202020204" pitchFamily="34" charset="0"/>
              </a:rPr>
              <a:t>2</a:t>
            </a:r>
            <a:r>
              <a:rPr lang="en-GB" dirty="0">
                <a:solidFill>
                  <a:schemeClr val="tx1"/>
                </a:solidFill>
                <a:cs typeface="Arial" panose="020B0604020202020204" pitchFamily="34" charset="0"/>
              </a:rPr>
              <a:t>)</a:t>
            </a:r>
            <a:br>
              <a:rPr lang="hu-HU" dirty="0">
                <a:solidFill>
                  <a:schemeClr val="tx1"/>
                </a:solidFill>
                <a:cs typeface="Arial" panose="020B0604020202020204" pitchFamily="34" charset="0"/>
              </a:rPr>
            </a:br>
            <a:r>
              <a:rPr lang="hu-HU" dirty="0">
                <a:solidFill>
                  <a:schemeClr val="tx1"/>
                </a:solidFill>
                <a:cs typeface="Arial" panose="020B0604020202020204" pitchFamily="34" charset="0"/>
              </a:rPr>
              <a:t>MATLAB </a:t>
            </a:r>
            <a:r>
              <a:rPr lang="hu-HU" dirty="0" err="1">
                <a:solidFill>
                  <a:schemeClr val="tx1"/>
                </a:solidFill>
                <a:cs typeface="Arial" panose="020B0604020202020204" pitchFamily="34" charset="0"/>
              </a:rPr>
              <a:t>solution</a:t>
            </a:r>
            <a:endParaRPr lang="en-GB" dirty="0">
              <a:solidFill>
                <a:schemeClr val="tx1"/>
              </a:solidFill>
            </a:endParaRPr>
          </a:p>
        </p:txBody>
      </p:sp>
      <p:sp>
        <p:nvSpPr>
          <p:cNvPr id="3" name="Tartalom helye 2"/>
          <p:cNvSpPr>
            <a:spLocks noGrp="1"/>
          </p:cNvSpPr>
          <p:nvPr>
            <p:ph idx="1"/>
          </p:nvPr>
        </p:nvSpPr>
        <p:spPr>
          <a:xfrm>
            <a:off x="822959" y="1737361"/>
            <a:ext cx="7543801" cy="4663439"/>
          </a:xfrm>
        </p:spPr>
        <p:txBody>
          <a:bodyPr>
            <a:noAutofit/>
          </a:bodyPr>
          <a:lstStyle/>
          <a:p>
            <a:pPr>
              <a:lnSpc>
                <a:spcPct val="100000"/>
              </a:lnSpc>
              <a:spcBef>
                <a:spcPts val="0"/>
              </a:spcBef>
              <a:spcAft>
                <a:spcPts val="0"/>
              </a:spcAft>
            </a:pPr>
            <a:r>
              <a:rPr lang="en-GB" dirty="0"/>
              <a:t>n = 10^5;</a:t>
            </a:r>
          </a:p>
          <a:p>
            <a:pPr>
              <a:lnSpc>
                <a:spcPct val="100000"/>
              </a:lnSpc>
              <a:spcBef>
                <a:spcPts val="0"/>
              </a:spcBef>
              <a:spcAft>
                <a:spcPts val="0"/>
              </a:spcAft>
            </a:pPr>
            <a:r>
              <a:rPr lang="en-GB" dirty="0"/>
              <a:t> </a:t>
            </a:r>
          </a:p>
          <a:p>
            <a:pPr>
              <a:lnSpc>
                <a:spcPct val="100000"/>
              </a:lnSpc>
              <a:spcBef>
                <a:spcPts val="0"/>
              </a:spcBef>
              <a:spcAft>
                <a:spcPts val="0"/>
              </a:spcAft>
            </a:pPr>
            <a:r>
              <a:rPr lang="en-GB" dirty="0"/>
              <a:t>stick_1 = rand(1,n)*2;</a:t>
            </a:r>
          </a:p>
          <a:p>
            <a:pPr>
              <a:lnSpc>
                <a:spcPct val="100000"/>
              </a:lnSpc>
              <a:spcBef>
                <a:spcPts val="0"/>
              </a:spcBef>
              <a:spcAft>
                <a:spcPts val="0"/>
              </a:spcAft>
            </a:pPr>
            <a:r>
              <a:rPr lang="en-GB" dirty="0"/>
              <a:t> </a:t>
            </a:r>
          </a:p>
          <a:p>
            <a:pPr>
              <a:lnSpc>
                <a:spcPct val="100000"/>
              </a:lnSpc>
              <a:spcBef>
                <a:spcPts val="0"/>
              </a:spcBef>
              <a:spcAft>
                <a:spcPts val="0"/>
              </a:spcAft>
            </a:pPr>
            <a:r>
              <a:rPr lang="en-GB" dirty="0"/>
              <a:t>stick_2 = 2-stick_1;</a:t>
            </a:r>
          </a:p>
          <a:p>
            <a:pPr>
              <a:lnSpc>
                <a:spcPct val="100000"/>
              </a:lnSpc>
              <a:spcBef>
                <a:spcPts val="0"/>
              </a:spcBef>
              <a:spcAft>
                <a:spcPts val="0"/>
              </a:spcAft>
            </a:pPr>
            <a:r>
              <a:rPr lang="en-GB" dirty="0"/>
              <a:t> </a:t>
            </a:r>
          </a:p>
          <a:p>
            <a:pPr>
              <a:lnSpc>
                <a:spcPct val="100000"/>
              </a:lnSpc>
              <a:spcBef>
                <a:spcPts val="0"/>
              </a:spcBef>
              <a:spcAft>
                <a:spcPts val="0"/>
              </a:spcAft>
            </a:pPr>
            <a:r>
              <a:rPr lang="en-GB" dirty="0"/>
              <a:t>shorter = min([stick_1; stick_2]);</a:t>
            </a:r>
          </a:p>
          <a:p>
            <a:pPr>
              <a:lnSpc>
                <a:spcPct val="100000"/>
              </a:lnSpc>
              <a:spcBef>
                <a:spcPts val="0"/>
              </a:spcBef>
              <a:spcAft>
                <a:spcPts val="0"/>
              </a:spcAft>
            </a:pPr>
            <a:r>
              <a:rPr lang="en-GB" dirty="0"/>
              <a:t> </a:t>
            </a:r>
          </a:p>
          <a:p>
            <a:pPr>
              <a:lnSpc>
                <a:spcPct val="100000"/>
              </a:lnSpc>
              <a:spcBef>
                <a:spcPts val="0"/>
              </a:spcBef>
              <a:spcAft>
                <a:spcPts val="0"/>
              </a:spcAft>
            </a:pPr>
            <a:r>
              <a:rPr lang="en-GB" dirty="0" err="1"/>
              <a:t>ecdf</a:t>
            </a:r>
            <a:r>
              <a:rPr lang="en-GB" dirty="0"/>
              <a:t>(shorter)</a:t>
            </a:r>
          </a:p>
          <a:p>
            <a:pPr>
              <a:lnSpc>
                <a:spcPct val="100000"/>
              </a:lnSpc>
              <a:spcBef>
                <a:spcPts val="0"/>
              </a:spcBef>
              <a:spcAft>
                <a:spcPts val="0"/>
              </a:spcAft>
            </a:pPr>
            <a:r>
              <a:rPr lang="en-GB" dirty="0"/>
              <a:t> </a:t>
            </a:r>
          </a:p>
          <a:p>
            <a:pPr>
              <a:lnSpc>
                <a:spcPct val="100000"/>
              </a:lnSpc>
              <a:spcBef>
                <a:spcPts val="0"/>
              </a:spcBef>
              <a:spcAft>
                <a:spcPts val="0"/>
              </a:spcAft>
            </a:pPr>
            <a:r>
              <a:rPr lang="en-GB" dirty="0"/>
              <a:t>hold on</a:t>
            </a:r>
          </a:p>
          <a:p>
            <a:pPr>
              <a:lnSpc>
                <a:spcPct val="100000"/>
              </a:lnSpc>
              <a:spcBef>
                <a:spcPts val="0"/>
              </a:spcBef>
              <a:spcAft>
                <a:spcPts val="0"/>
              </a:spcAft>
            </a:pPr>
            <a:r>
              <a:rPr lang="en-GB" dirty="0"/>
              <a:t> </a:t>
            </a:r>
          </a:p>
          <a:p>
            <a:pPr>
              <a:lnSpc>
                <a:spcPct val="100000"/>
              </a:lnSpc>
              <a:spcBef>
                <a:spcPts val="0"/>
              </a:spcBef>
              <a:spcAft>
                <a:spcPts val="0"/>
              </a:spcAft>
            </a:pPr>
            <a:r>
              <a:rPr lang="en-US" dirty="0"/>
              <a:t>plot([0 1],[0 1],'r')</a:t>
            </a:r>
          </a:p>
        </p:txBody>
      </p:sp>
    </p:spTree>
    <p:extLst>
      <p:ext uri="{BB962C8B-B14F-4D97-AF65-F5344CB8AC3E}">
        <p14:creationId xmlns:p14="http://schemas.microsoft.com/office/powerpoint/2010/main" val="157187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US" dirty="0">
                <a:solidFill>
                  <a:srgbClr val="92D050"/>
                </a:solidFill>
                <a:cs typeface="Arial" panose="020B0604020202020204" pitchFamily="34" charset="0"/>
              </a:rPr>
              <a:t>Exercise </a:t>
            </a:r>
            <a:r>
              <a:rPr lang="en-GB" dirty="0"/>
              <a:t>(Uniform distribution)</a:t>
            </a:r>
          </a:p>
        </p:txBody>
      </p:sp>
      <mc:AlternateContent xmlns:mc="http://schemas.openxmlformats.org/markup-compatibility/2006" xmlns:a14="http://schemas.microsoft.com/office/drawing/2010/main">
        <mc:Choice Requires="a14">
          <p:sp>
            <p:nvSpPr>
              <p:cNvPr id="3" name="Tartalom helye 2"/>
              <p:cNvSpPr>
                <a:spLocks noGrp="1"/>
              </p:cNvSpPr>
              <p:nvPr>
                <p:ph idx="1"/>
              </p:nvPr>
            </p:nvSpPr>
            <p:spPr>
              <a:xfrm>
                <a:off x="822959" y="1845733"/>
                <a:ext cx="7543801" cy="618067"/>
              </a:xfrm>
            </p:spPr>
            <p:txBody>
              <a:bodyPr>
                <a:noAutofit/>
              </a:bodyPr>
              <a:lstStyle/>
              <a:p>
                <a:pPr algn="just"/>
                <a:r>
                  <a:rPr lang="en-US" sz="1600" dirty="0"/>
                  <a:t>Let denote </a:t>
                </a:r>
                <a14:m>
                  <m:oMath xmlns:m="http://schemas.openxmlformats.org/officeDocument/2006/math">
                    <m:r>
                      <a:rPr lang="en-GB" sz="1600" b="0" i="1" smtClean="0">
                        <a:latin typeface="Cambria Math" panose="02040503050406030204" pitchFamily="18" charset="0"/>
                      </a:rPr>
                      <m:t>𝑋</m:t>
                    </m:r>
                  </m:oMath>
                </a14:m>
                <a:r>
                  <a:rPr lang="en-US" sz="1600" dirty="0"/>
                  <a:t> the waiting time at a bust stop. The waiting time at a bus stop is uniformly distributed between 1 and 12 minute. That is </a:t>
                </a:r>
                <a14:m>
                  <m:oMath xmlns:m="http://schemas.openxmlformats.org/officeDocument/2006/math">
                    <m:r>
                      <a:rPr lang="en-GB" sz="1600" b="0" i="1" smtClean="0">
                        <a:latin typeface="Cambria Math" panose="02040503050406030204" pitchFamily="18" charset="0"/>
                      </a:rPr>
                      <m:t>𝑋</m:t>
                    </m:r>
                    <m:r>
                      <a:rPr lang="en-GB" sz="1600" b="0" i="1" smtClean="0">
                        <a:latin typeface="Cambria Math" panose="02040503050406030204" pitchFamily="18" charset="0"/>
                      </a:rPr>
                      <m:t>~</m:t>
                    </m:r>
                    <m:r>
                      <a:rPr lang="en-GB" sz="1600" b="0" i="1" smtClean="0">
                        <a:latin typeface="Cambria Math" panose="02040503050406030204" pitchFamily="18" charset="0"/>
                      </a:rPr>
                      <m:t>𝑈</m:t>
                    </m:r>
                    <m:d>
                      <m:dPr>
                        <m:ctrlPr>
                          <a:rPr lang="en-GB" sz="1600" b="0" i="1" smtClean="0">
                            <a:latin typeface="Cambria Math" panose="02040503050406030204" pitchFamily="18" charset="0"/>
                          </a:rPr>
                        </m:ctrlPr>
                      </m:dPr>
                      <m:e>
                        <m:r>
                          <a:rPr lang="en-GB" sz="1600" b="0" i="1" smtClean="0">
                            <a:latin typeface="Cambria Math" panose="02040503050406030204" pitchFamily="18" charset="0"/>
                          </a:rPr>
                          <m:t>1,12</m:t>
                        </m:r>
                      </m:e>
                    </m:d>
                  </m:oMath>
                </a14:m>
                <a:r>
                  <a:rPr lang="en-US" sz="1600" dirty="0"/>
                  <a:t>.</a:t>
                </a:r>
              </a:p>
            </p:txBody>
          </p:sp>
        </mc:Choice>
        <mc:Fallback xmlns="">
          <p:sp>
            <p:nvSpPr>
              <p:cNvPr id="3" name="Tartalom helye 2"/>
              <p:cNvSpPr>
                <a:spLocks noGrp="1" noRot="1" noChangeAspect="1" noMove="1" noResize="1" noEditPoints="1" noAdjustHandles="1" noChangeArrowheads="1" noChangeShapeType="1" noTextEdit="1"/>
              </p:cNvSpPr>
              <p:nvPr>
                <p:ph idx="1"/>
              </p:nvPr>
            </p:nvSpPr>
            <p:spPr>
              <a:xfrm>
                <a:off x="822959" y="1845733"/>
                <a:ext cx="7543801" cy="618067"/>
              </a:xfrm>
              <a:blipFill rotWithShape="0">
                <a:blip r:embed="rId2"/>
                <a:stretch>
                  <a:fillRect l="-404" t="-6931" r="-161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Szövegdoboz 3"/>
              <p:cNvSpPr txBox="1"/>
              <p:nvPr/>
            </p:nvSpPr>
            <p:spPr>
              <a:xfrm>
                <a:off x="822959" y="2572172"/>
                <a:ext cx="3454086" cy="7072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hu-HU" sz="1600" b="0" i="1" smtClean="0">
                          <a:latin typeface="Cambria Math" panose="02040503050406030204" pitchFamily="18" charset="0"/>
                        </a:rPr>
                        <m:t>𝑎</m:t>
                      </m:r>
                      <m:r>
                        <a:rPr lang="hu-HU" sz="1600" b="0" i="1" smtClean="0">
                          <a:latin typeface="Cambria Math" panose="02040503050406030204" pitchFamily="18" charset="0"/>
                        </a:rPr>
                        <m:t>) </m:t>
                      </m:r>
                      <m:r>
                        <a:rPr lang="hu-HU" sz="1600" b="0" i="1" smtClean="0">
                          <a:latin typeface="Cambria Math" panose="02040503050406030204" pitchFamily="18" charset="0"/>
                        </a:rPr>
                        <m:t>𝑇h𝑒</m:t>
                      </m:r>
                      <m:r>
                        <a:rPr lang="en-GB" sz="1600" b="0" i="1" smtClean="0">
                          <a:latin typeface="Cambria Math" panose="02040503050406030204" pitchFamily="18" charset="0"/>
                        </a:rPr>
                        <m:t> </m:t>
                      </m:r>
                      <m:r>
                        <a:rPr lang="en-GB" sz="1600" b="0" i="1" smtClean="0">
                          <a:latin typeface="Cambria Math" panose="02040503050406030204" pitchFamily="18" charset="0"/>
                        </a:rPr>
                        <m:t>𝑝𝑑𝑓</m:t>
                      </m:r>
                      <m:r>
                        <a:rPr lang="en-GB" sz="1600" b="0" i="1" smtClean="0">
                          <a:latin typeface="Cambria Math" panose="02040503050406030204" pitchFamily="18" charset="0"/>
                        </a:rPr>
                        <m:t> </m:t>
                      </m:r>
                      <m:r>
                        <a:rPr lang="en-GB" sz="1600" b="0" i="1" smtClean="0">
                          <a:latin typeface="Cambria Math" panose="02040503050406030204" pitchFamily="18" charset="0"/>
                        </a:rPr>
                        <m:t>𝑜𝑓</m:t>
                      </m:r>
                      <m:r>
                        <a:rPr lang="en-GB" sz="1600" b="0" i="1" smtClean="0">
                          <a:latin typeface="Cambria Math" panose="02040503050406030204" pitchFamily="18" charset="0"/>
                        </a:rPr>
                        <m:t> </m:t>
                      </m:r>
                      <m:r>
                        <a:rPr lang="en-GB" sz="1600" b="0" i="1" smtClean="0">
                          <a:latin typeface="Cambria Math" panose="02040503050406030204" pitchFamily="18" charset="0"/>
                        </a:rPr>
                        <m:t>𝑋</m:t>
                      </m:r>
                      <m:r>
                        <a:rPr lang="en-GB" sz="1600" b="0" i="1" smtClean="0">
                          <a:latin typeface="Cambria Math" panose="02040503050406030204" pitchFamily="18" charset="0"/>
                        </a:rPr>
                        <m:t> </m:t>
                      </m:r>
                      <m:r>
                        <a:rPr lang="en-GB" sz="1600" b="0" i="1" smtClean="0">
                          <a:latin typeface="Cambria Math" panose="02040503050406030204" pitchFamily="18" charset="0"/>
                        </a:rPr>
                        <m:t>𝑖𝑠</m:t>
                      </m:r>
                      <m:r>
                        <a:rPr lang="en-GB" sz="1600" b="0" i="1" smtClean="0">
                          <a:latin typeface="Cambria Math" panose="02040503050406030204" pitchFamily="18" charset="0"/>
                        </a:rPr>
                        <m:t>:</m:t>
                      </m:r>
                    </m:oMath>
                    <m:oMath xmlns:m="http://schemas.openxmlformats.org/officeDocument/2006/math">
                      <m:r>
                        <a:rPr lang="en-GB" sz="1600" b="0" i="1" smtClean="0">
                          <a:latin typeface="Cambria Math" panose="02040503050406030204" pitchFamily="18" charset="0"/>
                        </a:rPr>
                        <m:t>𝑓</m:t>
                      </m:r>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𝑥</m:t>
                          </m:r>
                        </m:e>
                      </m:d>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1</m:t>
                          </m:r>
                        </m:num>
                        <m:den>
                          <m:r>
                            <a:rPr lang="en-GB" sz="1600" b="0" i="1" smtClean="0">
                              <a:latin typeface="Cambria Math" panose="02040503050406030204" pitchFamily="18" charset="0"/>
                            </a:rPr>
                            <m:t>12−1</m:t>
                          </m:r>
                        </m:den>
                      </m:f>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1</m:t>
                          </m:r>
                        </m:num>
                        <m:den>
                          <m:r>
                            <a:rPr lang="en-GB" sz="1600" b="0" i="1" smtClean="0">
                              <a:latin typeface="Cambria Math" panose="02040503050406030204" pitchFamily="18" charset="0"/>
                            </a:rPr>
                            <m:t>11</m:t>
                          </m:r>
                        </m:den>
                      </m:f>
                      <m:r>
                        <a:rPr lang="en-GB" sz="1600" b="0" i="1" smtClean="0">
                          <a:latin typeface="Cambria Math" panose="02040503050406030204" pitchFamily="18" charset="0"/>
                        </a:rPr>
                        <m:t>;            1≤</m:t>
                      </m:r>
                      <m:r>
                        <a:rPr lang="en-GB" sz="1600" b="0" i="1" smtClean="0">
                          <a:latin typeface="Cambria Math" panose="02040503050406030204" pitchFamily="18" charset="0"/>
                        </a:rPr>
                        <m:t>𝑥</m:t>
                      </m:r>
                      <m:r>
                        <a:rPr lang="en-GB" sz="1600" b="0" i="1" smtClean="0">
                          <a:latin typeface="Cambria Math" panose="02040503050406030204" pitchFamily="18" charset="0"/>
                        </a:rPr>
                        <m:t>≤12</m:t>
                      </m:r>
                    </m:oMath>
                  </m:oMathPara>
                </a14:m>
                <a:endParaRPr lang="en-GB" sz="1600" dirty="0"/>
              </a:p>
            </p:txBody>
          </p:sp>
        </mc:Choice>
        <mc:Fallback xmlns="">
          <p:sp>
            <p:nvSpPr>
              <p:cNvPr id="4" name="Szövegdoboz 3"/>
              <p:cNvSpPr txBox="1">
                <a:spLocks noRot="1" noChangeAspect="1" noMove="1" noResize="1" noEditPoints="1" noAdjustHandles="1" noChangeArrowheads="1" noChangeShapeType="1" noTextEdit="1"/>
              </p:cNvSpPr>
              <p:nvPr/>
            </p:nvSpPr>
            <p:spPr>
              <a:xfrm>
                <a:off x="822959" y="2572172"/>
                <a:ext cx="3454086" cy="707245"/>
              </a:xfrm>
              <a:prstGeom prst="rect">
                <a:avLst/>
              </a:prstGeom>
              <a:blipFill rotWithShape="0">
                <a:blip r:embed="rId3"/>
                <a:stretch>
                  <a:fillRect l="-35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Szövegdoboz 15"/>
              <p:cNvSpPr txBox="1"/>
              <p:nvPr/>
            </p:nvSpPr>
            <p:spPr>
              <a:xfrm>
                <a:off x="822959" y="3653796"/>
                <a:ext cx="5437194" cy="7982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hu-HU" sz="1600" b="0" i="1" smtClean="0">
                          <a:latin typeface="Cambria Math" panose="02040503050406030204" pitchFamily="18" charset="0"/>
                        </a:rPr>
                        <m:t>𝑏</m:t>
                      </m:r>
                      <m:r>
                        <a:rPr lang="hu-HU" sz="1600" b="0" i="1" smtClean="0">
                          <a:latin typeface="Cambria Math" panose="02040503050406030204" pitchFamily="18" charset="0"/>
                        </a:rPr>
                        <m:t>) </m:t>
                      </m:r>
                      <m:r>
                        <a:rPr lang="en-GB" sz="1600" b="0" i="1" smtClean="0">
                          <a:latin typeface="Cambria Math" panose="02040503050406030204" pitchFamily="18" charset="0"/>
                        </a:rPr>
                        <m:t>𝑇h𝑒</m:t>
                      </m:r>
                      <m:r>
                        <a:rPr lang="en-GB" sz="1600" b="0" i="1" smtClean="0">
                          <a:latin typeface="Cambria Math" panose="02040503050406030204" pitchFamily="18" charset="0"/>
                        </a:rPr>
                        <m:t> </m:t>
                      </m:r>
                      <m:r>
                        <a:rPr lang="en-GB" sz="1600" b="0" i="1" smtClean="0">
                          <a:latin typeface="Cambria Math" panose="02040503050406030204" pitchFamily="18" charset="0"/>
                        </a:rPr>
                        <m:t>𝑝𝑟𝑜𝑏𝑎𝑏𝑖𝑙𝑖𝑡𝑦</m:t>
                      </m:r>
                      <m:r>
                        <a:rPr lang="en-GB" sz="1600" b="0" i="1" smtClean="0">
                          <a:latin typeface="Cambria Math" panose="02040503050406030204" pitchFamily="18" charset="0"/>
                        </a:rPr>
                        <m:t> </m:t>
                      </m:r>
                      <m:r>
                        <a:rPr lang="en-GB" sz="1600" b="0" i="1" smtClean="0">
                          <a:latin typeface="Cambria Math" panose="02040503050406030204" pitchFamily="18" charset="0"/>
                        </a:rPr>
                        <m:t>𝑡h𝑎𝑡</m:t>
                      </m:r>
                      <m:r>
                        <a:rPr lang="en-GB" sz="1600" b="0" i="1" smtClean="0">
                          <a:latin typeface="Cambria Math" panose="02040503050406030204" pitchFamily="18" charset="0"/>
                        </a:rPr>
                        <m:t> </m:t>
                      </m:r>
                      <m:r>
                        <a:rPr lang="en-GB" sz="1600" b="0" i="1" smtClean="0">
                          <a:latin typeface="Cambria Math" panose="02040503050406030204" pitchFamily="18" charset="0"/>
                        </a:rPr>
                        <m:t>𝑡h𝑒</m:t>
                      </m:r>
                      <m:r>
                        <a:rPr lang="en-GB" sz="1600" b="0" i="1" smtClean="0">
                          <a:latin typeface="Cambria Math" panose="02040503050406030204" pitchFamily="18" charset="0"/>
                        </a:rPr>
                        <m:t> </m:t>
                      </m:r>
                      <m:r>
                        <a:rPr lang="en-GB" sz="1600" b="0" i="1" smtClean="0">
                          <a:latin typeface="Cambria Math" panose="02040503050406030204" pitchFamily="18" charset="0"/>
                        </a:rPr>
                        <m:t>𝑟𝑖𝑑𝑒𝑟</m:t>
                      </m:r>
                      <m:r>
                        <a:rPr lang="en-GB" sz="1600" b="0" i="1" smtClean="0">
                          <a:latin typeface="Cambria Math" panose="02040503050406030204" pitchFamily="18" charset="0"/>
                        </a:rPr>
                        <m:t> </m:t>
                      </m:r>
                      <m:r>
                        <a:rPr lang="en-GB" sz="1600" b="0" i="1" smtClean="0">
                          <a:latin typeface="Cambria Math" panose="02040503050406030204" pitchFamily="18" charset="0"/>
                        </a:rPr>
                        <m:t>𝑤𝑎𝑖𝑡𝑠</m:t>
                      </m:r>
                      <m:r>
                        <a:rPr lang="en-GB" sz="1600" b="0" i="1" smtClean="0">
                          <a:latin typeface="Cambria Math" panose="02040503050406030204" pitchFamily="18" charset="0"/>
                        </a:rPr>
                        <m:t> 8 </m:t>
                      </m:r>
                      <m:r>
                        <a:rPr lang="en-GB" sz="1600" b="0" i="1" smtClean="0">
                          <a:latin typeface="Cambria Math" panose="02040503050406030204" pitchFamily="18" charset="0"/>
                        </a:rPr>
                        <m:t>𝑚𝑖𝑛𝑢𝑡𝑒𝑠</m:t>
                      </m:r>
                      <m:r>
                        <a:rPr lang="en-GB" sz="1600" b="0" i="1" smtClean="0">
                          <a:latin typeface="Cambria Math" panose="02040503050406030204" pitchFamily="18" charset="0"/>
                        </a:rPr>
                        <m:t> </m:t>
                      </m:r>
                      <m:r>
                        <a:rPr lang="en-GB" sz="1600" b="0" i="1" smtClean="0">
                          <a:latin typeface="Cambria Math" panose="02040503050406030204" pitchFamily="18" charset="0"/>
                        </a:rPr>
                        <m:t>𝑜𝑟</m:t>
                      </m:r>
                      <m:r>
                        <a:rPr lang="en-GB" sz="1600" b="0" i="1" smtClean="0">
                          <a:latin typeface="Cambria Math" panose="02040503050406030204" pitchFamily="18" charset="0"/>
                        </a:rPr>
                        <m:t> </m:t>
                      </m:r>
                      <m:r>
                        <a:rPr lang="en-GB" sz="1600" b="0" i="1" smtClean="0">
                          <a:latin typeface="Cambria Math" panose="02040503050406030204" pitchFamily="18" charset="0"/>
                        </a:rPr>
                        <m:t>𝑙𝑒𝑠𝑠</m:t>
                      </m:r>
                      <m:r>
                        <a:rPr lang="en-GB" sz="1600" b="0" i="1" smtClean="0">
                          <a:latin typeface="Cambria Math" panose="02040503050406030204" pitchFamily="18" charset="0"/>
                        </a:rPr>
                        <m:t> </m:t>
                      </m:r>
                      <m:r>
                        <a:rPr lang="en-GB" sz="1600" b="0" i="1" smtClean="0">
                          <a:latin typeface="Cambria Math" panose="02040503050406030204" pitchFamily="18" charset="0"/>
                        </a:rPr>
                        <m:t>𝑖𝑠</m:t>
                      </m:r>
                    </m:oMath>
                    <m:oMath xmlns:m="http://schemas.openxmlformats.org/officeDocument/2006/math">
                      <m:r>
                        <a:rPr lang="en-GB" sz="1600" b="0" i="1" smtClean="0">
                          <a:latin typeface="Cambria Math" panose="02040503050406030204" pitchFamily="18" charset="0"/>
                        </a:rPr>
                        <m:t>𝑃</m:t>
                      </m:r>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𝑋</m:t>
                          </m:r>
                          <m:r>
                            <a:rPr lang="en-GB" sz="1600" b="0" i="1" smtClean="0">
                              <a:latin typeface="Cambria Math" panose="02040503050406030204" pitchFamily="18" charset="0"/>
                            </a:rPr>
                            <m:t>≤8</m:t>
                          </m:r>
                        </m:e>
                      </m:d>
                      <m:r>
                        <a:rPr lang="en-GB" sz="1600" b="0" i="1" smtClean="0">
                          <a:latin typeface="Cambria Math" panose="02040503050406030204" pitchFamily="18" charset="0"/>
                        </a:rPr>
                        <m:t>=</m:t>
                      </m:r>
                      <m:nary>
                        <m:naryPr>
                          <m:ctrlPr>
                            <a:rPr lang="en-GB" sz="1600" b="0" i="1" smtClean="0">
                              <a:latin typeface="Cambria Math" panose="02040503050406030204" pitchFamily="18" charset="0"/>
                            </a:rPr>
                          </m:ctrlPr>
                        </m:naryPr>
                        <m:sub>
                          <m:r>
                            <a:rPr lang="en-GB" sz="1600" b="0" i="1" smtClean="0">
                              <a:latin typeface="Cambria Math" panose="02040503050406030204" pitchFamily="18" charset="0"/>
                            </a:rPr>
                            <m:t>1</m:t>
                          </m:r>
                        </m:sub>
                        <m:sup>
                          <m:r>
                            <a:rPr lang="en-GB" sz="1600" b="0" i="1" smtClean="0">
                              <a:latin typeface="Cambria Math" panose="02040503050406030204" pitchFamily="18" charset="0"/>
                            </a:rPr>
                            <m:t>8</m:t>
                          </m:r>
                        </m:sup>
                        <m:e>
                          <m:r>
                            <a:rPr lang="en-GB" sz="1600" b="0" i="1" smtClean="0">
                              <a:latin typeface="Cambria Math" panose="02040503050406030204" pitchFamily="18" charset="0"/>
                            </a:rPr>
                            <m:t>𝑓</m:t>
                          </m:r>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𝑥</m:t>
                              </m:r>
                            </m:e>
                          </m:d>
                          <m:r>
                            <a:rPr lang="en-GB" sz="1600" b="0" i="1" smtClean="0">
                              <a:latin typeface="Cambria Math" panose="02040503050406030204" pitchFamily="18" charset="0"/>
                            </a:rPr>
                            <m:t>𝑑𝑥</m:t>
                          </m:r>
                        </m:e>
                      </m:nary>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1</m:t>
                          </m:r>
                        </m:num>
                        <m:den>
                          <m:r>
                            <a:rPr lang="en-GB" sz="1600" b="0" i="1" smtClean="0">
                              <a:latin typeface="Cambria Math" panose="02040503050406030204" pitchFamily="18" charset="0"/>
                            </a:rPr>
                            <m:t>11</m:t>
                          </m:r>
                        </m:den>
                      </m:f>
                      <m:nary>
                        <m:naryPr>
                          <m:ctrlPr>
                            <a:rPr lang="en-GB" sz="1600" b="0" i="1" smtClean="0">
                              <a:latin typeface="Cambria Math" panose="02040503050406030204" pitchFamily="18" charset="0"/>
                            </a:rPr>
                          </m:ctrlPr>
                        </m:naryPr>
                        <m:sub>
                          <m:r>
                            <a:rPr lang="en-GB" sz="1600" b="0" i="1" smtClean="0">
                              <a:latin typeface="Cambria Math" panose="02040503050406030204" pitchFamily="18" charset="0"/>
                            </a:rPr>
                            <m:t>1</m:t>
                          </m:r>
                        </m:sub>
                        <m:sup>
                          <m:r>
                            <a:rPr lang="en-GB" sz="1600" b="0" i="1" smtClean="0">
                              <a:latin typeface="Cambria Math" panose="02040503050406030204" pitchFamily="18" charset="0"/>
                            </a:rPr>
                            <m:t>8</m:t>
                          </m:r>
                        </m:sup>
                        <m:e>
                          <m:r>
                            <a:rPr lang="en-GB" sz="1600" b="0" i="1" smtClean="0">
                              <a:latin typeface="Cambria Math" panose="02040503050406030204" pitchFamily="18" charset="0"/>
                            </a:rPr>
                            <m:t>𝑑𝑥</m:t>
                          </m:r>
                        </m:e>
                      </m:nary>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7</m:t>
                          </m:r>
                        </m:num>
                        <m:den>
                          <m:r>
                            <a:rPr lang="en-GB" sz="1600" b="0" i="1" smtClean="0">
                              <a:latin typeface="Cambria Math" panose="02040503050406030204" pitchFamily="18" charset="0"/>
                            </a:rPr>
                            <m:t>11</m:t>
                          </m:r>
                        </m:den>
                      </m:f>
                    </m:oMath>
                  </m:oMathPara>
                </a14:m>
                <a:endParaRPr lang="en-GB" sz="1600" dirty="0"/>
              </a:p>
            </p:txBody>
          </p:sp>
        </mc:Choice>
        <mc:Fallback xmlns="">
          <p:sp>
            <p:nvSpPr>
              <p:cNvPr id="16" name="Szövegdoboz 15"/>
              <p:cNvSpPr txBox="1">
                <a:spLocks noRot="1" noChangeAspect="1" noMove="1" noResize="1" noEditPoints="1" noAdjustHandles="1" noChangeArrowheads="1" noChangeShapeType="1" noTextEdit="1"/>
              </p:cNvSpPr>
              <p:nvPr/>
            </p:nvSpPr>
            <p:spPr>
              <a:xfrm>
                <a:off x="822959" y="3653796"/>
                <a:ext cx="5437194" cy="798295"/>
              </a:xfrm>
              <a:prstGeom prst="rect">
                <a:avLst/>
              </a:prstGeom>
              <a:blipFill rotWithShape="0">
                <a:blip r:embed="rId4"/>
                <a:stretch>
                  <a:fillRect l="-448" r="-11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Szövegdoboz 5"/>
              <p:cNvSpPr txBox="1"/>
              <p:nvPr/>
            </p:nvSpPr>
            <p:spPr>
              <a:xfrm>
                <a:off x="822959" y="4576663"/>
                <a:ext cx="4869988" cy="4610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600" b="0" i="1" smtClean="0">
                          <a:latin typeface="Cambria Math" panose="02040503050406030204" pitchFamily="18" charset="0"/>
                        </a:rPr>
                        <m:t>𝑐</m:t>
                      </m:r>
                      <m:r>
                        <a:rPr lang="hu-HU" sz="1600" b="0" i="1" smtClean="0">
                          <a:latin typeface="Cambria Math" panose="02040503050406030204" pitchFamily="18" charset="0"/>
                        </a:rPr>
                        <m:t>)</m:t>
                      </m:r>
                      <m:r>
                        <a:rPr lang="en-GB" sz="1600" b="0" i="1" smtClean="0">
                          <a:latin typeface="Cambria Math" panose="02040503050406030204" pitchFamily="18" charset="0"/>
                        </a:rPr>
                        <m:t> </m:t>
                      </m:r>
                      <m:r>
                        <a:rPr lang="en-GB" sz="1600" b="0" i="1" smtClean="0">
                          <a:latin typeface="Cambria Math" panose="02040503050406030204" pitchFamily="18" charset="0"/>
                        </a:rPr>
                        <m:t>𝑇h𝑒</m:t>
                      </m:r>
                      <m:r>
                        <a:rPr lang="en-GB" sz="1600" b="0" i="1" smtClean="0">
                          <a:latin typeface="Cambria Math" panose="02040503050406030204" pitchFamily="18" charset="0"/>
                        </a:rPr>
                        <m:t> </m:t>
                      </m:r>
                      <m:r>
                        <a:rPr lang="en-GB" sz="1600" b="0" i="1" smtClean="0">
                          <a:latin typeface="Cambria Math" panose="02040503050406030204" pitchFamily="18" charset="0"/>
                        </a:rPr>
                        <m:t>𝑒𝑥𝑝𝑒𝑐𝑡𝑒𝑑</m:t>
                      </m:r>
                      <m:r>
                        <a:rPr lang="en-GB" sz="1600" b="0" i="1" smtClean="0">
                          <a:latin typeface="Cambria Math" panose="02040503050406030204" pitchFamily="18" charset="0"/>
                        </a:rPr>
                        <m:t> </m:t>
                      </m:r>
                      <m:r>
                        <a:rPr lang="en-GB" sz="1600" b="0" i="1" smtClean="0">
                          <a:latin typeface="Cambria Math" panose="02040503050406030204" pitchFamily="18" charset="0"/>
                        </a:rPr>
                        <m:t>𝑤𝑎𝑖𝑡𝑖𝑛𝑔</m:t>
                      </m:r>
                      <m:r>
                        <a:rPr lang="en-GB" sz="1600" b="0" i="1" smtClean="0">
                          <a:latin typeface="Cambria Math" panose="02040503050406030204" pitchFamily="18" charset="0"/>
                        </a:rPr>
                        <m:t> </m:t>
                      </m:r>
                      <m:r>
                        <a:rPr lang="en-GB" sz="1600" b="0" i="1" smtClean="0">
                          <a:latin typeface="Cambria Math" panose="02040503050406030204" pitchFamily="18" charset="0"/>
                        </a:rPr>
                        <m:t>𝑡𝑖𝑚𝑒</m:t>
                      </m:r>
                      <m:r>
                        <a:rPr lang="en-GB" sz="1600" b="0" i="1" smtClean="0">
                          <a:latin typeface="Cambria Math" panose="02040503050406030204" pitchFamily="18" charset="0"/>
                        </a:rPr>
                        <m:t> </m:t>
                      </m:r>
                      <m:r>
                        <a:rPr lang="en-GB" sz="1600" b="0" i="1" smtClean="0">
                          <a:latin typeface="Cambria Math" panose="02040503050406030204" pitchFamily="18" charset="0"/>
                        </a:rPr>
                        <m:t>𝑖𝑠</m:t>
                      </m:r>
                      <m:r>
                        <a:rPr lang="en-GB" sz="1600" b="0" i="1" smtClean="0">
                          <a:latin typeface="Cambria Math" panose="02040503050406030204" pitchFamily="18" charset="0"/>
                        </a:rPr>
                        <m:t> </m:t>
                      </m:r>
                      <m:r>
                        <a:rPr lang="en-GB" sz="1600" b="0" i="1" smtClean="0">
                          <a:latin typeface="Cambria Math" panose="02040503050406030204" pitchFamily="18" charset="0"/>
                        </a:rPr>
                        <m:t>𝔼</m:t>
                      </m:r>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𝑋</m:t>
                          </m:r>
                        </m:e>
                      </m:d>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1+12</m:t>
                          </m:r>
                        </m:num>
                        <m:den>
                          <m:r>
                            <a:rPr lang="en-GB" sz="1600" b="0" i="1" smtClean="0">
                              <a:latin typeface="Cambria Math" panose="02040503050406030204" pitchFamily="18" charset="0"/>
                            </a:rPr>
                            <m:t>2</m:t>
                          </m:r>
                        </m:den>
                      </m:f>
                      <m:r>
                        <a:rPr lang="en-GB" sz="1600" b="0" i="1" smtClean="0">
                          <a:latin typeface="Cambria Math" panose="02040503050406030204" pitchFamily="18" charset="0"/>
                        </a:rPr>
                        <m:t>=6.5</m:t>
                      </m:r>
                    </m:oMath>
                  </m:oMathPara>
                </a14:m>
                <a:br>
                  <a:rPr lang="en-GB" sz="1600" b="0" dirty="0"/>
                </a:br>
                <a:endParaRPr lang="en-GB" sz="1600" dirty="0"/>
              </a:p>
            </p:txBody>
          </p:sp>
        </mc:Choice>
        <mc:Fallback xmlns="">
          <p:sp>
            <p:nvSpPr>
              <p:cNvPr id="6" name="Szövegdoboz 5"/>
              <p:cNvSpPr txBox="1">
                <a:spLocks noRot="1" noChangeAspect="1" noMove="1" noResize="1" noEditPoints="1" noAdjustHandles="1" noChangeArrowheads="1" noChangeShapeType="1" noTextEdit="1"/>
              </p:cNvSpPr>
              <p:nvPr/>
            </p:nvSpPr>
            <p:spPr>
              <a:xfrm>
                <a:off x="822959" y="4576663"/>
                <a:ext cx="4869988" cy="461088"/>
              </a:xfrm>
              <a:prstGeom prst="rect">
                <a:avLst/>
              </a:prstGeom>
              <a:blipFill rotWithShape="0">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Szövegdoboz 6"/>
              <p:cNvSpPr txBox="1"/>
              <p:nvPr/>
            </p:nvSpPr>
            <p:spPr>
              <a:xfrm>
                <a:off x="822959" y="5162323"/>
                <a:ext cx="5323841" cy="49257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1600" b="0" i="1" smtClean="0">
                          <a:latin typeface="Cambria Math" panose="02040503050406030204" pitchFamily="18" charset="0"/>
                        </a:rPr>
                        <m:t>𝑑</m:t>
                      </m:r>
                      <m:r>
                        <a:rPr lang="hu-HU" sz="1600" b="0" i="1" smtClean="0">
                          <a:latin typeface="Cambria Math" panose="02040503050406030204" pitchFamily="18" charset="0"/>
                        </a:rPr>
                        <m:t>)</m:t>
                      </m:r>
                      <m:r>
                        <a:rPr lang="en-GB" sz="1600" b="0" i="1" smtClean="0">
                          <a:latin typeface="Cambria Math" panose="02040503050406030204" pitchFamily="18" charset="0"/>
                        </a:rPr>
                        <m:t> </m:t>
                      </m:r>
                      <m:r>
                        <a:rPr lang="en-GB" sz="1600" b="0" i="1" smtClean="0">
                          <a:latin typeface="Cambria Math" panose="02040503050406030204" pitchFamily="18" charset="0"/>
                        </a:rPr>
                        <m:t>𝑇h𝑒</m:t>
                      </m:r>
                      <m:r>
                        <a:rPr lang="en-GB" sz="1600" b="0" i="1" smtClean="0">
                          <a:latin typeface="Cambria Math" panose="02040503050406030204" pitchFamily="18" charset="0"/>
                        </a:rPr>
                        <m:t> </m:t>
                      </m:r>
                      <m:r>
                        <a:rPr lang="en-GB" sz="1600" b="0" i="1" smtClean="0">
                          <a:latin typeface="Cambria Math" panose="02040503050406030204" pitchFamily="18" charset="0"/>
                        </a:rPr>
                        <m:t>𝑣𝑎𝑟𝑖𝑎𝑛𝑐𝑒</m:t>
                      </m:r>
                      <m:r>
                        <a:rPr lang="en-GB" sz="1600" b="0" i="1" smtClean="0">
                          <a:latin typeface="Cambria Math" panose="02040503050406030204" pitchFamily="18" charset="0"/>
                        </a:rPr>
                        <m:t> </m:t>
                      </m:r>
                      <m:r>
                        <a:rPr lang="en-GB" sz="1600" b="0" i="1" smtClean="0">
                          <a:latin typeface="Cambria Math" panose="02040503050406030204" pitchFamily="18" charset="0"/>
                        </a:rPr>
                        <m:t>𝑤𝑎𝑖𝑡𝑖𝑛𝑔</m:t>
                      </m:r>
                      <m:r>
                        <a:rPr lang="en-GB" sz="1600" b="0" i="1" smtClean="0">
                          <a:latin typeface="Cambria Math" panose="02040503050406030204" pitchFamily="18" charset="0"/>
                        </a:rPr>
                        <m:t> </m:t>
                      </m:r>
                      <m:r>
                        <a:rPr lang="en-GB" sz="1600" b="0" i="1" smtClean="0">
                          <a:latin typeface="Cambria Math" panose="02040503050406030204" pitchFamily="18" charset="0"/>
                        </a:rPr>
                        <m:t>𝑡𝑖𝑚𝑒</m:t>
                      </m:r>
                      <m:r>
                        <a:rPr lang="en-GB" sz="1600" b="0" i="1" smtClean="0">
                          <a:latin typeface="Cambria Math" panose="02040503050406030204" pitchFamily="18" charset="0"/>
                        </a:rPr>
                        <m:t> </m:t>
                      </m:r>
                      <m:r>
                        <a:rPr lang="en-GB" sz="1600" b="0" i="1" smtClean="0">
                          <a:latin typeface="Cambria Math" panose="02040503050406030204" pitchFamily="18" charset="0"/>
                        </a:rPr>
                        <m:t>𝑖𝑠</m:t>
                      </m:r>
                      <m:r>
                        <a:rPr lang="en-GB" sz="1600" b="0" i="1" smtClean="0">
                          <a:latin typeface="Cambria Math" panose="02040503050406030204" pitchFamily="18" charset="0"/>
                        </a:rPr>
                        <m:t> </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𝔻</m:t>
                          </m:r>
                        </m:e>
                        <m:sup>
                          <m:r>
                            <a:rPr lang="en-GB" sz="1600" b="0" i="1" smtClean="0">
                              <a:latin typeface="Cambria Math" panose="02040503050406030204" pitchFamily="18" charset="0"/>
                            </a:rPr>
                            <m:t>2</m:t>
                          </m:r>
                        </m:sup>
                      </m:sSup>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𝑋</m:t>
                          </m:r>
                        </m:e>
                      </m:d>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sSup>
                            <m:sSupPr>
                              <m:ctrlPr>
                                <a:rPr lang="en-GB" sz="1600" b="0" i="1" smtClean="0">
                                  <a:latin typeface="Cambria Math" panose="02040503050406030204" pitchFamily="18" charset="0"/>
                                </a:rPr>
                              </m:ctrlPr>
                            </m:sSupPr>
                            <m:e>
                              <m:d>
                                <m:dPr>
                                  <m:ctrlPr>
                                    <a:rPr lang="en-GB" sz="1600" b="0" i="1" smtClean="0">
                                      <a:latin typeface="Cambria Math" panose="02040503050406030204" pitchFamily="18" charset="0"/>
                                    </a:rPr>
                                  </m:ctrlPr>
                                </m:dPr>
                                <m:e>
                                  <m:r>
                                    <a:rPr lang="en-GB" sz="1600" b="0" i="1" smtClean="0">
                                      <a:latin typeface="Cambria Math" panose="02040503050406030204" pitchFamily="18" charset="0"/>
                                    </a:rPr>
                                    <m:t>12−1</m:t>
                                  </m:r>
                                </m:e>
                              </m:d>
                            </m:e>
                            <m:sup>
                              <m:r>
                                <a:rPr lang="en-GB" sz="1600" b="0" i="1" smtClean="0">
                                  <a:latin typeface="Cambria Math" panose="02040503050406030204" pitchFamily="18" charset="0"/>
                                </a:rPr>
                                <m:t>2</m:t>
                              </m:r>
                            </m:sup>
                          </m:sSup>
                        </m:num>
                        <m:den>
                          <m:r>
                            <a:rPr lang="en-GB" sz="1600" b="0" i="1" smtClean="0">
                              <a:latin typeface="Cambria Math" panose="02040503050406030204" pitchFamily="18" charset="0"/>
                            </a:rPr>
                            <m:t>12</m:t>
                          </m:r>
                        </m:den>
                      </m:f>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121</m:t>
                          </m:r>
                        </m:num>
                        <m:den>
                          <m:r>
                            <a:rPr lang="en-GB" sz="1600" b="0" i="1" smtClean="0">
                              <a:latin typeface="Cambria Math" panose="02040503050406030204" pitchFamily="18" charset="0"/>
                            </a:rPr>
                            <m:t>12</m:t>
                          </m:r>
                        </m:den>
                      </m:f>
                    </m:oMath>
                  </m:oMathPara>
                </a14:m>
                <a:br>
                  <a:rPr lang="en-GB" sz="1600" b="0" dirty="0"/>
                </a:br>
                <a:endParaRPr lang="en-GB" sz="1600" dirty="0"/>
              </a:p>
            </p:txBody>
          </p:sp>
        </mc:Choice>
        <mc:Fallback xmlns="">
          <p:sp>
            <p:nvSpPr>
              <p:cNvPr id="7" name="Szövegdoboz 6"/>
              <p:cNvSpPr txBox="1">
                <a:spLocks noRot="1" noChangeAspect="1" noMove="1" noResize="1" noEditPoints="1" noAdjustHandles="1" noChangeArrowheads="1" noChangeShapeType="1" noTextEdit="1"/>
              </p:cNvSpPr>
              <p:nvPr/>
            </p:nvSpPr>
            <p:spPr>
              <a:xfrm>
                <a:off x="822959" y="5162323"/>
                <a:ext cx="5323841" cy="492571"/>
              </a:xfrm>
              <a:prstGeom prst="rect">
                <a:avLst/>
              </a:prstGeom>
              <a:blipFill rotWithShape="0">
                <a:blip r:embed="rId6"/>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859756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6" grpId="0"/>
      <p:bldP spid="6"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US" dirty="0">
                <a:solidFill>
                  <a:srgbClr val="92D050"/>
                </a:solidFill>
                <a:cs typeface="Arial" panose="020B0604020202020204" pitchFamily="34" charset="0"/>
              </a:rPr>
              <a:t>Exercise </a:t>
            </a:r>
            <a:r>
              <a:rPr lang="en-GB" dirty="0"/>
              <a:t>(Uniform distribution </a:t>
            </a:r>
            <a:r>
              <a:rPr lang="en-GB" dirty="0" err="1"/>
              <a:t>Matlab</a:t>
            </a:r>
            <a:r>
              <a:rPr lang="en-GB" dirty="0"/>
              <a:t> solution)</a:t>
            </a:r>
          </a:p>
        </p:txBody>
      </p:sp>
      <p:sp>
        <p:nvSpPr>
          <p:cNvPr id="3" name="Tartalom helye 2"/>
          <p:cNvSpPr>
            <a:spLocks noGrp="1"/>
          </p:cNvSpPr>
          <p:nvPr>
            <p:ph idx="1"/>
          </p:nvPr>
        </p:nvSpPr>
        <p:spPr>
          <a:xfrm>
            <a:off x="822959" y="1845733"/>
            <a:ext cx="7543801" cy="2484220"/>
          </a:xfrm>
        </p:spPr>
        <p:txBody>
          <a:bodyPr>
            <a:noAutofit/>
          </a:bodyPr>
          <a:lstStyle/>
          <a:p>
            <a:pPr algn="just"/>
            <a:r>
              <a:rPr lang="en-US" sz="1800" dirty="0"/>
              <a:t>n = 10^5;</a:t>
            </a:r>
            <a:endParaRPr lang="hu-HU" sz="1800" dirty="0"/>
          </a:p>
          <a:p>
            <a:pPr algn="just"/>
            <a:r>
              <a:rPr lang="en-US" sz="1800" dirty="0"/>
              <a:t>x = rand(1,n)*11+1;</a:t>
            </a:r>
            <a:endParaRPr lang="hu-HU" sz="1800" dirty="0"/>
          </a:p>
          <a:p>
            <a:pPr algn="just"/>
            <a:r>
              <a:rPr lang="en-US" sz="1800" dirty="0"/>
              <a:t>p = length(x(x&lt;8))/n</a:t>
            </a:r>
            <a:endParaRPr lang="hu-HU" sz="1800" dirty="0"/>
          </a:p>
          <a:p>
            <a:pPr algn="just"/>
            <a:r>
              <a:rPr lang="en-US" sz="1800" dirty="0" err="1"/>
              <a:t>x_mean</a:t>
            </a:r>
            <a:r>
              <a:rPr lang="en-US" sz="1800" dirty="0"/>
              <a:t> = mean(x)</a:t>
            </a:r>
            <a:endParaRPr lang="hu-HU" sz="1800" dirty="0"/>
          </a:p>
          <a:p>
            <a:pPr algn="just"/>
            <a:r>
              <a:rPr lang="en-US" sz="1800" dirty="0" err="1"/>
              <a:t>x_var</a:t>
            </a:r>
            <a:r>
              <a:rPr lang="en-US" sz="1800" dirty="0"/>
              <a:t> = </a:t>
            </a:r>
            <a:r>
              <a:rPr lang="en-US" sz="1800" dirty="0" err="1"/>
              <a:t>var</a:t>
            </a:r>
            <a:r>
              <a:rPr lang="en-US" sz="1800" dirty="0"/>
              <a:t>(x)</a:t>
            </a:r>
          </a:p>
        </p:txBody>
      </p:sp>
    </p:spTree>
    <p:extLst>
      <p:ext uri="{BB962C8B-B14F-4D97-AF65-F5344CB8AC3E}">
        <p14:creationId xmlns:p14="http://schemas.microsoft.com/office/powerpoint/2010/main" val="3919114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822960" y="286604"/>
            <a:ext cx="7543800" cy="1461612"/>
          </a:xfrm>
        </p:spPr>
        <p:txBody>
          <a:bodyPr>
            <a:normAutofit/>
          </a:bodyPr>
          <a:lstStyle/>
          <a:p>
            <a:r>
              <a:rPr lang="en-US" dirty="0">
                <a:solidFill>
                  <a:srgbClr val="92D050"/>
                </a:solidFill>
                <a:cs typeface="Arial" panose="020B0604020202020204" pitchFamily="34" charset="0"/>
              </a:rPr>
              <a:t>Exercise </a:t>
            </a:r>
            <a:r>
              <a:rPr lang="en-GB" dirty="0">
                <a:solidFill>
                  <a:srgbClr val="92D050"/>
                </a:solidFill>
                <a:cs typeface="Arial" panose="020B0604020202020204" pitchFamily="34" charset="0"/>
              </a:rPr>
              <a:t>13.5</a:t>
            </a:r>
            <a:r>
              <a:rPr lang="hu-HU" dirty="0">
                <a:solidFill>
                  <a:srgbClr val="92D050"/>
                </a:solidFill>
                <a:cs typeface="Arial" panose="020B0604020202020204" pitchFamily="34" charset="0"/>
              </a:rPr>
              <a:t> </a:t>
            </a:r>
            <a:r>
              <a:rPr lang="hu-HU" dirty="0">
                <a:solidFill>
                  <a:schemeClr val="tx1"/>
                </a:solidFill>
                <a:cs typeface="Arial" panose="020B0604020202020204" pitchFamily="34" charset="0"/>
              </a:rPr>
              <a:t>(</a:t>
            </a:r>
            <a:r>
              <a:rPr lang="en-GB" dirty="0"/>
              <a:t>Normal distribution</a:t>
            </a:r>
            <a:r>
              <a:rPr lang="hu-HU" dirty="0">
                <a:solidFill>
                  <a:schemeClr val="tx1"/>
                </a:solidFill>
                <a:cs typeface="Arial" panose="020B0604020202020204" pitchFamily="34" charset="0"/>
              </a:rPr>
              <a:t>)</a:t>
            </a:r>
            <a:endParaRPr lang="en-GB" dirty="0"/>
          </a:p>
        </p:txBody>
      </p:sp>
      <p:sp>
        <p:nvSpPr>
          <p:cNvPr id="3" name="Tartalom helye 2"/>
          <p:cNvSpPr>
            <a:spLocks noGrp="1"/>
          </p:cNvSpPr>
          <p:nvPr>
            <p:ph idx="1"/>
          </p:nvPr>
        </p:nvSpPr>
        <p:spPr>
          <a:xfrm>
            <a:off x="685800" y="1751643"/>
            <a:ext cx="7772400" cy="1448757"/>
          </a:xfrm>
        </p:spPr>
        <p:txBody>
          <a:bodyPr>
            <a:normAutofit/>
          </a:bodyPr>
          <a:lstStyle/>
          <a:p>
            <a:pPr algn="just"/>
            <a:r>
              <a:rPr lang="en-GB" sz="1600" dirty="0"/>
              <a:t>The air control informs the pilot of an aircraft about the altitude of the centre of the air corridor of height 100 metres where the aircraft should </a:t>
            </a:r>
            <a:r>
              <a:rPr lang="hu-HU" sz="1600" dirty="0" err="1"/>
              <a:t>fl</a:t>
            </a:r>
            <a:r>
              <a:rPr lang="en-GB" sz="1600" dirty="0"/>
              <a:t>y. The deviation, in metres, of the altitude of the aircraft from the given altitude is normally distributed with mean 20 and standard deviation 50. Find the probability that the aircraft flies under the air corridor, in the air corridor, above the air corridor.</a:t>
            </a:r>
          </a:p>
        </p:txBody>
      </p:sp>
      <p:grpSp>
        <p:nvGrpSpPr>
          <p:cNvPr id="14" name="Csoportba foglalás 13"/>
          <p:cNvGrpSpPr/>
          <p:nvPr/>
        </p:nvGrpSpPr>
        <p:grpSpPr>
          <a:xfrm>
            <a:off x="413199" y="3015734"/>
            <a:ext cx="2169319" cy="1443037"/>
            <a:chOff x="250031" y="3429000"/>
            <a:chExt cx="2169319" cy="1443037"/>
          </a:xfrm>
        </p:grpSpPr>
        <p:cxnSp>
          <p:nvCxnSpPr>
            <p:cNvPr id="5" name="Egyenes összekötő 4"/>
            <p:cNvCxnSpPr/>
            <p:nvPr/>
          </p:nvCxnSpPr>
          <p:spPr>
            <a:xfrm>
              <a:off x="250031" y="3431381"/>
              <a:ext cx="216931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Egyenes összekötő 37"/>
            <p:cNvCxnSpPr/>
            <p:nvPr/>
          </p:nvCxnSpPr>
          <p:spPr>
            <a:xfrm>
              <a:off x="250031" y="4150518"/>
              <a:ext cx="216931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2" name="Egyenes összekötő 41"/>
            <p:cNvCxnSpPr/>
            <p:nvPr/>
          </p:nvCxnSpPr>
          <p:spPr>
            <a:xfrm>
              <a:off x="250031" y="4872037"/>
              <a:ext cx="216931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Egyenes összekötő 6"/>
            <p:cNvCxnSpPr/>
            <p:nvPr/>
          </p:nvCxnSpPr>
          <p:spPr>
            <a:xfrm>
              <a:off x="967740" y="3429000"/>
              <a:ext cx="0" cy="1440180"/>
            </a:xfrm>
            <a:prstGeom prst="line">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8" name="Szövegdoboz 7"/>
            <p:cNvSpPr txBox="1"/>
            <p:nvPr/>
          </p:nvSpPr>
          <p:spPr>
            <a:xfrm>
              <a:off x="325765" y="3605093"/>
              <a:ext cx="720069" cy="369332"/>
            </a:xfrm>
            <a:prstGeom prst="rect">
              <a:avLst/>
            </a:prstGeom>
            <a:noFill/>
          </p:spPr>
          <p:txBody>
            <a:bodyPr wrap="none" rtlCol="0">
              <a:spAutoFit/>
            </a:bodyPr>
            <a:lstStyle/>
            <a:p>
              <a:r>
                <a:rPr lang="en-GB" dirty="0"/>
                <a:t>100m</a:t>
              </a:r>
            </a:p>
          </p:txBody>
        </p:sp>
        <p:sp>
          <p:nvSpPr>
            <p:cNvPr id="9" name="Szövegdoboz 8"/>
            <p:cNvSpPr txBox="1"/>
            <p:nvPr/>
          </p:nvSpPr>
          <p:spPr>
            <a:xfrm rot="5400000">
              <a:off x="1225709" y="3507632"/>
              <a:ext cx="550151" cy="584775"/>
            </a:xfrm>
            <a:prstGeom prst="rect">
              <a:avLst/>
            </a:prstGeom>
            <a:noFill/>
          </p:spPr>
          <p:txBody>
            <a:bodyPr wrap="none" rtlCol="0">
              <a:spAutoFit/>
            </a:bodyPr>
            <a:lstStyle/>
            <a:p>
              <a:r>
                <a:rPr lang="en-GB" sz="3200" dirty="0">
                  <a:latin typeface="Symbola" panose="02020503060805020204" pitchFamily="18" charset="0"/>
                  <a:ea typeface="Symbola" panose="02020503060805020204" pitchFamily="18" charset="0"/>
                  <a:cs typeface="Symbola" panose="02020503060805020204" pitchFamily="18" charset="0"/>
                </a:rPr>
                <a:t>🛧</a:t>
              </a:r>
              <a:endParaRPr lang="en-GB" sz="3200" dirty="0"/>
            </a:p>
          </p:txBody>
        </p:sp>
        <p:cxnSp>
          <p:nvCxnSpPr>
            <p:cNvPr id="11" name="Egyenes összekötő nyíllal 10"/>
            <p:cNvCxnSpPr>
              <a:stCxn id="9" idx="0"/>
            </p:cNvCxnSpPr>
            <p:nvPr/>
          </p:nvCxnSpPr>
          <p:spPr>
            <a:xfrm flipV="1">
              <a:off x="1793172" y="3789761"/>
              <a:ext cx="626178" cy="102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Egyenes összekötő 47"/>
            <p:cNvCxnSpPr/>
            <p:nvPr/>
          </p:nvCxnSpPr>
          <p:spPr>
            <a:xfrm>
              <a:off x="2026920" y="3779520"/>
              <a:ext cx="0" cy="369570"/>
            </a:xfrm>
            <a:prstGeom prst="line">
              <a:avLst/>
            </a:prstGeom>
            <a:ln>
              <a:headEnd type="arrow"/>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Szövegdoboz 57"/>
                <p:cNvSpPr txBox="1"/>
                <p:nvPr/>
              </p:nvSpPr>
              <p:spPr>
                <a:xfrm>
                  <a:off x="2002165" y="3787973"/>
                  <a:ext cx="35721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𝜉</m:t>
                        </m:r>
                      </m:oMath>
                    </m:oMathPara>
                  </a14:m>
                  <a:endParaRPr lang="en-GB" dirty="0"/>
                </a:p>
              </p:txBody>
            </p:sp>
          </mc:Choice>
          <mc:Fallback xmlns="">
            <p:sp>
              <p:nvSpPr>
                <p:cNvPr id="58" name="Szövegdoboz 57"/>
                <p:cNvSpPr txBox="1">
                  <a:spLocks noRot="1" noChangeAspect="1" noMove="1" noResize="1" noEditPoints="1" noAdjustHandles="1" noChangeArrowheads="1" noChangeShapeType="1" noTextEdit="1"/>
                </p:cNvSpPr>
                <p:nvPr/>
              </p:nvSpPr>
              <p:spPr>
                <a:xfrm>
                  <a:off x="2002165" y="3787973"/>
                  <a:ext cx="357213" cy="369332"/>
                </a:xfrm>
                <a:prstGeom prst="rect">
                  <a:avLst/>
                </a:prstGeom>
                <a:blipFill rotWithShape="0">
                  <a:blip r:embed="rId2"/>
                  <a:stretch>
                    <a:fillRect b="-13333"/>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59" name="Szövegdoboz 58"/>
              <p:cNvSpPr txBox="1"/>
              <p:nvPr/>
            </p:nvSpPr>
            <p:spPr>
              <a:xfrm>
                <a:off x="2980700" y="2831068"/>
                <a:ext cx="161416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𝜉</m:t>
                      </m:r>
                      <m:r>
                        <a:rPr lang="en-GB" b="0" i="1" dirty="0" smtClean="0">
                          <a:latin typeface="Cambria Math" panose="02040503050406030204" pitchFamily="18" charset="0"/>
                        </a:rPr>
                        <m:t>~</m:t>
                      </m:r>
                      <m:r>
                        <a:rPr lang="en-GB" b="0" i="1" dirty="0" smtClean="0">
                          <a:latin typeface="Cambria Math" panose="02040503050406030204" pitchFamily="18" charset="0"/>
                          <a:ea typeface="Cambria Math" panose="02040503050406030204" pitchFamily="18" charset="0"/>
                        </a:rPr>
                        <m:t>𝒩</m:t>
                      </m:r>
                      <m:d>
                        <m:dPr>
                          <m:ctrlPr>
                            <a:rPr lang="en-GB" b="0" i="1" dirty="0" smtClean="0">
                              <a:latin typeface="Cambria Math" panose="02040503050406030204" pitchFamily="18" charset="0"/>
                              <a:ea typeface="Cambria Math" panose="02040503050406030204" pitchFamily="18" charset="0"/>
                            </a:rPr>
                          </m:ctrlPr>
                        </m:dPr>
                        <m:e>
                          <m:sSup>
                            <m:sSupPr>
                              <m:ctrlPr>
                                <a:rPr lang="en-GB" b="0" i="1" dirty="0" smtClean="0">
                                  <a:latin typeface="Cambria Math" panose="02040503050406030204" pitchFamily="18" charset="0"/>
                                  <a:ea typeface="Cambria Math" panose="02040503050406030204" pitchFamily="18" charset="0"/>
                                </a:rPr>
                              </m:ctrlPr>
                            </m:sSupPr>
                            <m:e>
                              <m:r>
                                <a:rPr lang="en-GB" b="0" i="1" dirty="0" smtClean="0">
                                  <a:latin typeface="Cambria Math" panose="02040503050406030204" pitchFamily="18" charset="0"/>
                                  <a:ea typeface="Cambria Math" panose="02040503050406030204" pitchFamily="18" charset="0"/>
                                </a:rPr>
                                <m:t>20,50</m:t>
                              </m:r>
                            </m:e>
                            <m:sup>
                              <m:r>
                                <a:rPr lang="en-GB" b="0" i="1" dirty="0" smtClean="0">
                                  <a:latin typeface="Cambria Math" panose="02040503050406030204" pitchFamily="18" charset="0"/>
                                  <a:ea typeface="Cambria Math" panose="02040503050406030204" pitchFamily="18" charset="0"/>
                                </a:rPr>
                                <m:t>2</m:t>
                              </m:r>
                            </m:sup>
                          </m:sSup>
                        </m:e>
                      </m:d>
                    </m:oMath>
                  </m:oMathPara>
                </a14:m>
                <a:endParaRPr lang="en-GB" dirty="0"/>
              </a:p>
            </p:txBody>
          </p:sp>
        </mc:Choice>
        <mc:Fallback xmlns="">
          <p:sp>
            <p:nvSpPr>
              <p:cNvPr id="59" name="Szövegdoboz 58"/>
              <p:cNvSpPr txBox="1">
                <a:spLocks noRot="1" noChangeAspect="1" noMove="1" noResize="1" noEditPoints="1" noAdjustHandles="1" noChangeArrowheads="1" noChangeShapeType="1" noTextEdit="1"/>
              </p:cNvSpPr>
              <p:nvPr/>
            </p:nvSpPr>
            <p:spPr>
              <a:xfrm>
                <a:off x="2980700" y="2831068"/>
                <a:ext cx="1614160" cy="369332"/>
              </a:xfrm>
              <a:prstGeom prst="rect">
                <a:avLst/>
              </a:prstGeom>
              <a:blipFill rotWithShape="0">
                <a:blip r:embed="rId3"/>
                <a:stretch>
                  <a:fillRect b="-13115"/>
                </a:stretch>
              </a:blipFill>
            </p:spPr>
            <p:txBody>
              <a:bodyPr/>
              <a:lstStyle/>
              <a:p>
                <a:r>
                  <a:rPr lang="en-GB">
                    <a:noFill/>
                  </a:rPr>
                  <a:t> </a:t>
                </a:r>
              </a:p>
            </p:txBody>
          </p:sp>
        </mc:Fallback>
      </mc:AlternateContent>
      <p:sp>
        <p:nvSpPr>
          <p:cNvPr id="13" name="Téglalap 12"/>
          <p:cNvSpPr/>
          <p:nvPr/>
        </p:nvSpPr>
        <p:spPr>
          <a:xfrm>
            <a:off x="2744093" y="3200400"/>
            <a:ext cx="2248949" cy="369332"/>
          </a:xfrm>
          <a:prstGeom prst="rect">
            <a:avLst/>
          </a:prstGeom>
        </p:spPr>
        <p:txBody>
          <a:bodyPr wrap="none">
            <a:spAutoFit/>
          </a:bodyPr>
          <a:lstStyle/>
          <a:p>
            <a:r>
              <a:rPr lang="en-GB" dirty="0"/>
              <a:t>Above the air corridor</a:t>
            </a:r>
          </a:p>
        </p:txBody>
      </p:sp>
      <mc:AlternateContent xmlns:mc="http://schemas.openxmlformats.org/markup-compatibility/2006" xmlns:a14="http://schemas.microsoft.com/office/drawing/2010/main">
        <mc:Choice Requires="a14">
          <p:sp>
            <p:nvSpPr>
              <p:cNvPr id="61" name="Szövegdoboz 60"/>
              <p:cNvSpPr txBox="1"/>
              <p:nvPr/>
            </p:nvSpPr>
            <p:spPr>
              <a:xfrm>
                <a:off x="2827724" y="3611308"/>
                <a:ext cx="6112121" cy="13370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𝑃</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𝜉</m:t>
                          </m:r>
                          <m:r>
                            <a:rPr lang="en-GB" b="0" i="1" dirty="0" smtClean="0">
                              <a:latin typeface="Cambria Math" panose="02040503050406030204" pitchFamily="18" charset="0"/>
                            </a:rPr>
                            <m:t>&gt;50</m:t>
                          </m:r>
                        </m:e>
                      </m:d>
                      <m:r>
                        <a:rPr lang="en-GB" b="0" i="1" dirty="0" smtClean="0">
                          <a:latin typeface="Cambria Math" panose="02040503050406030204" pitchFamily="18" charset="0"/>
                        </a:rPr>
                        <m:t>=1−</m:t>
                      </m:r>
                      <m:r>
                        <a:rPr lang="en-GB" b="0" i="1" dirty="0" smtClean="0">
                          <a:latin typeface="Cambria Math" panose="02040503050406030204" pitchFamily="18" charset="0"/>
                        </a:rPr>
                        <m:t>𝑃</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𝜉</m:t>
                          </m:r>
                          <m:r>
                            <a:rPr lang="en-GB" b="0" i="1" dirty="0" smtClean="0">
                              <a:latin typeface="Cambria Math" panose="02040503050406030204" pitchFamily="18" charset="0"/>
                            </a:rPr>
                            <m:t>&lt;50</m:t>
                          </m:r>
                        </m:e>
                      </m:d>
                      <m:r>
                        <a:rPr lang="en-GB" b="0" i="1" dirty="0" smtClean="0">
                          <a:latin typeface="Cambria Math" panose="02040503050406030204" pitchFamily="18" charset="0"/>
                        </a:rPr>
                        <m:t>=1−</m:t>
                      </m:r>
                      <m:r>
                        <a:rPr lang="en-GB" b="0" i="1" dirty="0" smtClean="0">
                          <a:latin typeface="Cambria Math" panose="02040503050406030204" pitchFamily="18" charset="0"/>
                        </a:rPr>
                        <m:t>𝑃</m:t>
                      </m:r>
                      <m:d>
                        <m:dPr>
                          <m:ctrlPr>
                            <a:rPr lang="en-GB" b="0" i="1" dirty="0" smtClean="0">
                              <a:latin typeface="Cambria Math" panose="02040503050406030204" pitchFamily="18" charset="0"/>
                            </a:rPr>
                          </m:ctrlPr>
                        </m:dPr>
                        <m:e>
                          <m:f>
                            <m:fPr>
                              <m:ctrlPr>
                                <a:rPr lang="en-GB" b="0" i="1" dirty="0" smtClean="0">
                                  <a:latin typeface="Cambria Math" panose="02040503050406030204" pitchFamily="18" charset="0"/>
                                </a:rPr>
                              </m:ctrlPr>
                            </m:fPr>
                            <m:num>
                              <m:r>
                                <a:rPr lang="en-GB" b="0" i="1" dirty="0" smtClean="0">
                                  <a:latin typeface="Cambria Math" panose="02040503050406030204" pitchFamily="18" charset="0"/>
                                </a:rPr>
                                <m:t>𝜉</m:t>
                              </m:r>
                              <m:r>
                                <a:rPr lang="en-GB" b="0" i="1" dirty="0" smtClean="0">
                                  <a:latin typeface="Cambria Math" panose="02040503050406030204" pitchFamily="18" charset="0"/>
                                </a:rPr>
                                <m:t>−20</m:t>
                              </m:r>
                            </m:num>
                            <m:den>
                              <m:r>
                                <a:rPr lang="en-GB" b="0" i="1" dirty="0" smtClean="0">
                                  <a:latin typeface="Cambria Math" panose="02040503050406030204" pitchFamily="18" charset="0"/>
                                </a:rPr>
                                <m:t>50</m:t>
                              </m:r>
                            </m:den>
                          </m:f>
                          <m:r>
                            <a:rPr lang="en-GB" b="0" i="1" dirty="0" smtClean="0">
                              <a:latin typeface="Cambria Math" panose="02040503050406030204" pitchFamily="18" charset="0"/>
                            </a:rPr>
                            <m:t>≤</m:t>
                          </m:r>
                          <m:f>
                            <m:fPr>
                              <m:ctrlPr>
                                <a:rPr lang="en-GB" b="0" i="1" dirty="0" smtClean="0">
                                  <a:latin typeface="Cambria Math" panose="02040503050406030204" pitchFamily="18" charset="0"/>
                                </a:rPr>
                              </m:ctrlPr>
                            </m:fPr>
                            <m:num>
                              <m:r>
                                <a:rPr lang="en-GB" b="0" i="1" dirty="0" smtClean="0">
                                  <a:latin typeface="Cambria Math" panose="02040503050406030204" pitchFamily="18" charset="0"/>
                                </a:rPr>
                                <m:t>50−20</m:t>
                              </m:r>
                            </m:num>
                            <m:den>
                              <m:r>
                                <a:rPr lang="en-GB" b="0" i="1" dirty="0" smtClean="0">
                                  <a:latin typeface="Cambria Math" panose="02040503050406030204" pitchFamily="18" charset="0"/>
                                </a:rPr>
                                <m:t>50</m:t>
                              </m:r>
                            </m:den>
                          </m:f>
                        </m:e>
                      </m:d>
                      <m:r>
                        <a:rPr lang="en-GB" b="0" i="1" dirty="0" smtClean="0">
                          <a:latin typeface="Cambria Math" panose="02040503050406030204" pitchFamily="18" charset="0"/>
                        </a:rPr>
                        <m:t>=</m:t>
                      </m:r>
                    </m:oMath>
                    <m:oMath xmlns:m="http://schemas.openxmlformats.org/officeDocument/2006/math">
                      <m:r>
                        <a:rPr lang="en-GB" b="0" i="1" dirty="0" smtClean="0">
                          <a:latin typeface="Cambria Math" panose="02040503050406030204" pitchFamily="18" charset="0"/>
                        </a:rPr>
                        <m:t>=1−</m:t>
                      </m:r>
                      <m:r>
                        <m:rPr>
                          <m:sty m:val="p"/>
                        </m:rPr>
                        <a:rPr lang="el-GR" b="0" i="1" dirty="0" smtClean="0">
                          <a:latin typeface="Cambria Math" panose="02040503050406030204" pitchFamily="18" charset="0"/>
                          <a:ea typeface="Cambria Math" panose="02040503050406030204" pitchFamily="18" charset="0"/>
                        </a:rPr>
                        <m:t>Φ</m:t>
                      </m:r>
                      <m:d>
                        <m:dPr>
                          <m:ctrlPr>
                            <a:rPr lang="en-GB" b="0" i="1" dirty="0" smtClean="0">
                              <a:latin typeface="Cambria Math" panose="02040503050406030204" pitchFamily="18" charset="0"/>
                              <a:ea typeface="Cambria Math" panose="02040503050406030204" pitchFamily="18" charset="0"/>
                            </a:rPr>
                          </m:ctrlPr>
                        </m:dPr>
                        <m:e>
                          <m:f>
                            <m:fPr>
                              <m:ctrlPr>
                                <a:rPr lang="en-GB" b="0" i="1" dirty="0" smtClean="0">
                                  <a:latin typeface="Cambria Math" panose="02040503050406030204" pitchFamily="18" charset="0"/>
                                  <a:ea typeface="Cambria Math" panose="02040503050406030204" pitchFamily="18" charset="0"/>
                                </a:rPr>
                              </m:ctrlPr>
                            </m:fPr>
                            <m:num>
                              <m:r>
                                <a:rPr lang="en-GB" b="0" i="1" dirty="0" smtClean="0">
                                  <a:latin typeface="Cambria Math" panose="02040503050406030204" pitchFamily="18" charset="0"/>
                                  <a:ea typeface="Cambria Math" panose="02040503050406030204" pitchFamily="18" charset="0"/>
                                </a:rPr>
                                <m:t>3</m:t>
                              </m:r>
                            </m:num>
                            <m:den>
                              <m:r>
                                <a:rPr lang="en-GB" b="0" i="1" dirty="0" smtClean="0">
                                  <a:latin typeface="Cambria Math" panose="02040503050406030204" pitchFamily="18" charset="0"/>
                                  <a:ea typeface="Cambria Math" panose="02040503050406030204" pitchFamily="18" charset="0"/>
                                </a:rPr>
                                <m:t>5</m:t>
                              </m:r>
                            </m:den>
                          </m:f>
                        </m:e>
                      </m:d>
                      <m:r>
                        <a:rPr lang="en-GB" b="0" i="1" dirty="0" smtClean="0">
                          <a:latin typeface="Cambria Math" panose="02040503050406030204" pitchFamily="18" charset="0"/>
                          <a:ea typeface="Cambria Math" panose="02040503050406030204" pitchFamily="18" charset="0"/>
                        </a:rPr>
                        <m:t>=1−0.7257=0.2743</m:t>
                      </m:r>
                    </m:oMath>
                  </m:oMathPara>
                </a14:m>
                <a:endParaRPr lang="en-GB" dirty="0"/>
              </a:p>
            </p:txBody>
          </p:sp>
        </mc:Choice>
        <mc:Fallback xmlns="">
          <p:sp>
            <p:nvSpPr>
              <p:cNvPr id="61" name="Szövegdoboz 60"/>
              <p:cNvSpPr txBox="1">
                <a:spLocks noRot="1" noChangeAspect="1" noMove="1" noResize="1" noEditPoints="1" noAdjustHandles="1" noChangeArrowheads="1" noChangeShapeType="1" noTextEdit="1"/>
              </p:cNvSpPr>
              <p:nvPr/>
            </p:nvSpPr>
            <p:spPr>
              <a:xfrm>
                <a:off x="2827724" y="3611308"/>
                <a:ext cx="6112121" cy="1337033"/>
              </a:xfrm>
              <a:prstGeom prst="rect">
                <a:avLst/>
              </a:prstGeom>
              <a:blipFill rotWithShape="0">
                <a:blip r:embed="rId4"/>
                <a:stretch>
                  <a:fillRect/>
                </a:stretch>
              </a:blipFill>
            </p:spPr>
            <p:txBody>
              <a:bodyPr/>
              <a:lstStyle/>
              <a:p>
                <a:r>
                  <a:rPr lang="en-GB">
                    <a:noFill/>
                  </a:rPr>
                  <a:t> </a:t>
                </a:r>
              </a:p>
            </p:txBody>
          </p:sp>
        </mc:Fallback>
      </mc:AlternateContent>
      <p:sp>
        <p:nvSpPr>
          <p:cNvPr id="15" name="Téglalap 14"/>
          <p:cNvSpPr/>
          <p:nvPr/>
        </p:nvSpPr>
        <p:spPr>
          <a:xfrm>
            <a:off x="215593" y="4890254"/>
            <a:ext cx="1830629" cy="369332"/>
          </a:xfrm>
          <a:prstGeom prst="rect">
            <a:avLst/>
          </a:prstGeom>
        </p:spPr>
        <p:txBody>
          <a:bodyPr wrap="none">
            <a:spAutoFit/>
          </a:bodyPr>
          <a:lstStyle/>
          <a:p>
            <a:r>
              <a:rPr lang="en-GB" dirty="0"/>
              <a:t>In the air corridor</a:t>
            </a:r>
          </a:p>
        </p:txBody>
      </p:sp>
      <mc:AlternateContent xmlns:mc="http://schemas.openxmlformats.org/markup-compatibility/2006" xmlns:a14="http://schemas.microsoft.com/office/drawing/2010/main">
        <mc:Choice Requires="a14">
          <p:sp>
            <p:nvSpPr>
              <p:cNvPr id="62" name="Szövegdoboz 61"/>
              <p:cNvSpPr txBox="1"/>
              <p:nvPr/>
            </p:nvSpPr>
            <p:spPr>
              <a:xfrm>
                <a:off x="2744093" y="5018489"/>
                <a:ext cx="6042103" cy="13370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𝑃</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−50≤</m:t>
                          </m:r>
                          <m:r>
                            <a:rPr lang="en-GB" b="0" i="1" dirty="0" smtClean="0">
                              <a:latin typeface="Cambria Math" panose="02040503050406030204" pitchFamily="18" charset="0"/>
                            </a:rPr>
                            <m:t>𝜉</m:t>
                          </m:r>
                          <m:r>
                            <a:rPr lang="en-GB" b="0" i="1" dirty="0" smtClean="0">
                              <a:latin typeface="Cambria Math" panose="02040503050406030204" pitchFamily="18" charset="0"/>
                            </a:rPr>
                            <m:t>≤50</m:t>
                          </m:r>
                        </m:e>
                      </m:d>
                      <m:r>
                        <a:rPr lang="en-GB" b="0" i="1" dirty="0" smtClean="0">
                          <a:latin typeface="Cambria Math" panose="02040503050406030204" pitchFamily="18" charset="0"/>
                        </a:rPr>
                        <m:t>=</m:t>
                      </m:r>
                      <m:r>
                        <a:rPr lang="en-GB" b="0" i="1" dirty="0" smtClean="0">
                          <a:latin typeface="Cambria Math" panose="02040503050406030204" pitchFamily="18" charset="0"/>
                        </a:rPr>
                        <m:t>𝑃</m:t>
                      </m:r>
                      <m:d>
                        <m:dPr>
                          <m:ctrlPr>
                            <a:rPr lang="en-GB" b="0" i="1" dirty="0" smtClean="0">
                              <a:latin typeface="Cambria Math" panose="02040503050406030204" pitchFamily="18" charset="0"/>
                            </a:rPr>
                          </m:ctrlPr>
                        </m:dPr>
                        <m:e>
                          <m:f>
                            <m:fPr>
                              <m:ctrlPr>
                                <a:rPr lang="en-GB" b="0" i="1" dirty="0" smtClean="0">
                                  <a:latin typeface="Cambria Math" panose="02040503050406030204" pitchFamily="18" charset="0"/>
                                </a:rPr>
                              </m:ctrlPr>
                            </m:fPr>
                            <m:num>
                              <m:r>
                                <a:rPr lang="en-GB" b="0" i="1" dirty="0" smtClean="0">
                                  <a:latin typeface="Cambria Math" panose="02040503050406030204" pitchFamily="18" charset="0"/>
                                </a:rPr>
                                <m:t>−50−20</m:t>
                              </m:r>
                            </m:num>
                            <m:den>
                              <m:r>
                                <a:rPr lang="en-GB" b="0" i="1" dirty="0" smtClean="0">
                                  <a:latin typeface="Cambria Math" panose="02040503050406030204" pitchFamily="18" charset="0"/>
                                </a:rPr>
                                <m:t>50</m:t>
                              </m:r>
                            </m:den>
                          </m:f>
                          <m:r>
                            <a:rPr lang="en-GB" b="0" i="1" dirty="0" smtClean="0">
                              <a:latin typeface="Cambria Math" panose="02040503050406030204" pitchFamily="18" charset="0"/>
                            </a:rPr>
                            <m:t>≤</m:t>
                          </m:r>
                          <m:f>
                            <m:fPr>
                              <m:ctrlPr>
                                <a:rPr lang="en-GB" b="0" i="1" dirty="0" smtClean="0">
                                  <a:latin typeface="Cambria Math" panose="02040503050406030204" pitchFamily="18" charset="0"/>
                                </a:rPr>
                              </m:ctrlPr>
                            </m:fPr>
                            <m:num>
                              <m:r>
                                <a:rPr lang="en-GB" b="0" i="1" dirty="0" smtClean="0">
                                  <a:latin typeface="Cambria Math" panose="02040503050406030204" pitchFamily="18" charset="0"/>
                                </a:rPr>
                                <m:t>𝜉</m:t>
                              </m:r>
                              <m:r>
                                <a:rPr lang="en-GB" b="0" i="1" dirty="0" smtClean="0">
                                  <a:latin typeface="Cambria Math" panose="02040503050406030204" pitchFamily="18" charset="0"/>
                                </a:rPr>
                                <m:t>−20</m:t>
                              </m:r>
                            </m:num>
                            <m:den>
                              <m:r>
                                <a:rPr lang="en-GB" b="0" i="1" dirty="0" smtClean="0">
                                  <a:latin typeface="Cambria Math" panose="02040503050406030204" pitchFamily="18" charset="0"/>
                                </a:rPr>
                                <m:t>50</m:t>
                              </m:r>
                            </m:den>
                          </m:f>
                          <m:r>
                            <a:rPr lang="en-GB" b="0" i="1" dirty="0" smtClean="0">
                              <a:latin typeface="Cambria Math" panose="02040503050406030204" pitchFamily="18" charset="0"/>
                            </a:rPr>
                            <m:t>≤</m:t>
                          </m:r>
                          <m:f>
                            <m:fPr>
                              <m:ctrlPr>
                                <a:rPr lang="en-GB" b="0" i="1" dirty="0" smtClean="0">
                                  <a:latin typeface="Cambria Math" panose="02040503050406030204" pitchFamily="18" charset="0"/>
                                </a:rPr>
                              </m:ctrlPr>
                            </m:fPr>
                            <m:num>
                              <m:r>
                                <a:rPr lang="en-GB" b="0" i="1" dirty="0" smtClean="0">
                                  <a:latin typeface="Cambria Math" panose="02040503050406030204" pitchFamily="18" charset="0"/>
                                </a:rPr>
                                <m:t>50−20</m:t>
                              </m:r>
                            </m:num>
                            <m:den>
                              <m:r>
                                <a:rPr lang="en-GB" b="0" i="1" dirty="0" smtClean="0">
                                  <a:latin typeface="Cambria Math" panose="02040503050406030204" pitchFamily="18" charset="0"/>
                                </a:rPr>
                                <m:t>50</m:t>
                              </m:r>
                            </m:den>
                          </m:f>
                        </m:e>
                      </m:d>
                      <m:r>
                        <a:rPr lang="en-GB" b="0" i="1" dirty="0" smtClean="0">
                          <a:latin typeface="Cambria Math" panose="02040503050406030204" pitchFamily="18" charset="0"/>
                        </a:rPr>
                        <m:t>=</m:t>
                      </m:r>
                    </m:oMath>
                    <m:oMath xmlns:m="http://schemas.openxmlformats.org/officeDocument/2006/math">
                      <m:r>
                        <a:rPr lang="en-GB" b="0" i="1" dirty="0" smtClean="0">
                          <a:latin typeface="Cambria Math" panose="02040503050406030204" pitchFamily="18" charset="0"/>
                        </a:rPr>
                        <m:t>=</m:t>
                      </m:r>
                      <m:r>
                        <m:rPr>
                          <m:sty m:val="p"/>
                        </m:rPr>
                        <a:rPr lang="el-GR" b="0" i="1" dirty="0" smtClean="0">
                          <a:latin typeface="Cambria Math" panose="02040503050406030204" pitchFamily="18" charset="0"/>
                          <a:ea typeface="Cambria Math" panose="02040503050406030204" pitchFamily="18" charset="0"/>
                        </a:rPr>
                        <m:t>Φ</m:t>
                      </m:r>
                      <m:d>
                        <m:dPr>
                          <m:ctrlPr>
                            <a:rPr lang="en-GB" b="0" i="1" dirty="0" smtClean="0">
                              <a:latin typeface="Cambria Math" panose="02040503050406030204" pitchFamily="18" charset="0"/>
                              <a:ea typeface="Cambria Math" panose="02040503050406030204" pitchFamily="18" charset="0"/>
                            </a:rPr>
                          </m:ctrlPr>
                        </m:dPr>
                        <m:e>
                          <m:f>
                            <m:fPr>
                              <m:ctrlPr>
                                <a:rPr lang="en-GB" b="0" i="1" dirty="0" smtClean="0">
                                  <a:latin typeface="Cambria Math" panose="02040503050406030204" pitchFamily="18" charset="0"/>
                                  <a:ea typeface="Cambria Math" panose="02040503050406030204" pitchFamily="18" charset="0"/>
                                </a:rPr>
                              </m:ctrlPr>
                            </m:fPr>
                            <m:num>
                              <m:r>
                                <a:rPr lang="en-GB" b="0" i="1" dirty="0" smtClean="0">
                                  <a:latin typeface="Cambria Math" panose="02040503050406030204" pitchFamily="18" charset="0"/>
                                  <a:ea typeface="Cambria Math" panose="02040503050406030204" pitchFamily="18" charset="0"/>
                                </a:rPr>
                                <m:t>3</m:t>
                              </m:r>
                            </m:num>
                            <m:den>
                              <m:r>
                                <a:rPr lang="en-GB" b="0" i="1" dirty="0" smtClean="0">
                                  <a:latin typeface="Cambria Math" panose="02040503050406030204" pitchFamily="18" charset="0"/>
                                  <a:ea typeface="Cambria Math" panose="02040503050406030204" pitchFamily="18" charset="0"/>
                                </a:rPr>
                                <m:t>5</m:t>
                              </m:r>
                            </m:den>
                          </m:f>
                        </m:e>
                      </m:d>
                      <m:r>
                        <a:rPr lang="en-GB" b="0" i="1" dirty="0" smtClean="0">
                          <a:latin typeface="Cambria Math" panose="02040503050406030204" pitchFamily="18" charset="0"/>
                          <a:ea typeface="Cambria Math" panose="02040503050406030204" pitchFamily="18" charset="0"/>
                        </a:rPr>
                        <m:t>−</m:t>
                      </m:r>
                      <m:r>
                        <m:rPr>
                          <m:sty m:val="p"/>
                        </m:rPr>
                        <a:rPr lang="en-GB" b="0" i="0" dirty="0" smtClean="0">
                          <a:latin typeface="Cambria Math" panose="02040503050406030204" pitchFamily="18" charset="0"/>
                          <a:ea typeface="Cambria Math" panose="02040503050406030204" pitchFamily="18" charset="0"/>
                        </a:rPr>
                        <m:t>Φ</m:t>
                      </m:r>
                      <m:d>
                        <m:dPr>
                          <m:ctrlPr>
                            <a:rPr lang="en-GB" b="0" i="1" dirty="0" smtClean="0">
                              <a:latin typeface="Cambria Math" panose="02040503050406030204" pitchFamily="18" charset="0"/>
                              <a:ea typeface="Cambria Math" panose="02040503050406030204" pitchFamily="18" charset="0"/>
                            </a:rPr>
                          </m:ctrlPr>
                        </m:dPr>
                        <m:e>
                          <m:r>
                            <a:rPr lang="en-GB" b="0" i="1" dirty="0" smtClean="0">
                              <a:latin typeface="Cambria Math" panose="02040503050406030204" pitchFamily="18" charset="0"/>
                              <a:ea typeface="Cambria Math" panose="02040503050406030204" pitchFamily="18" charset="0"/>
                            </a:rPr>
                            <m:t>−</m:t>
                          </m:r>
                          <m:f>
                            <m:fPr>
                              <m:ctrlPr>
                                <a:rPr lang="en-GB" b="0" i="1" dirty="0" smtClean="0">
                                  <a:latin typeface="Cambria Math" panose="02040503050406030204" pitchFamily="18" charset="0"/>
                                  <a:ea typeface="Cambria Math" panose="02040503050406030204" pitchFamily="18" charset="0"/>
                                </a:rPr>
                              </m:ctrlPr>
                            </m:fPr>
                            <m:num>
                              <m:r>
                                <a:rPr lang="en-GB" b="0" i="1" dirty="0" smtClean="0">
                                  <a:latin typeface="Cambria Math" panose="02040503050406030204" pitchFamily="18" charset="0"/>
                                  <a:ea typeface="Cambria Math" panose="02040503050406030204" pitchFamily="18" charset="0"/>
                                </a:rPr>
                                <m:t>7</m:t>
                              </m:r>
                            </m:num>
                            <m:den>
                              <m:r>
                                <a:rPr lang="en-GB" b="0" i="1" dirty="0" smtClean="0">
                                  <a:latin typeface="Cambria Math" panose="02040503050406030204" pitchFamily="18" charset="0"/>
                                  <a:ea typeface="Cambria Math" panose="02040503050406030204" pitchFamily="18" charset="0"/>
                                </a:rPr>
                                <m:t>5</m:t>
                              </m:r>
                            </m:den>
                          </m:f>
                        </m:e>
                      </m:d>
                      <m:r>
                        <a:rPr lang="en-GB" b="0" i="1" dirty="0" smtClean="0">
                          <a:latin typeface="Cambria Math" panose="02040503050406030204" pitchFamily="18" charset="0"/>
                          <a:ea typeface="Cambria Math" panose="02040503050406030204" pitchFamily="18" charset="0"/>
                        </a:rPr>
                        <m:t>=</m:t>
                      </m:r>
                      <m:r>
                        <m:rPr>
                          <m:sty m:val="p"/>
                        </m:rPr>
                        <a:rPr lang="el-GR" i="1" dirty="0">
                          <a:latin typeface="Cambria Math" panose="02040503050406030204" pitchFamily="18" charset="0"/>
                          <a:ea typeface="Cambria Math" panose="02040503050406030204" pitchFamily="18" charset="0"/>
                        </a:rPr>
                        <m:t>Φ</m:t>
                      </m:r>
                      <m:d>
                        <m:dPr>
                          <m:ctrlPr>
                            <a:rPr lang="en-GB" i="1" dirty="0">
                              <a:latin typeface="Cambria Math" panose="02040503050406030204" pitchFamily="18" charset="0"/>
                              <a:ea typeface="Cambria Math" panose="02040503050406030204" pitchFamily="18" charset="0"/>
                            </a:rPr>
                          </m:ctrlPr>
                        </m:dPr>
                        <m:e>
                          <m:f>
                            <m:fPr>
                              <m:ctrlPr>
                                <a:rPr lang="en-GB" i="1" dirty="0">
                                  <a:latin typeface="Cambria Math" panose="02040503050406030204" pitchFamily="18" charset="0"/>
                                  <a:ea typeface="Cambria Math" panose="02040503050406030204" pitchFamily="18" charset="0"/>
                                </a:rPr>
                              </m:ctrlPr>
                            </m:fPr>
                            <m:num>
                              <m:r>
                                <a:rPr lang="en-GB" i="1" dirty="0">
                                  <a:latin typeface="Cambria Math" panose="02040503050406030204" pitchFamily="18" charset="0"/>
                                  <a:ea typeface="Cambria Math" panose="02040503050406030204" pitchFamily="18" charset="0"/>
                                </a:rPr>
                                <m:t>3</m:t>
                              </m:r>
                            </m:num>
                            <m:den>
                              <m:r>
                                <a:rPr lang="en-GB" i="1" dirty="0">
                                  <a:latin typeface="Cambria Math" panose="02040503050406030204" pitchFamily="18" charset="0"/>
                                  <a:ea typeface="Cambria Math" panose="02040503050406030204" pitchFamily="18" charset="0"/>
                                </a:rPr>
                                <m:t>5</m:t>
                              </m:r>
                            </m:den>
                          </m:f>
                        </m:e>
                      </m:d>
                      <m:r>
                        <a:rPr lang="en-GB" i="1" dirty="0">
                          <a:latin typeface="Cambria Math" panose="02040503050406030204" pitchFamily="18" charset="0"/>
                          <a:ea typeface="Cambria Math" panose="02040503050406030204" pitchFamily="18" charset="0"/>
                        </a:rPr>
                        <m:t>−</m:t>
                      </m:r>
                      <m:d>
                        <m:dPr>
                          <m:ctrlPr>
                            <a:rPr lang="en-GB" b="0" i="1" dirty="0" smtClean="0">
                              <a:latin typeface="Cambria Math" panose="02040503050406030204" pitchFamily="18" charset="0"/>
                              <a:ea typeface="Cambria Math" panose="02040503050406030204" pitchFamily="18" charset="0"/>
                            </a:rPr>
                          </m:ctrlPr>
                        </m:dPr>
                        <m:e>
                          <m:r>
                            <a:rPr lang="en-GB" b="0" i="1" dirty="0" smtClean="0">
                              <a:latin typeface="Cambria Math" panose="02040503050406030204" pitchFamily="18" charset="0"/>
                              <a:ea typeface="Cambria Math" panose="02040503050406030204" pitchFamily="18" charset="0"/>
                            </a:rPr>
                            <m:t>1−</m:t>
                          </m:r>
                          <m:r>
                            <m:rPr>
                              <m:sty m:val="p"/>
                            </m:rPr>
                            <a:rPr lang="en-GB" dirty="0">
                              <a:latin typeface="Cambria Math" panose="02040503050406030204" pitchFamily="18" charset="0"/>
                              <a:ea typeface="Cambria Math" panose="02040503050406030204" pitchFamily="18" charset="0"/>
                            </a:rPr>
                            <m:t>Φ</m:t>
                          </m:r>
                          <m:d>
                            <m:dPr>
                              <m:ctrlPr>
                                <a:rPr lang="en-GB" i="1" dirty="0">
                                  <a:latin typeface="Cambria Math" panose="02040503050406030204" pitchFamily="18" charset="0"/>
                                  <a:ea typeface="Cambria Math" panose="02040503050406030204" pitchFamily="18" charset="0"/>
                                </a:rPr>
                              </m:ctrlPr>
                            </m:dPr>
                            <m:e>
                              <m:f>
                                <m:fPr>
                                  <m:ctrlPr>
                                    <a:rPr lang="en-GB" i="1" dirty="0">
                                      <a:latin typeface="Cambria Math" panose="02040503050406030204" pitchFamily="18" charset="0"/>
                                      <a:ea typeface="Cambria Math" panose="02040503050406030204" pitchFamily="18" charset="0"/>
                                    </a:rPr>
                                  </m:ctrlPr>
                                </m:fPr>
                                <m:num>
                                  <m:r>
                                    <a:rPr lang="en-GB" i="1" dirty="0">
                                      <a:latin typeface="Cambria Math" panose="02040503050406030204" pitchFamily="18" charset="0"/>
                                      <a:ea typeface="Cambria Math" panose="02040503050406030204" pitchFamily="18" charset="0"/>
                                    </a:rPr>
                                    <m:t>7</m:t>
                                  </m:r>
                                </m:num>
                                <m:den>
                                  <m:r>
                                    <a:rPr lang="en-GB" i="1" dirty="0">
                                      <a:latin typeface="Cambria Math" panose="02040503050406030204" pitchFamily="18" charset="0"/>
                                      <a:ea typeface="Cambria Math" panose="02040503050406030204" pitchFamily="18" charset="0"/>
                                    </a:rPr>
                                    <m:t>5</m:t>
                                  </m:r>
                                </m:den>
                              </m:f>
                            </m:e>
                          </m:d>
                        </m:e>
                      </m:d>
                      <m:r>
                        <a:rPr lang="en-GB" b="0" i="1" dirty="0" smtClean="0">
                          <a:latin typeface="Cambria Math" panose="02040503050406030204" pitchFamily="18" charset="0"/>
                          <a:ea typeface="Cambria Math" panose="02040503050406030204" pitchFamily="18" charset="0"/>
                        </a:rPr>
                        <m:t>=0.6449</m:t>
                      </m:r>
                    </m:oMath>
                  </m:oMathPara>
                </a14:m>
                <a:endParaRPr lang="en-GB" dirty="0"/>
              </a:p>
            </p:txBody>
          </p:sp>
        </mc:Choice>
        <mc:Fallback xmlns="">
          <p:sp>
            <p:nvSpPr>
              <p:cNvPr id="62" name="Szövegdoboz 61"/>
              <p:cNvSpPr txBox="1">
                <a:spLocks noRot="1" noChangeAspect="1" noMove="1" noResize="1" noEditPoints="1" noAdjustHandles="1" noChangeArrowheads="1" noChangeShapeType="1" noTextEdit="1"/>
              </p:cNvSpPr>
              <p:nvPr/>
            </p:nvSpPr>
            <p:spPr>
              <a:xfrm>
                <a:off x="2744093" y="5018489"/>
                <a:ext cx="6042103" cy="1337033"/>
              </a:xfrm>
              <a:prstGeom prst="rect">
                <a:avLst/>
              </a:prstGeom>
              <a:blipFill rotWithShape="0">
                <a:blip r:embed="rId5"/>
                <a:stretch>
                  <a:fillRect/>
                </a:stretch>
              </a:blipFill>
            </p:spPr>
            <p:txBody>
              <a:bodyPr/>
              <a:lstStyle/>
              <a:p>
                <a:r>
                  <a:rPr lang="hu-HU">
                    <a:noFill/>
                  </a:rPr>
                  <a:t> </a:t>
                </a:r>
              </a:p>
            </p:txBody>
          </p:sp>
        </mc:Fallback>
      </mc:AlternateContent>
    </p:spTree>
    <p:extLst>
      <p:ext uri="{BB962C8B-B14F-4D97-AF65-F5344CB8AC3E}">
        <p14:creationId xmlns:p14="http://schemas.microsoft.com/office/powerpoint/2010/main" val="3252744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61" grpId="0"/>
      <p:bldP spid="15" grpId="0"/>
      <p:bldP spid="6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822960" y="286604"/>
            <a:ext cx="7543800" cy="1461612"/>
          </a:xfrm>
        </p:spPr>
        <p:txBody>
          <a:bodyPr>
            <a:normAutofit/>
          </a:bodyPr>
          <a:lstStyle/>
          <a:p>
            <a:r>
              <a:rPr lang="en-US" dirty="0">
                <a:solidFill>
                  <a:srgbClr val="92D050"/>
                </a:solidFill>
                <a:cs typeface="Arial" panose="020B0604020202020204" pitchFamily="34" charset="0"/>
              </a:rPr>
              <a:t>Exercise </a:t>
            </a:r>
            <a:r>
              <a:rPr lang="en-GB" dirty="0">
                <a:solidFill>
                  <a:srgbClr val="92D050"/>
                </a:solidFill>
                <a:cs typeface="Arial" panose="020B0604020202020204" pitchFamily="34" charset="0"/>
              </a:rPr>
              <a:t>13.5</a:t>
            </a:r>
            <a:r>
              <a:rPr lang="hu-HU" dirty="0">
                <a:solidFill>
                  <a:srgbClr val="92D050"/>
                </a:solidFill>
                <a:cs typeface="Arial" panose="020B0604020202020204" pitchFamily="34" charset="0"/>
              </a:rPr>
              <a:t> </a:t>
            </a:r>
            <a:r>
              <a:rPr lang="hu-HU" dirty="0">
                <a:solidFill>
                  <a:schemeClr val="tx1"/>
                </a:solidFill>
                <a:cs typeface="Arial" panose="020B0604020202020204" pitchFamily="34" charset="0"/>
              </a:rPr>
              <a:t>(</a:t>
            </a:r>
            <a:r>
              <a:rPr lang="en-GB" dirty="0"/>
              <a:t>Normal distribution </a:t>
            </a:r>
            <a:r>
              <a:rPr lang="hu-HU" dirty="0">
                <a:solidFill>
                  <a:schemeClr val="tx1"/>
                </a:solidFill>
                <a:cs typeface="Arial" panose="020B0604020202020204" pitchFamily="34" charset="0"/>
              </a:rPr>
              <a:t>MATLAB </a:t>
            </a:r>
            <a:r>
              <a:rPr lang="hu-HU" dirty="0" err="1">
                <a:solidFill>
                  <a:schemeClr val="tx1"/>
                </a:solidFill>
                <a:cs typeface="Arial" panose="020B0604020202020204" pitchFamily="34" charset="0"/>
              </a:rPr>
              <a:t>solution</a:t>
            </a:r>
            <a:r>
              <a:rPr lang="hu-HU" dirty="0">
                <a:solidFill>
                  <a:schemeClr val="tx1"/>
                </a:solidFill>
                <a:cs typeface="Arial" panose="020B0604020202020204" pitchFamily="34" charset="0"/>
              </a:rPr>
              <a:t>)</a:t>
            </a:r>
            <a:endParaRPr lang="en-GB" dirty="0"/>
          </a:p>
        </p:txBody>
      </p:sp>
      <p:sp>
        <p:nvSpPr>
          <p:cNvPr id="3" name="Tartalom helye 2"/>
          <p:cNvSpPr>
            <a:spLocks noGrp="1"/>
          </p:cNvSpPr>
          <p:nvPr>
            <p:ph idx="1"/>
          </p:nvPr>
        </p:nvSpPr>
        <p:spPr>
          <a:xfrm>
            <a:off x="685800" y="1751643"/>
            <a:ext cx="7772400" cy="3613733"/>
          </a:xfrm>
        </p:spPr>
        <p:txBody>
          <a:bodyPr>
            <a:normAutofit/>
          </a:bodyPr>
          <a:lstStyle/>
          <a:p>
            <a:pPr algn="just"/>
            <a:r>
              <a:rPr lang="en-GB" sz="1800" dirty="0"/>
              <a:t>1-normcdf(3/5)</a:t>
            </a:r>
            <a:endParaRPr lang="hu-HU" sz="1800" dirty="0"/>
          </a:p>
          <a:p>
            <a:pPr algn="just"/>
            <a:r>
              <a:rPr lang="en-GB" sz="1800" dirty="0" err="1"/>
              <a:t>normcdf</a:t>
            </a:r>
            <a:r>
              <a:rPr lang="en-GB" sz="1800" dirty="0"/>
              <a:t>(3/5)-(1-normcdf(7/5))</a:t>
            </a:r>
            <a:endParaRPr lang="hu-HU" sz="1800" dirty="0"/>
          </a:p>
          <a:p>
            <a:pPr algn="just"/>
            <a:r>
              <a:rPr lang="en-GB" sz="1800" dirty="0"/>
              <a:t>%%% Simulation</a:t>
            </a:r>
            <a:endParaRPr lang="hu-HU" sz="1800" dirty="0"/>
          </a:p>
          <a:p>
            <a:pPr algn="just"/>
            <a:r>
              <a:rPr lang="en-GB" sz="1800" dirty="0"/>
              <a:t>n = 10^5;</a:t>
            </a:r>
            <a:endParaRPr lang="hu-HU" sz="1800" dirty="0"/>
          </a:p>
          <a:p>
            <a:pPr algn="just"/>
            <a:r>
              <a:rPr lang="en-GB" sz="1800" dirty="0"/>
              <a:t>x = </a:t>
            </a:r>
            <a:r>
              <a:rPr lang="en-GB" sz="1800" dirty="0" err="1"/>
              <a:t>normrnd</a:t>
            </a:r>
            <a:r>
              <a:rPr lang="en-GB" sz="1800" dirty="0"/>
              <a:t>(20,50,[1,n]);</a:t>
            </a:r>
            <a:endParaRPr lang="hu-HU" sz="1800" dirty="0"/>
          </a:p>
          <a:p>
            <a:pPr algn="just"/>
            <a:r>
              <a:rPr lang="en-GB" sz="1800" dirty="0"/>
              <a:t>length(x(x&gt;50))/n</a:t>
            </a:r>
            <a:endParaRPr lang="hu-HU" sz="1800" dirty="0"/>
          </a:p>
          <a:p>
            <a:pPr algn="just"/>
            <a:r>
              <a:rPr lang="en-GB" sz="1800" dirty="0"/>
              <a:t>length(x(x&gt;-50&amp;x&lt;50))/n</a:t>
            </a:r>
          </a:p>
        </p:txBody>
      </p:sp>
    </p:spTree>
    <p:extLst>
      <p:ext uri="{BB962C8B-B14F-4D97-AF65-F5344CB8AC3E}">
        <p14:creationId xmlns:p14="http://schemas.microsoft.com/office/powerpoint/2010/main" val="3742979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US" dirty="0">
                <a:solidFill>
                  <a:srgbClr val="92D050"/>
                </a:solidFill>
                <a:cs typeface="Arial" panose="020B0604020202020204" pitchFamily="34" charset="0"/>
              </a:rPr>
              <a:t>Exercise 15.4</a:t>
            </a:r>
            <a:r>
              <a:rPr lang="hu-HU" dirty="0">
                <a:solidFill>
                  <a:schemeClr val="tx1"/>
                </a:solidFill>
                <a:cs typeface="Arial" panose="020B0604020202020204" pitchFamily="34" charset="0"/>
              </a:rPr>
              <a:t> (M2)</a:t>
            </a:r>
            <a:r>
              <a:rPr lang="en-US" dirty="0">
                <a:solidFill>
                  <a:srgbClr val="92D050"/>
                </a:solidFill>
                <a:cs typeface="Arial" panose="020B0604020202020204" pitchFamily="34" charset="0"/>
              </a:rPr>
              <a:t> </a:t>
            </a:r>
            <a:endParaRPr lang="en-GB" dirty="0"/>
          </a:p>
        </p:txBody>
      </p:sp>
      <mc:AlternateContent xmlns:mc="http://schemas.openxmlformats.org/markup-compatibility/2006" xmlns:a14="http://schemas.microsoft.com/office/drawing/2010/main">
        <mc:Choice Requires="a14">
          <p:sp>
            <p:nvSpPr>
              <p:cNvPr id="3" name="Tartalom helye 2"/>
              <p:cNvSpPr>
                <a:spLocks noGrp="1"/>
              </p:cNvSpPr>
              <p:nvPr>
                <p:ph idx="1"/>
              </p:nvPr>
            </p:nvSpPr>
            <p:spPr>
              <a:xfrm>
                <a:off x="822959" y="1845732"/>
                <a:ext cx="7543801" cy="3028271"/>
              </a:xfrm>
            </p:spPr>
            <p:txBody>
              <a:bodyPr>
                <a:noAutofit/>
              </a:bodyPr>
              <a:lstStyle/>
              <a:p>
                <a:r>
                  <a:rPr lang="en-US" sz="1800" dirty="0"/>
                  <a:t>In a match making company the matchboxes are filled with an automatic machine. The number </a:t>
                </a:r>
                <a14:m>
                  <m:oMath xmlns:m="http://schemas.openxmlformats.org/officeDocument/2006/math">
                    <m:r>
                      <a:rPr lang="en-GB" sz="1800" b="0" i="1" smtClean="0">
                        <a:latin typeface="Cambria Math" panose="02040503050406030204" pitchFamily="18" charset="0"/>
                      </a:rPr>
                      <m:t>𝜉</m:t>
                    </m:r>
                  </m:oMath>
                </a14:m>
                <a:r>
                  <a:rPr lang="en-US" sz="1800" dirty="0"/>
                  <a:t> of match-sticks in a randomly chosen box is a random variable with </a:t>
                </a:r>
                <a:r>
                  <a:rPr lang="en-GB" sz="1800" dirty="0"/>
                  <a:t>the following distribution:</a:t>
                </a:r>
              </a:p>
              <a:p>
                <a:endParaRPr lang="en-US" sz="1800" dirty="0"/>
              </a:p>
              <a:p>
                <a:endParaRPr lang="en-US" sz="1800" dirty="0"/>
              </a:p>
              <a:p>
                <a:r>
                  <a:rPr lang="en-US" sz="1800" dirty="0"/>
                  <a:t>a) Find the </a:t>
                </a:r>
                <a:r>
                  <a:rPr lang="hu-HU" sz="1800" dirty="0" err="1"/>
                  <a:t>expected</a:t>
                </a:r>
                <a:r>
                  <a:rPr lang="hu-HU" sz="1800" dirty="0"/>
                  <a:t> </a:t>
                </a:r>
                <a:r>
                  <a:rPr lang="hu-HU" sz="1800" dirty="0" err="1"/>
                  <a:t>value</a:t>
                </a:r>
                <a:r>
                  <a:rPr lang="hu-HU" sz="1800" dirty="0"/>
                  <a:t> of </a:t>
                </a:r>
                <a14:m>
                  <m:oMath xmlns:m="http://schemas.openxmlformats.org/officeDocument/2006/math">
                    <m:r>
                      <a:rPr lang="en-GB" sz="1800" b="0" i="1" smtClean="0">
                        <a:latin typeface="Cambria Math" panose="02040503050406030204" pitchFamily="18" charset="0"/>
                      </a:rPr>
                      <m:t>𝜉</m:t>
                    </m:r>
                  </m:oMath>
                </a14:m>
                <a:r>
                  <a:rPr lang="en-US" sz="1800" dirty="0"/>
                  <a:t>.</a:t>
                </a:r>
              </a:p>
              <a:p>
                <a:r>
                  <a:rPr lang="en-US" sz="1800" dirty="0"/>
                  <a:t>b) Find the </a:t>
                </a:r>
                <a:r>
                  <a:rPr lang="hu-HU" sz="1800" dirty="0" err="1"/>
                  <a:t>variance</a:t>
                </a:r>
                <a:r>
                  <a:rPr lang="hu-HU" sz="1800" dirty="0"/>
                  <a:t> of </a:t>
                </a:r>
                <a14:m>
                  <m:oMath xmlns:m="http://schemas.openxmlformats.org/officeDocument/2006/math">
                    <m:r>
                      <a:rPr lang="en-GB" sz="1800" b="0" i="1" smtClean="0">
                        <a:latin typeface="Cambria Math" panose="02040503050406030204" pitchFamily="18" charset="0"/>
                      </a:rPr>
                      <m:t>𝜉</m:t>
                    </m:r>
                  </m:oMath>
                </a14:m>
                <a:r>
                  <a:rPr lang="en-US" sz="1800" dirty="0"/>
                  <a:t>.</a:t>
                </a:r>
                <a:endParaRPr lang="hu-HU" sz="1800" dirty="0"/>
              </a:p>
              <a:p>
                <a:r>
                  <a:rPr lang="hu-HU" sz="1800" dirty="0"/>
                  <a:t>c) </a:t>
                </a:r>
                <a:r>
                  <a:rPr lang="hu-HU" sz="1800" dirty="0" err="1"/>
                  <a:t>Find</a:t>
                </a:r>
                <a:r>
                  <a:rPr lang="hu-HU" sz="1800" dirty="0"/>
                  <a:t> </a:t>
                </a:r>
                <a:r>
                  <a:rPr lang="hu-HU" sz="1800" dirty="0" err="1"/>
                  <a:t>the</a:t>
                </a:r>
                <a:r>
                  <a:rPr lang="hu-HU" sz="1800" dirty="0"/>
                  <a:t> </a:t>
                </a:r>
                <a:r>
                  <a:rPr lang="hu-HU" sz="1800" dirty="0" err="1"/>
                  <a:t>value</a:t>
                </a:r>
                <a:r>
                  <a:rPr lang="hu-HU" sz="1800" dirty="0"/>
                  <a:t> of </a:t>
                </a:r>
                <a14:m>
                  <m:oMath xmlns:m="http://schemas.openxmlformats.org/officeDocument/2006/math">
                    <m:r>
                      <a:rPr lang="hu-HU" sz="1800" i="1" smtClean="0">
                        <a:latin typeface="Cambria Math" panose="02040503050406030204" pitchFamily="18" charset="0"/>
                      </a:rPr>
                      <m:t>𝑃</m:t>
                    </m:r>
                    <m:r>
                      <a:rPr lang="hu-HU" sz="1800" i="1" smtClean="0">
                        <a:latin typeface="Cambria Math" panose="02040503050406030204" pitchFamily="18" charset="0"/>
                      </a:rPr>
                      <m:t>(48&lt;</m:t>
                    </m:r>
                    <m:r>
                      <a:rPr lang="hu-HU" sz="1800" b="0" i="1" smtClean="0">
                        <a:latin typeface="Cambria Math" panose="02040503050406030204" pitchFamily="18" charset="0"/>
                      </a:rPr>
                      <m:t>𝜉</m:t>
                    </m:r>
                    <m:r>
                      <a:rPr lang="hu-HU" sz="1800" i="1" smtClean="0">
                        <a:latin typeface="Cambria Math" panose="02040503050406030204" pitchFamily="18" charset="0"/>
                      </a:rPr>
                      <m:t>&lt;52)</m:t>
                    </m:r>
                  </m:oMath>
                </a14:m>
                <a:r>
                  <a:rPr lang="hu-HU" sz="1800" dirty="0"/>
                  <a:t>.</a:t>
                </a:r>
                <a:endParaRPr lang="en-US" sz="1800" dirty="0"/>
              </a:p>
            </p:txBody>
          </p:sp>
        </mc:Choice>
        <mc:Fallback xmlns="">
          <p:sp>
            <p:nvSpPr>
              <p:cNvPr id="3" name="Tartalom helye 2"/>
              <p:cNvSpPr>
                <a:spLocks noGrp="1" noRot="1" noChangeAspect="1" noMove="1" noResize="1" noEditPoints="1" noAdjustHandles="1" noChangeArrowheads="1" noChangeShapeType="1" noTextEdit="1"/>
              </p:cNvSpPr>
              <p:nvPr>
                <p:ph idx="1"/>
              </p:nvPr>
            </p:nvSpPr>
            <p:spPr>
              <a:xfrm>
                <a:off x="822959" y="1845732"/>
                <a:ext cx="7543801" cy="3028271"/>
              </a:xfrm>
              <a:blipFill>
                <a:blip r:embed="rId2"/>
                <a:stretch>
                  <a:fillRect l="-646" t="-2213"/>
                </a:stretch>
              </a:blipFill>
            </p:spPr>
            <p:txBody>
              <a:bodyPr/>
              <a:lstStyle/>
              <a:p>
                <a:r>
                  <a:rPr lang="hu-HU">
                    <a:noFill/>
                  </a:rPr>
                  <a:t> </a:t>
                </a:r>
              </a:p>
            </p:txBody>
          </p:sp>
        </mc:Fallback>
      </mc:AlternateContent>
      <p:graphicFrame>
        <p:nvGraphicFramePr>
          <p:cNvPr id="4" name="Táblázat 3"/>
          <p:cNvGraphicFramePr>
            <a:graphicFrameLocks noGrp="1" noChangeAspect="1"/>
          </p:cNvGraphicFramePr>
          <p:nvPr>
            <p:extLst>
              <p:ext uri="{D42A27DB-BD31-4B8C-83A1-F6EECF244321}">
                <p14:modId xmlns:p14="http://schemas.microsoft.com/office/powerpoint/2010/main" val="2372471587"/>
              </p:ext>
            </p:extLst>
          </p:nvPr>
        </p:nvGraphicFramePr>
        <p:xfrm>
          <a:off x="829732" y="2687320"/>
          <a:ext cx="7484536" cy="741680"/>
        </p:xfrm>
        <a:graphic>
          <a:graphicData uri="http://schemas.openxmlformats.org/drawingml/2006/table">
            <a:tbl>
              <a:tblPr firstRow="1" bandRow="1">
                <a:tableStyleId>{F5AB1C69-6EDB-4FF4-983F-18BD219EF322}</a:tableStyleId>
              </a:tblPr>
              <a:tblGrid>
                <a:gridCol w="1236135">
                  <a:extLst>
                    <a:ext uri="{9D8B030D-6E8A-4147-A177-3AD203B41FA5}">
                      <a16:colId xmlns:a16="http://schemas.microsoft.com/office/drawing/2014/main" val="20000"/>
                    </a:ext>
                  </a:extLst>
                </a:gridCol>
                <a:gridCol w="829733">
                  <a:extLst>
                    <a:ext uri="{9D8B030D-6E8A-4147-A177-3AD203B41FA5}">
                      <a16:colId xmlns:a16="http://schemas.microsoft.com/office/drawing/2014/main" val="20001"/>
                    </a:ext>
                  </a:extLst>
                </a:gridCol>
                <a:gridCol w="846667">
                  <a:extLst>
                    <a:ext uri="{9D8B030D-6E8A-4147-A177-3AD203B41FA5}">
                      <a16:colId xmlns:a16="http://schemas.microsoft.com/office/drawing/2014/main" val="20002"/>
                    </a:ext>
                  </a:extLst>
                </a:gridCol>
                <a:gridCol w="889000">
                  <a:extLst>
                    <a:ext uri="{9D8B030D-6E8A-4147-A177-3AD203B41FA5}">
                      <a16:colId xmlns:a16="http://schemas.microsoft.com/office/drawing/2014/main" val="20003"/>
                    </a:ext>
                  </a:extLst>
                </a:gridCol>
                <a:gridCol w="876300">
                  <a:extLst>
                    <a:ext uri="{9D8B030D-6E8A-4147-A177-3AD203B41FA5}">
                      <a16:colId xmlns:a16="http://schemas.microsoft.com/office/drawing/2014/main" val="20004"/>
                    </a:ext>
                  </a:extLst>
                </a:gridCol>
                <a:gridCol w="935567">
                  <a:extLst>
                    <a:ext uri="{9D8B030D-6E8A-4147-A177-3AD203B41FA5}">
                      <a16:colId xmlns:a16="http://schemas.microsoft.com/office/drawing/2014/main" val="20005"/>
                    </a:ext>
                  </a:extLst>
                </a:gridCol>
                <a:gridCol w="935567">
                  <a:extLst>
                    <a:ext uri="{9D8B030D-6E8A-4147-A177-3AD203B41FA5}">
                      <a16:colId xmlns:a16="http://schemas.microsoft.com/office/drawing/2014/main" val="20006"/>
                    </a:ext>
                  </a:extLst>
                </a:gridCol>
                <a:gridCol w="935567">
                  <a:extLst>
                    <a:ext uri="{9D8B030D-6E8A-4147-A177-3AD203B41FA5}">
                      <a16:colId xmlns:a16="http://schemas.microsoft.com/office/drawing/2014/main" val="20007"/>
                    </a:ext>
                  </a:extLst>
                </a:gridCol>
              </a:tblGrid>
              <a:tr h="370840">
                <a:tc>
                  <a:txBody>
                    <a:bodyPr/>
                    <a:lstStyle/>
                    <a:p>
                      <a:r>
                        <a:rPr lang="en-US" sz="1800" b="0" dirty="0">
                          <a:solidFill>
                            <a:schemeClr val="tx1"/>
                          </a:solidFill>
                        </a:rPr>
                        <a:t>number </a:t>
                      </a:r>
                      <a:endParaRPr lang="en-GB" b="0" dirty="0">
                        <a:solidFill>
                          <a:schemeClr val="tx1"/>
                        </a:solidFill>
                      </a:endParaRPr>
                    </a:p>
                  </a:txBody>
                  <a:tcPr/>
                </a:tc>
                <a:tc>
                  <a:txBody>
                    <a:bodyPr/>
                    <a:lstStyle/>
                    <a:p>
                      <a:pPr algn="ctr"/>
                      <a:r>
                        <a:rPr lang="en-GB" b="0" dirty="0">
                          <a:solidFill>
                            <a:schemeClr val="tx1"/>
                          </a:solidFill>
                        </a:rPr>
                        <a:t>47</a:t>
                      </a:r>
                    </a:p>
                  </a:txBody>
                  <a:tcPr/>
                </a:tc>
                <a:tc>
                  <a:txBody>
                    <a:bodyPr/>
                    <a:lstStyle/>
                    <a:p>
                      <a:pPr algn="ctr"/>
                      <a:r>
                        <a:rPr lang="en-GB" b="0" dirty="0">
                          <a:solidFill>
                            <a:schemeClr val="tx1"/>
                          </a:solidFill>
                        </a:rPr>
                        <a:t>48</a:t>
                      </a:r>
                    </a:p>
                  </a:txBody>
                  <a:tcPr/>
                </a:tc>
                <a:tc>
                  <a:txBody>
                    <a:bodyPr/>
                    <a:lstStyle/>
                    <a:p>
                      <a:pPr algn="ctr"/>
                      <a:r>
                        <a:rPr lang="en-GB" b="0" dirty="0">
                          <a:solidFill>
                            <a:schemeClr val="tx1"/>
                          </a:solidFill>
                        </a:rPr>
                        <a:t>49</a:t>
                      </a:r>
                    </a:p>
                  </a:txBody>
                  <a:tcPr/>
                </a:tc>
                <a:tc>
                  <a:txBody>
                    <a:bodyPr/>
                    <a:lstStyle/>
                    <a:p>
                      <a:pPr algn="ctr"/>
                      <a:r>
                        <a:rPr lang="en-GB" b="0" dirty="0">
                          <a:solidFill>
                            <a:schemeClr val="tx1"/>
                          </a:solidFill>
                        </a:rPr>
                        <a:t>50</a:t>
                      </a:r>
                    </a:p>
                  </a:txBody>
                  <a:tcPr/>
                </a:tc>
                <a:tc>
                  <a:txBody>
                    <a:bodyPr/>
                    <a:lstStyle/>
                    <a:p>
                      <a:pPr algn="ctr"/>
                      <a:r>
                        <a:rPr lang="en-GB" b="0" dirty="0">
                          <a:solidFill>
                            <a:schemeClr val="tx1"/>
                          </a:solidFill>
                        </a:rPr>
                        <a:t>51</a:t>
                      </a:r>
                    </a:p>
                  </a:txBody>
                  <a:tcPr/>
                </a:tc>
                <a:tc>
                  <a:txBody>
                    <a:bodyPr/>
                    <a:lstStyle/>
                    <a:p>
                      <a:pPr algn="ctr"/>
                      <a:r>
                        <a:rPr lang="en-GB" b="0" dirty="0">
                          <a:solidFill>
                            <a:schemeClr val="tx1"/>
                          </a:solidFill>
                        </a:rPr>
                        <a:t>52</a:t>
                      </a:r>
                    </a:p>
                  </a:txBody>
                  <a:tcPr/>
                </a:tc>
                <a:tc>
                  <a:txBody>
                    <a:bodyPr/>
                    <a:lstStyle/>
                    <a:p>
                      <a:pPr algn="ctr"/>
                      <a:r>
                        <a:rPr lang="en-GB" b="0" dirty="0">
                          <a:solidFill>
                            <a:schemeClr val="tx1"/>
                          </a:solidFill>
                        </a:rPr>
                        <a:t>53</a:t>
                      </a:r>
                    </a:p>
                  </a:txBody>
                  <a:tcPr/>
                </a:tc>
                <a:extLst>
                  <a:ext uri="{0D108BD9-81ED-4DB2-BD59-A6C34878D82A}">
                    <a16:rowId xmlns:a16="http://schemas.microsoft.com/office/drawing/2014/main" val="10000"/>
                  </a:ext>
                </a:extLst>
              </a:tr>
              <a:tr h="370840">
                <a:tc>
                  <a:txBody>
                    <a:bodyPr/>
                    <a:lstStyle/>
                    <a:p>
                      <a:r>
                        <a:rPr lang="en-GB" dirty="0"/>
                        <a:t>probability</a:t>
                      </a:r>
                    </a:p>
                  </a:txBody>
                  <a:tcPr/>
                </a:tc>
                <a:tc>
                  <a:txBody>
                    <a:bodyPr/>
                    <a:lstStyle/>
                    <a:p>
                      <a:pPr algn="ctr"/>
                      <a:r>
                        <a:rPr lang="en-GB" dirty="0"/>
                        <a:t>0.05</a:t>
                      </a:r>
                    </a:p>
                  </a:txBody>
                  <a:tcPr/>
                </a:tc>
                <a:tc>
                  <a:txBody>
                    <a:bodyPr/>
                    <a:lstStyle/>
                    <a:p>
                      <a:pPr algn="ctr"/>
                      <a:r>
                        <a:rPr lang="en-GB" dirty="0"/>
                        <a:t>0.10</a:t>
                      </a:r>
                    </a:p>
                  </a:txBody>
                  <a:tcPr/>
                </a:tc>
                <a:tc>
                  <a:txBody>
                    <a:bodyPr/>
                    <a:lstStyle/>
                    <a:p>
                      <a:pPr algn="ctr"/>
                      <a:r>
                        <a:rPr lang="en-GB" dirty="0"/>
                        <a:t>0.15</a:t>
                      </a:r>
                    </a:p>
                  </a:txBody>
                  <a:tcPr/>
                </a:tc>
                <a:tc>
                  <a:txBody>
                    <a:bodyPr/>
                    <a:lstStyle/>
                    <a:p>
                      <a:pPr algn="ctr"/>
                      <a:r>
                        <a:rPr lang="en-GB" dirty="0"/>
                        <a:t>0.40</a:t>
                      </a:r>
                    </a:p>
                  </a:txBody>
                  <a:tcPr/>
                </a:tc>
                <a:tc>
                  <a:txBody>
                    <a:bodyPr/>
                    <a:lstStyle/>
                    <a:p>
                      <a:pPr algn="ctr"/>
                      <a:r>
                        <a:rPr lang="en-GB" dirty="0"/>
                        <a:t>0.15</a:t>
                      </a:r>
                    </a:p>
                  </a:txBody>
                  <a:tcPr/>
                </a:tc>
                <a:tc>
                  <a:txBody>
                    <a:bodyPr/>
                    <a:lstStyle/>
                    <a:p>
                      <a:pPr algn="ctr"/>
                      <a:r>
                        <a:rPr lang="en-GB" dirty="0"/>
                        <a:t>0.10</a:t>
                      </a:r>
                    </a:p>
                  </a:txBody>
                  <a:tcPr/>
                </a:tc>
                <a:tc>
                  <a:txBody>
                    <a:bodyPr/>
                    <a:lstStyle/>
                    <a:p>
                      <a:pPr algn="ctr"/>
                      <a:r>
                        <a:rPr lang="en-GB" dirty="0"/>
                        <a:t>0.05</a:t>
                      </a:r>
                    </a:p>
                  </a:txBody>
                  <a:tcP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5" name="Szövegdoboz 4">
                <a:extLst>
                  <a:ext uri="{FF2B5EF4-FFF2-40B4-BE49-F238E27FC236}">
                    <a16:creationId xmlns:a16="http://schemas.microsoft.com/office/drawing/2014/main" id="{09420510-ED20-4022-8CD2-E2320DE88804}"/>
                  </a:ext>
                </a:extLst>
              </p:cNvPr>
              <p:cNvSpPr txBox="1"/>
              <p:nvPr/>
            </p:nvSpPr>
            <p:spPr>
              <a:xfrm>
                <a:off x="269860" y="4678814"/>
                <a:ext cx="8604279" cy="5232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hu-HU" sz="1700" b="0" i="1" smtClean="0">
                          <a:latin typeface="Cambria Math" panose="02040503050406030204" pitchFamily="18" charset="0"/>
                        </a:rPr>
                        <m:t>𝑎</m:t>
                      </m:r>
                      <m:r>
                        <a:rPr lang="hu-HU" sz="1700" b="0" i="1" smtClean="0">
                          <a:latin typeface="Cambria Math" panose="02040503050406030204" pitchFamily="18" charset="0"/>
                        </a:rPr>
                        <m:t>)</m:t>
                      </m:r>
                    </m:oMath>
                    <m:oMath xmlns:m="http://schemas.openxmlformats.org/officeDocument/2006/math">
                      <m:r>
                        <a:rPr lang="hu-HU" sz="1700" b="0" i="1" smtClean="0">
                          <a:latin typeface="Cambria Math" panose="02040503050406030204" pitchFamily="18" charset="0"/>
                        </a:rPr>
                        <m:t>𝔼</m:t>
                      </m:r>
                      <m:r>
                        <a:rPr lang="hu-HU" sz="1700" b="0" i="1" smtClean="0">
                          <a:latin typeface="Cambria Math" panose="02040503050406030204" pitchFamily="18" charset="0"/>
                        </a:rPr>
                        <m:t>𝜉</m:t>
                      </m:r>
                      <m:r>
                        <a:rPr lang="hu-HU" sz="1700" b="0" i="1" smtClean="0">
                          <a:latin typeface="Cambria Math" panose="02040503050406030204" pitchFamily="18" charset="0"/>
                        </a:rPr>
                        <m:t>=47×0.05+48×0.1+49×0.15+50×0.4+51×0.15+52×0.1+53×0.05=50</m:t>
                      </m:r>
                    </m:oMath>
                  </m:oMathPara>
                </a14:m>
                <a:endParaRPr lang="hu-HU" sz="1700" dirty="0"/>
              </a:p>
            </p:txBody>
          </p:sp>
        </mc:Choice>
        <mc:Fallback xmlns="">
          <p:sp>
            <p:nvSpPr>
              <p:cNvPr id="5" name="Szövegdoboz 4">
                <a:extLst>
                  <a:ext uri="{FF2B5EF4-FFF2-40B4-BE49-F238E27FC236}">
                    <a16:creationId xmlns:a16="http://schemas.microsoft.com/office/drawing/2014/main" id="{09420510-ED20-4022-8CD2-E2320DE88804}"/>
                  </a:ext>
                </a:extLst>
              </p:cNvPr>
              <p:cNvSpPr txBox="1">
                <a:spLocks noRot="1" noChangeAspect="1" noMove="1" noResize="1" noEditPoints="1" noAdjustHandles="1" noChangeArrowheads="1" noChangeShapeType="1" noTextEdit="1"/>
              </p:cNvSpPr>
              <p:nvPr/>
            </p:nvSpPr>
            <p:spPr>
              <a:xfrm>
                <a:off x="269860" y="4678814"/>
                <a:ext cx="8604279" cy="523220"/>
              </a:xfrm>
              <a:prstGeom prst="rect">
                <a:avLst/>
              </a:prstGeom>
              <a:blipFill>
                <a:blip r:embed="rId3"/>
                <a:stretch>
                  <a:fillRect l="-354" r="-71" b="-17647"/>
                </a:stretch>
              </a:blipFill>
            </p:spPr>
            <p:txBody>
              <a:bodyPr/>
              <a:lstStyle/>
              <a:p>
                <a:r>
                  <a:rPr lang="hu-HU">
                    <a:noFill/>
                  </a:rPr>
                  <a:t> </a:t>
                </a:r>
              </a:p>
            </p:txBody>
          </p:sp>
        </mc:Fallback>
      </mc:AlternateContent>
      <mc:AlternateContent xmlns:mc="http://schemas.openxmlformats.org/markup-compatibility/2006">
        <mc:Choice xmlns:a14="http://schemas.microsoft.com/office/drawing/2010/main" Requires="a14">
          <p:sp>
            <p:nvSpPr>
              <p:cNvPr id="7" name="Szövegdoboz 6">
                <a:extLst>
                  <a:ext uri="{FF2B5EF4-FFF2-40B4-BE49-F238E27FC236}">
                    <a16:creationId xmlns:a16="http://schemas.microsoft.com/office/drawing/2014/main" id="{0A78392F-CA77-499B-9636-A47E2E55BC6D}"/>
                  </a:ext>
                </a:extLst>
              </p:cNvPr>
              <p:cNvSpPr txBox="1"/>
              <p:nvPr/>
            </p:nvSpPr>
            <p:spPr>
              <a:xfrm>
                <a:off x="269860" y="5459539"/>
                <a:ext cx="8709564" cy="5232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hu-HU" sz="1700" b="0" i="1" smtClean="0">
                          <a:latin typeface="Cambria Math" panose="02040503050406030204" pitchFamily="18" charset="0"/>
                        </a:rPr>
                        <m:t>𝑏</m:t>
                      </m:r>
                      <m:r>
                        <a:rPr lang="hu-HU" sz="1700" b="0" i="1" smtClean="0">
                          <a:latin typeface="Cambria Math" panose="02040503050406030204" pitchFamily="18" charset="0"/>
                        </a:rPr>
                        <m:t>)</m:t>
                      </m:r>
                    </m:oMath>
                    <m:oMath xmlns:m="http://schemas.openxmlformats.org/officeDocument/2006/math">
                      <m:sSup>
                        <m:sSupPr>
                          <m:ctrlPr>
                            <a:rPr lang="hu-HU" sz="1700" i="1">
                              <a:latin typeface="Cambria Math" panose="02040503050406030204" pitchFamily="18" charset="0"/>
                            </a:rPr>
                          </m:ctrlPr>
                        </m:sSupPr>
                        <m:e>
                          <m:r>
                            <a:rPr lang="hu-HU" sz="1700" i="1">
                              <a:latin typeface="Cambria Math" panose="02040503050406030204" pitchFamily="18" charset="0"/>
                            </a:rPr>
                            <m:t>𝔻</m:t>
                          </m:r>
                        </m:e>
                        <m:sup>
                          <m:r>
                            <a:rPr lang="hu-HU" sz="1700" i="1">
                              <a:latin typeface="Cambria Math" panose="02040503050406030204" pitchFamily="18" charset="0"/>
                            </a:rPr>
                            <m:t>2</m:t>
                          </m:r>
                        </m:sup>
                      </m:sSup>
                      <m:r>
                        <a:rPr lang="hu-HU" sz="1700" i="1">
                          <a:latin typeface="Cambria Math" panose="02040503050406030204" pitchFamily="18" charset="0"/>
                        </a:rPr>
                        <m:t>𝜉</m:t>
                      </m:r>
                      <m:r>
                        <a:rPr lang="hu-HU" sz="1700" i="1">
                          <a:latin typeface="Cambria Math" panose="02040503050406030204" pitchFamily="18" charset="0"/>
                        </a:rPr>
                        <m:t>=</m:t>
                      </m:r>
                      <m:r>
                        <a:rPr lang="hu-HU" sz="1700" i="1">
                          <a:latin typeface="Cambria Math" panose="02040503050406030204" pitchFamily="18" charset="0"/>
                        </a:rPr>
                        <m:t>𝔼</m:t>
                      </m:r>
                      <m:sSup>
                        <m:sSupPr>
                          <m:ctrlPr>
                            <a:rPr lang="hu-HU" sz="1700" b="0" i="1" smtClean="0">
                              <a:latin typeface="Cambria Math" panose="02040503050406030204" pitchFamily="18" charset="0"/>
                            </a:rPr>
                          </m:ctrlPr>
                        </m:sSupPr>
                        <m:e>
                          <m:d>
                            <m:dPr>
                              <m:ctrlPr>
                                <a:rPr lang="hu-HU" sz="1700" i="1">
                                  <a:latin typeface="Cambria Math" panose="02040503050406030204" pitchFamily="18" charset="0"/>
                                </a:rPr>
                              </m:ctrlPr>
                            </m:dPr>
                            <m:e>
                              <m:r>
                                <a:rPr lang="hu-HU" sz="1700" i="1">
                                  <a:latin typeface="Cambria Math" panose="02040503050406030204" pitchFamily="18" charset="0"/>
                                </a:rPr>
                                <m:t>𝜉</m:t>
                              </m:r>
                              <m:r>
                                <a:rPr lang="hu-HU" sz="1700" i="1">
                                  <a:latin typeface="Cambria Math" panose="02040503050406030204" pitchFamily="18" charset="0"/>
                                </a:rPr>
                                <m:t>−</m:t>
                              </m:r>
                              <m:r>
                                <a:rPr lang="hu-HU" sz="1700" i="1">
                                  <a:latin typeface="Cambria Math" panose="02040503050406030204" pitchFamily="18" charset="0"/>
                                </a:rPr>
                                <m:t>𝔼</m:t>
                              </m:r>
                              <m:r>
                                <a:rPr lang="hu-HU" sz="1700" i="1">
                                  <a:latin typeface="Cambria Math" panose="02040503050406030204" pitchFamily="18" charset="0"/>
                                </a:rPr>
                                <m:t>𝜉</m:t>
                              </m:r>
                            </m:e>
                          </m:d>
                        </m:e>
                        <m:sup>
                          <m:r>
                            <a:rPr lang="hu-HU" sz="1700" b="0" i="1" smtClean="0">
                              <a:latin typeface="Cambria Math" panose="02040503050406030204" pitchFamily="18" charset="0"/>
                            </a:rPr>
                            <m:t>2</m:t>
                          </m:r>
                        </m:sup>
                      </m:sSup>
                      <m:r>
                        <a:rPr lang="hu-HU" sz="1700" i="1">
                          <a:latin typeface="Cambria Math" panose="02040503050406030204" pitchFamily="18" charset="0"/>
                        </a:rPr>
                        <m:t>=9×0.05+4×</m:t>
                      </m:r>
                      <m:r>
                        <a:rPr lang="hu-HU" sz="1700">
                          <a:latin typeface="Cambria Math" panose="02040503050406030204" pitchFamily="18" charset="0"/>
                        </a:rPr>
                        <m:t>0.1+1</m:t>
                      </m:r>
                      <m:r>
                        <a:rPr lang="hu-HU" sz="1700" i="1">
                          <a:latin typeface="Cambria Math" panose="02040503050406030204" pitchFamily="18" charset="0"/>
                        </a:rPr>
                        <m:t>×0.15+0+1×0.15+4×0.1+9×0.05=2</m:t>
                      </m:r>
                    </m:oMath>
                  </m:oMathPara>
                </a14:m>
                <a:endParaRPr lang="hu-HU" sz="1700" dirty="0"/>
              </a:p>
            </p:txBody>
          </p:sp>
        </mc:Choice>
        <mc:Fallback>
          <p:sp>
            <p:nvSpPr>
              <p:cNvPr id="7" name="Szövegdoboz 6">
                <a:extLst>
                  <a:ext uri="{FF2B5EF4-FFF2-40B4-BE49-F238E27FC236}">
                    <a16:creationId xmlns:a16="http://schemas.microsoft.com/office/drawing/2014/main" id="{0A78392F-CA77-499B-9636-A47E2E55BC6D}"/>
                  </a:ext>
                </a:extLst>
              </p:cNvPr>
              <p:cNvSpPr txBox="1">
                <a:spLocks noRot="1" noChangeAspect="1" noMove="1" noResize="1" noEditPoints="1" noAdjustHandles="1" noChangeArrowheads="1" noChangeShapeType="1" noTextEdit="1"/>
              </p:cNvSpPr>
              <p:nvPr/>
            </p:nvSpPr>
            <p:spPr>
              <a:xfrm>
                <a:off x="269860" y="5459539"/>
                <a:ext cx="8709564" cy="523220"/>
              </a:xfrm>
              <a:prstGeom prst="rect">
                <a:avLst/>
              </a:prstGeom>
              <a:blipFill>
                <a:blip r:embed="rId4"/>
                <a:stretch>
                  <a:fillRect b="-17647"/>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6" name="Szövegdoboz 5">
                <a:extLst>
                  <a:ext uri="{FF2B5EF4-FFF2-40B4-BE49-F238E27FC236}">
                    <a16:creationId xmlns:a16="http://schemas.microsoft.com/office/drawing/2014/main" id="{11AFC8AB-7A58-FFFC-0587-FBDBBA9A92E9}"/>
                  </a:ext>
                </a:extLst>
              </p:cNvPr>
              <p:cNvSpPr txBox="1"/>
              <p:nvPr/>
            </p:nvSpPr>
            <p:spPr>
              <a:xfrm>
                <a:off x="269860" y="6111758"/>
                <a:ext cx="6751335" cy="523220"/>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hu-HU" sz="1700" b="0" i="1" smtClean="0">
                          <a:latin typeface="Cambria Math" panose="02040503050406030204" pitchFamily="18" charset="0"/>
                        </a:rPr>
                        <m:t>𝑐</m:t>
                      </m:r>
                      <m:r>
                        <a:rPr lang="hu-HU" sz="1700" b="0" i="1" smtClean="0">
                          <a:latin typeface="Cambria Math" panose="02040503050406030204" pitchFamily="18" charset="0"/>
                        </a:rPr>
                        <m:t>)</m:t>
                      </m:r>
                    </m:oMath>
                  </m:oMathPara>
                </a14:m>
                <a:br>
                  <a:rPr lang="hu-HU" sz="1700" b="0" i="1" dirty="0">
                    <a:latin typeface="Cambria Math" panose="02040503050406030204" pitchFamily="18" charset="0"/>
                  </a:rPr>
                </a:br>
                <a:r>
                  <a:rPr lang="hu-HU" sz="1700" b="0" i="1" dirty="0">
                    <a:latin typeface="Cambria Math" panose="02040503050406030204" pitchFamily="18" charset="0"/>
                  </a:rPr>
                  <a:t>                     </a:t>
                </a:r>
                <a14:m>
                  <m:oMath xmlns:m="http://schemas.openxmlformats.org/officeDocument/2006/math">
                    <m:r>
                      <a:rPr lang="hu-HU" sz="1700" b="0" i="1" smtClean="0">
                        <a:latin typeface="Cambria Math" panose="02040503050406030204" pitchFamily="18" charset="0"/>
                      </a:rPr>
                      <m:t>𝑃</m:t>
                    </m:r>
                    <m:d>
                      <m:dPr>
                        <m:ctrlPr>
                          <a:rPr lang="hu-HU" sz="1700" b="0" i="1" smtClean="0">
                            <a:latin typeface="Cambria Math" panose="02040503050406030204" pitchFamily="18" charset="0"/>
                          </a:rPr>
                        </m:ctrlPr>
                      </m:dPr>
                      <m:e>
                        <m:r>
                          <a:rPr lang="hu-HU" sz="1700" b="0" i="1" smtClean="0">
                            <a:latin typeface="Cambria Math" panose="02040503050406030204" pitchFamily="18" charset="0"/>
                          </a:rPr>
                          <m:t>48&lt;</m:t>
                        </m:r>
                        <m:r>
                          <a:rPr lang="hu-HU" sz="1700" b="0" i="1" smtClean="0">
                            <a:latin typeface="Cambria Math" panose="02040503050406030204" pitchFamily="18" charset="0"/>
                          </a:rPr>
                          <m:t>𝜉</m:t>
                        </m:r>
                        <m:r>
                          <a:rPr lang="hu-HU" sz="1700" b="0" i="1" smtClean="0">
                            <a:latin typeface="Cambria Math" panose="02040503050406030204" pitchFamily="18" charset="0"/>
                          </a:rPr>
                          <m:t>&lt;52</m:t>
                        </m:r>
                      </m:e>
                    </m:d>
                    <m:r>
                      <a:rPr lang="hu-HU" sz="1700" b="0" i="1" smtClean="0">
                        <a:latin typeface="Cambria Math" panose="02040503050406030204" pitchFamily="18" charset="0"/>
                      </a:rPr>
                      <m:t>=</m:t>
                    </m:r>
                    <m:r>
                      <a:rPr lang="hu-HU" sz="1700" b="0" i="1" smtClean="0">
                        <a:latin typeface="Cambria Math" panose="02040503050406030204" pitchFamily="18" charset="0"/>
                      </a:rPr>
                      <m:t>𝑃</m:t>
                    </m:r>
                    <m:d>
                      <m:dPr>
                        <m:ctrlPr>
                          <a:rPr lang="hu-HU" sz="1700" b="0" i="1" smtClean="0">
                            <a:latin typeface="Cambria Math" panose="02040503050406030204" pitchFamily="18" charset="0"/>
                          </a:rPr>
                        </m:ctrlPr>
                      </m:dPr>
                      <m:e>
                        <m:r>
                          <a:rPr lang="hu-HU" sz="1700" b="0" i="1" smtClean="0">
                            <a:latin typeface="Cambria Math" panose="02040503050406030204" pitchFamily="18" charset="0"/>
                          </a:rPr>
                          <m:t>𝜉</m:t>
                        </m:r>
                        <m:r>
                          <a:rPr lang="hu-HU" sz="1700" b="0" i="1" smtClean="0">
                            <a:latin typeface="Cambria Math" panose="02040503050406030204" pitchFamily="18" charset="0"/>
                          </a:rPr>
                          <m:t>=49</m:t>
                        </m:r>
                      </m:e>
                    </m:d>
                    <m:r>
                      <a:rPr lang="hu-HU" sz="1700" b="0" i="1" smtClean="0">
                        <a:latin typeface="Cambria Math" panose="02040503050406030204" pitchFamily="18" charset="0"/>
                      </a:rPr>
                      <m:t>+</m:t>
                    </m:r>
                    <m:r>
                      <a:rPr lang="hu-HU" sz="1700" i="1">
                        <a:latin typeface="Cambria Math" panose="02040503050406030204" pitchFamily="18" charset="0"/>
                      </a:rPr>
                      <m:t>𝑃</m:t>
                    </m:r>
                    <m:d>
                      <m:dPr>
                        <m:ctrlPr>
                          <a:rPr lang="hu-HU" sz="1700" i="1">
                            <a:latin typeface="Cambria Math" panose="02040503050406030204" pitchFamily="18" charset="0"/>
                          </a:rPr>
                        </m:ctrlPr>
                      </m:dPr>
                      <m:e>
                        <m:r>
                          <a:rPr lang="hu-HU" sz="1700" i="1">
                            <a:latin typeface="Cambria Math" panose="02040503050406030204" pitchFamily="18" charset="0"/>
                          </a:rPr>
                          <m:t>𝜉</m:t>
                        </m:r>
                        <m:r>
                          <a:rPr lang="hu-HU" sz="1700" i="1">
                            <a:latin typeface="Cambria Math" panose="02040503050406030204" pitchFamily="18" charset="0"/>
                          </a:rPr>
                          <m:t>=50</m:t>
                        </m:r>
                      </m:e>
                    </m:d>
                    <m:r>
                      <a:rPr lang="hu-HU" sz="1700" b="0" i="1" smtClean="0">
                        <a:latin typeface="Cambria Math" panose="02040503050406030204" pitchFamily="18" charset="0"/>
                      </a:rPr>
                      <m:t>+</m:t>
                    </m:r>
                    <m:r>
                      <a:rPr lang="hu-HU" sz="1700" i="1">
                        <a:latin typeface="Cambria Math" panose="02040503050406030204" pitchFamily="18" charset="0"/>
                      </a:rPr>
                      <m:t>𝑃</m:t>
                    </m:r>
                    <m:d>
                      <m:dPr>
                        <m:ctrlPr>
                          <a:rPr lang="hu-HU" sz="1700" i="1">
                            <a:latin typeface="Cambria Math" panose="02040503050406030204" pitchFamily="18" charset="0"/>
                          </a:rPr>
                        </m:ctrlPr>
                      </m:dPr>
                      <m:e>
                        <m:r>
                          <a:rPr lang="hu-HU" sz="1700" i="1">
                            <a:latin typeface="Cambria Math" panose="02040503050406030204" pitchFamily="18" charset="0"/>
                          </a:rPr>
                          <m:t>𝜉</m:t>
                        </m:r>
                        <m:r>
                          <a:rPr lang="hu-HU" sz="1700" i="1">
                            <a:latin typeface="Cambria Math" panose="02040503050406030204" pitchFamily="18" charset="0"/>
                          </a:rPr>
                          <m:t>=51</m:t>
                        </m:r>
                      </m:e>
                    </m:d>
                    <m:r>
                      <a:rPr lang="hu-HU" sz="1700" b="0" i="1" smtClean="0">
                        <a:latin typeface="Cambria Math" panose="02040503050406030204" pitchFamily="18" charset="0"/>
                      </a:rPr>
                      <m:t>=0.7</m:t>
                    </m:r>
                  </m:oMath>
                </a14:m>
                <a:endParaRPr lang="hu-HU" sz="1700" dirty="0"/>
              </a:p>
            </p:txBody>
          </p:sp>
        </mc:Choice>
        <mc:Fallback xmlns="">
          <p:sp>
            <p:nvSpPr>
              <p:cNvPr id="6" name="Szövegdoboz 5">
                <a:extLst>
                  <a:ext uri="{FF2B5EF4-FFF2-40B4-BE49-F238E27FC236}">
                    <a16:creationId xmlns:a16="http://schemas.microsoft.com/office/drawing/2014/main" id="{11AFC8AB-7A58-FFFC-0587-FBDBBA9A92E9}"/>
                  </a:ext>
                </a:extLst>
              </p:cNvPr>
              <p:cNvSpPr txBox="1">
                <a:spLocks noRot="1" noChangeAspect="1" noMove="1" noResize="1" noEditPoints="1" noAdjustHandles="1" noChangeArrowheads="1" noChangeShapeType="1" noTextEdit="1"/>
              </p:cNvSpPr>
              <p:nvPr/>
            </p:nvSpPr>
            <p:spPr>
              <a:xfrm>
                <a:off x="269860" y="6111758"/>
                <a:ext cx="6751335" cy="523220"/>
              </a:xfrm>
              <a:prstGeom prst="rect">
                <a:avLst/>
              </a:prstGeom>
              <a:blipFill>
                <a:blip r:embed="rId5"/>
                <a:stretch>
                  <a:fillRect l="-812" r="-90" b="-17647"/>
                </a:stretch>
              </a:blipFill>
            </p:spPr>
            <p:txBody>
              <a:bodyPr/>
              <a:lstStyle/>
              <a:p>
                <a:r>
                  <a:rPr lang="hu-HU">
                    <a:noFill/>
                  </a:rPr>
                  <a:t> </a:t>
                </a:r>
              </a:p>
            </p:txBody>
          </p:sp>
        </mc:Fallback>
      </mc:AlternateContent>
    </p:spTree>
    <p:extLst>
      <p:ext uri="{BB962C8B-B14F-4D97-AF65-F5344CB8AC3E}">
        <p14:creationId xmlns:p14="http://schemas.microsoft.com/office/powerpoint/2010/main" val="680315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C78D57D7-8956-49F9-9353-B533C5FBD7E1}"/>
              </a:ext>
            </a:extLst>
          </p:cNvPr>
          <p:cNvSpPr>
            <a:spLocks noGrp="1"/>
          </p:cNvSpPr>
          <p:nvPr>
            <p:ph type="title"/>
          </p:nvPr>
        </p:nvSpPr>
        <p:spPr/>
        <p:txBody>
          <a:bodyPr/>
          <a:lstStyle/>
          <a:p>
            <a:r>
              <a:rPr lang="hu-HU" dirty="0" err="1"/>
              <a:t>Literature</a:t>
            </a:r>
            <a:endParaRPr lang="hu-HU" dirty="0"/>
          </a:p>
        </p:txBody>
      </p:sp>
      <p:sp>
        <p:nvSpPr>
          <p:cNvPr id="3" name="Tartalom helye 2">
            <a:extLst>
              <a:ext uri="{FF2B5EF4-FFF2-40B4-BE49-F238E27FC236}">
                <a16:creationId xmlns:a16="http://schemas.microsoft.com/office/drawing/2014/main" id="{65CDDDFC-80E1-4B5F-962D-B2A8BC2CD8B6}"/>
              </a:ext>
            </a:extLst>
          </p:cNvPr>
          <p:cNvSpPr>
            <a:spLocks noGrp="1"/>
          </p:cNvSpPr>
          <p:nvPr>
            <p:ph idx="1"/>
          </p:nvPr>
        </p:nvSpPr>
        <p:spPr>
          <a:xfrm>
            <a:off x="887507" y="1845734"/>
            <a:ext cx="7414706" cy="4023360"/>
          </a:xfrm>
        </p:spPr>
        <p:txBody>
          <a:bodyPr/>
          <a:lstStyle/>
          <a:p>
            <a:pPr>
              <a:buFont typeface="Wingdings" panose="05000000000000000000" pitchFamily="2" charset="2"/>
              <a:buChar char="q"/>
            </a:pPr>
            <a:r>
              <a:rPr lang="hu-HU" dirty="0"/>
              <a:t>Ágnes </a:t>
            </a:r>
            <a:r>
              <a:rPr lang="hu-HU" dirty="0" err="1"/>
              <a:t>Baran</a:t>
            </a:r>
            <a:r>
              <a:rPr lang="hu-HU" dirty="0"/>
              <a:t>: </a:t>
            </a:r>
            <a:r>
              <a:rPr lang="hu-HU" dirty="0" err="1">
                <a:effectLst/>
              </a:rPr>
              <a:t>Mathematics</a:t>
            </a:r>
            <a:r>
              <a:rPr lang="hu-HU" dirty="0">
                <a:effectLst/>
              </a:rPr>
              <a:t> </a:t>
            </a:r>
            <a:r>
              <a:rPr lang="hu-HU" dirty="0" err="1">
                <a:effectLst/>
              </a:rPr>
              <a:t>for</a:t>
            </a:r>
            <a:r>
              <a:rPr lang="hu-HU" dirty="0">
                <a:effectLst/>
              </a:rPr>
              <a:t> </a:t>
            </a:r>
            <a:r>
              <a:rPr lang="hu-HU" dirty="0" err="1">
                <a:effectLst/>
              </a:rPr>
              <a:t>engineers</a:t>
            </a:r>
            <a:r>
              <a:rPr lang="hu-HU" dirty="0">
                <a:effectLst/>
              </a:rPr>
              <a:t> 1. (</a:t>
            </a:r>
            <a:r>
              <a:rPr lang="hu-HU" dirty="0" err="1">
                <a:effectLst/>
              </a:rPr>
              <a:t>Laboratory</a:t>
            </a:r>
            <a:r>
              <a:rPr lang="hu-HU" dirty="0">
                <a:effectLst/>
              </a:rPr>
              <a:t> </a:t>
            </a:r>
            <a:r>
              <a:rPr lang="hu-HU" dirty="0" err="1">
                <a:effectLst/>
              </a:rPr>
              <a:t>slides</a:t>
            </a:r>
            <a:r>
              <a:rPr lang="hu-HU" dirty="0">
                <a:effectLst/>
              </a:rPr>
              <a:t>)</a:t>
            </a:r>
          </a:p>
          <a:p>
            <a:pPr>
              <a:buFont typeface="Wingdings" panose="05000000000000000000" pitchFamily="2" charset="2"/>
              <a:buChar char="q"/>
            </a:pPr>
            <a:r>
              <a:rPr lang="hu-HU" dirty="0"/>
              <a:t>Sándor </a:t>
            </a:r>
            <a:r>
              <a:rPr lang="hu-HU" dirty="0" err="1"/>
              <a:t>Baran</a:t>
            </a:r>
            <a:r>
              <a:rPr lang="hu-HU" dirty="0"/>
              <a:t>: </a:t>
            </a:r>
            <a:r>
              <a:rPr lang="hu-HU" dirty="0" err="1">
                <a:effectLst/>
              </a:rPr>
              <a:t>Probability</a:t>
            </a:r>
            <a:r>
              <a:rPr lang="hu-HU" dirty="0">
                <a:effectLst/>
              </a:rPr>
              <a:t> </a:t>
            </a:r>
            <a:r>
              <a:rPr lang="hu-HU" dirty="0" err="1">
                <a:effectLst/>
              </a:rPr>
              <a:t>theory</a:t>
            </a:r>
            <a:r>
              <a:rPr lang="hu-HU" dirty="0">
                <a:effectLst/>
              </a:rPr>
              <a:t> and </a:t>
            </a:r>
            <a:r>
              <a:rPr lang="hu-HU" dirty="0" err="1">
                <a:effectLst/>
              </a:rPr>
              <a:t>statistics</a:t>
            </a:r>
            <a:endParaRPr lang="hu-HU" dirty="0">
              <a:effectLst/>
            </a:endParaRPr>
          </a:p>
          <a:p>
            <a:pPr>
              <a:buFont typeface="Wingdings" panose="05000000000000000000" pitchFamily="2" charset="2"/>
              <a:buChar char="q"/>
            </a:pPr>
            <a:r>
              <a:rPr lang="hu-HU" dirty="0"/>
              <a:t>Fazekas István: Valószínűségszámítás, Debreceni Egyetemi Kiadó, 2009</a:t>
            </a:r>
          </a:p>
          <a:p>
            <a:pPr>
              <a:buFont typeface="Wingdings" panose="05000000000000000000" pitchFamily="2" charset="2"/>
              <a:buChar char="q"/>
            </a:pPr>
            <a:r>
              <a:rPr lang="hu-HU" dirty="0"/>
              <a:t>Fazekas István: Bevezetés a matematikai statisztikába, Debreceni Egyetemi Kiadó, 2009</a:t>
            </a:r>
          </a:p>
          <a:p>
            <a:pPr>
              <a:buFont typeface="Wingdings" panose="05000000000000000000" pitchFamily="2" charset="2"/>
              <a:buChar char="q"/>
            </a:pPr>
            <a:r>
              <a:rPr lang="hu-HU" dirty="0" err="1"/>
              <a:t>Matlab</a:t>
            </a:r>
            <a:r>
              <a:rPr lang="hu-HU" dirty="0"/>
              <a:t> </a:t>
            </a:r>
            <a:r>
              <a:rPr lang="hu-HU" dirty="0" err="1"/>
              <a:t>examples</a:t>
            </a:r>
            <a:r>
              <a:rPr lang="hu-HU" dirty="0"/>
              <a:t>: </a:t>
            </a:r>
            <a:r>
              <a:rPr lang="hu-HU" dirty="0">
                <a:hlinkClick r:id="rId2"/>
              </a:rPr>
              <a:t>https://www.mathworks.com/help/examples.html</a:t>
            </a:r>
            <a:endParaRPr lang="hu-HU" dirty="0"/>
          </a:p>
          <a:p>
            <a:endParaRPr lang="hu-HU" dirty="0"/>
          </a:p>
        </p:txBody>
      </p:sp>
    </p:spTree>
    <p:extLst>
      <p:ext uri="{BB962C8B-B14F-4D97-AF65-F5344CB8AC3E}">
        <p14:creationId xmlns:p14="http://schemas.microsoft.com/office/powerpoint/2010/main" val="8119590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tek diaminta">
  <a:themeElements>
    <a:clrScheme name="Fabetű">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Cambria">
      <a:majorFont>
        <a:latin typeface="Calibri" panose="020F0502020204030204"/>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Fabetű">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matek diaminta" id="{DA9CF40E-B0DB-4F98-AEF5-49E81D43F223}" vid="{E0151A15-54A4-4053-8D41-A38E348A1F8B}"/>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matek diaminta</Template>
  <TotalTime>11434</TotalTime>
  <Words>934</Words>
  <Application>Microsoft Office PowerPoint</Application>
  <PresentationFormat>Diavetítés a képernyőre (4:3 oldalarány)</PresentationFormat>
  <Paragraphs>127</Paragraphs>
  <Slides>12</Slides>
  <Notes>0</Notes>
  <HiddenSlides>0</HiddenSlides>
  <MMClips>0</MMClips>
  <ScaleCrop>false</ScaleCrop>
  <HeadingPairs>
    <vt:vector size="6" baseType="variant">
      <vt:variant>
        <vt:lpstr>Használt betűtípusok</vt:lpstr>
      </vt:variant>
      <vt:variant>
        <vt:i4>6</vt:i4>
      </vt:variant>
      <vt:variant>
        <vt:lpstr>Téma</vt:lpstr>
      </vt:variant>
      <vt:variant>
        <vt:i4>1</vt:i4>
      </vt:variant>
      <vt:variant>
        <vt:lpstr>Diacímek</vt:lpstr>
      </vt:variant>
      <vt:variant>
        <vt:i4>12</vt:i4>
      </vt:variant>
    </vt:vector>
  </HeadingPairs>
  <TitlesOfParts>
    <vt:vector size="19" baseType="lpstr">
      <vt:lpstr>Arial</vt:lpstr>
      <vt:lpstr>Calibri</vt:lpstr>
      <vt:lpstr>Cambria</vt:lpstr>
      <vt:lpstr>Cambria Math</vt:lpstr>
      <vt:lpstr>Symbola</vt:lpstr>
      <vt:lpstr>Wingdings</vt:lpstr>
      <vt:lpstr>matek diaminta</vt:lpstr>
      <vt:lpstr>Applied Statistics, Probability theory and mathematical statistics</vt:lpstr>
      <vt:lpstr>Exercise 9.3</vt:lpstr>
      <vt:lpstr>Exercise 9.5 (M1) Only Matlab</vt:lpstr>
      <vt:lpstr>Exercise 9.5 (M1) MATLAB solution</vt:lpstr>
      <vt:lpstr>Exercise 10.1 (M2)</vt:lpstr>
      <vt:lpstr>Exercise 10.1 (M2) MATLAB solution</vt:lpstr>
      <vt:lpstr>Exercise (Uniform distribution)</vt:lpstr>
      <vt:lpstr>Exercise (Uniform distribution Matlab solution)</vt:lpstr>
      <vt:lpstr>Exercise 13.5 (Normal distribution)</vt:lpstr>
      <vt:lpstr>Exercise 13.5 (Normal distribution MATLAB solution)</vt:lpstr>
      <vt:lpstr>Exercise 15.4 (M2) </vt:lpstr>
      <vt:lpstr>Literature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Applied Statistics, Probability theory and mathematical statistics</dc:title>
  <dc:creator>Sándor Pecsora</dc:creator>
  <cp:lastModifiedBy>Sándor Pecsora</cp:lastModifiedBy>
  <cp:revision>122</cp:revision>
  <dcterms:created xsi:type="dcterms:W3CDTF">2020-09-02T07:49:18Z</dcterms:created>
  <dcterms:modified xsi:type="dcterms:W3CDTF">2024-10-10T07:36:21Z</dcterms:modified>
</cp:coreProperties>
</file>